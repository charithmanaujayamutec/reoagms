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(0:00–0:10): Good morning. We are presenting REOAGMS, a platform that monitors and maintains renewable energy assets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(0:10–0:45): REOAGMS is six Spring Boot microservices behind one API gateway, connected by RabbitMQ events, each with its own PostgreSQL database. I sign in as the administrator; the gateway validates my token and role. This is the control room: live generation, open alerts, device health and an hourly energy curve. Nemal will show where this data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Nemal (0:45–1:15): Thank you, Charith. The Asset Service owns the registry: five facilities, eleven assets and thirty-two sensors across solar, wind, hydro, battery and tidal. Lists are searched and paged on the server, and every form is validated, so a blank name is rejected. Only administrators and managers can change data. Every other service refers to these assets by ID. Govindu will show them producing live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Govindu (1:15–2:00): Thanks, Nemal. The Monitoring Service receives a reading from every sensor and checks it against our alert rules. This tile is a live sensor and the dashed line is its threshold. The simulator has just injected a fault, and here is the alert, instantly. One alert is stored, one event goes to RabbitMQ, and the browser is updated over WebSocket. That same event is now reaching Thurunu.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Thurunu (2:00–2:35): Yes. The Maintenance Service received the same event and, because the severity is high, it opened a corrective work order by itself. Here it is on the board. I assign a technician, start the work and complete it. Each step is its own endpoint, and the finished job is saved to the maintenance history. Yasiru will show how people are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Yasiru (2:35–3:05): The Notification Service read the same alert from its own RabbitMQ queue. In this history, the in-app push was delivered instantly, and every email attempt is stored with its status, retry count and reason. A scheduler retries up to three times, I can retry any message here, and failing messages go to a dead-letter queue, so nothing is lost. Sachinthana will turn all this into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Sachinthana (3:05–3:45): The Analytics Service calls the other services over REST and never touches their databases. For this facility it integrates average power into kilowatt-hours for each hour, and calculates availability, efficiency and capacity factor. I generate an energy report for the last day and export it as CSV for management. Executives see all of this read-only. Charith will close with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(3:45–4:15): Security is enforced at the gateway. Five roles carry different rights. I sign in as the executive: there are no action buttons, and the API itself answers 403 for any write. Every login and user change is recorded in the audit log. Quality is built in as well, with sixty test methods across the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members (4:15–4:50): CHARITH: Operations are visible in Grafana, where Prometheus scrapes all seven services. NEMAL: Validation and tests protect every API. GOVINDU: Rules are data, so thresholds change without code. THURUNU: Every fault ends as recorded maintenance. YASIRU: Every notification is stored and can be retried. SACHINTHANA: Reports turn operations into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members (4:50–5:00): ALL: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640080" y="822960"/>
            <a:ext cx="7863840" cy="274320"/>
          </a:xfrm>
          <a:prstGeom prst="rect">
            <a:avLst/>
          </a:prstGeom>
          <a:noFill/>
          <a:ln/>
        </p:spPr>
        <p:txBody>
          <a:bodyPr wrap="square" lIns="0" tIns="0" rIns="0" bIns="0" rtlCol="0" anchor="ctr"/>
          <a:lstStyle/>
          <a:p>
            <a:pPr indent="0" marL="0">
              <a:buNone/>
            </a:pPr>
            <a:r>
              <a:rPr lang="en-US" sz="1200" spc="500" kern="0" dirty="0">
                <a:solidFill>
                  <a:srgbClr val="22D3EE"/>
                </a:solidFill>
                <a:latin typeface="Segoe UI Semibold" pitchFamily="34" charset="0"/>
                <a:ea typeface="Segoe UI Semibold" pitchFamily="34" charset="-122"/>
                <a:cs typeface="Segoe UI Semibold" pitchFamily="34" charset="-120"/>
              </a:rPr>
              <a:t>EC8208  ·  SOFTWARE ARCHITECTURE</a:t>
            </a:r>
            <a:endParaRPr lang="en-US" sz="1200" dirty="0"/>
          </a:p>
        </p:txBody>
      </p:sp>
      <p:sp>
        <p:nvSpPr>
          <p:cNvPr id="4" name="Text 1"/>
          <p:cNvSpPr txBox="1"/>
          <p:nvPr/>
        </p:nvSpPr>
        <p:spPr>
          <a:xfrm>
            <a:off x="640080" y="1280160"/>
            <a:ext cx="7863840" cy="1097280"/>
          </a:xfrm>
          <a:prstGeom prst="rect">
            <a:avLst/>
          </a:prstGeom>
          <a:noFill/>
          <a:ln/>
        </p:spPr>
        <p:txBody>
          <a:bodyPr wrap="square" lIns="0" tIns="0" rIns="0" bIns="0" rtlCol="0" anchor="ctr"/>
          <a:lstStyle/>
          <a:p>
            <a:pPr indent="0" marL="0">
              <a:buNone/>
            </a:pPr>
            <a:r>
              <a:rPr lang="en-US" sz="6600" dirty="0">
                <a:solidFill>
                  <a:srgbClr val="F1F5FB"/>
                </a:solidFill>
                <a:latin typeface="Segoe UI Semibold" pitchFamily="34" charset="0"/>
                <a:ea typeface="Segoe UI Semibold" pitchFamily="34" charset="-122"/>
                <a:cs typeface="Segoe UI Semibold" pitchFamily="34" charset="-120"/>
              </a:rPr>
              <a:t>REOAGMS</a:t>
            </a:r>
            <a:endParaRPr lang="en-US" sz="6600" dirty="0"/>
          </a:p>
        </p:txBody>
      </p:sp>
      <p:sp>
        <p:nvSpPr>
          <p:cNvPr id="5" name="Text 2"/>
          <p:cNvSpPr txBox="1"/>
          <p:nvPr/>
        </p:nvSpPr>
        <p:spPr>
          <a:xfrm>
            <a:off x="640080" y="2423160"/>
            <a:ext cx="7863840" cy="457200"/>
          </a:xfrm>
          <a:prstGeom prst="rect">
            <a:avLst/>
          </a:prstGeom>
          <a:noFill/>
          <a:ln/>
        </p:spPr>
        <p:txBody>
          <a:bodyPr wrap="square" lIns="0" tIns="0" rIns="0" bIns="0" rtlCol="0" anchor="ctr"/>
          <a:lstStyle/>
          <a:p>
            <a:pPr indent="0" marL="0">
              <a:buNone/>
            </a:pPr>
            <a:r>
              <a:rPr lang="en-US" sz="2000" dirty="0">
                <a:solidFill>
                  <a:srgbClr val="8C9BB8"/>
                </a:solidFill>
                <a:latin typeface="Segoe UI" pitchFamily="34" charset="0"/>
                <a:ea typeface="Segoe UI" pitchFamily="34" charset="-122"/>
                <a:cs typeface="Segoe UI" pitchFamily="34" charset="-120"/>
              </a:rPr>
              <a:t>Renewable Energy Operations, Asset and Grid Management System</a:t>
            </a:r>
            <a:endParaRPr lang="en-US" sz="2000" dirty="0"/>
          </a:p>
        </p:txBody>
      </p:sp>
      <p:sp>
        <p:nvSpPr>
          <p:cNvPr id="6" name="Text 3"/>
          <p:cNvSpPr txBox="1"/>
          <p:nvPr/>
        </p:nvSpPr>
        <p:spPr>
          <a:xfrm>
            <a:off x="640080" y="3977640"/>
            <a:ext cx="7863840" cy="320040"/>
          </a:xfrm>
          <a:prstGeom prst="rect">
            <a:avLst/>
          </a:prstGeom>
          <a:noFill/>
          <a:ln/>
        </p:spPr>
        <p:txBody>
          <a:bodyPr wrap="square" lIns="0" tIns="0" rIns="0" bIns="0" rtlCol="0" anchor="ctr"/>
          <a:lstStyle/>
          <a:p>
            <a:pPr indent="0" marL="0">
              <a:buNone/>
            </a:pPr>
            <a:r>
              <a:rPr lang="en-US" sz="1400" dirty="0">
                <a:solidFill>
                  <a:srgbClr val="F1F5FB"/>
                </a:solidFill>
                <a:latin typeface="Segoe UI Semibold" pitchFamily="34" charset="0"/>
                <a:ea typeface="Segoe UI Semibold" pitchFamily="34" charset="-122"/>
                <a:cs typeface="Segoe UI Semibold" pitchFamily="34" charset="-120"/>
              </a:rPr>
              <a:t>Charith  ·  Nemal  ·  Govindu  ·  Thurunu  ·  Yasiru  ·  Sachinthana</a:t>
            </a:r>
            <a:endParaRPr lang="en-US" sz="1400" dirty="0"/>
          </a:p>
        </p:txBody>
      </p:sp>
      <p:sp>
        <p:nvSpPr>
          <p:cNvPr id="7" name="Text 4"/>
          <p:cNvSpPr txBox="1"/>
          <p:nvPr/>
        </p:nvSpPr>
        <p:spPr>
          <a:xfrm>
            <a:off x="640080" y="4343400"/>
            <a:ext cx="7863840" cy="274320"/>
          </a:xfrm>
          <a:prstGeom prst="rect">
            <a:avLst/>
          </a:prstGeom>
          <a:noFill/>
          <a:ln/>
        </p:spPr>
        <p:txBody>
          <a:bodyPr wrap="square" lIns="0" tIns="0" rIns="0" bIns="0" rtlCol="0" anchor="ctr"/>
          <a:lstStyle/>
          <a:p>
            <a:pPr indent="0" marL="0">
              <a:buNone/>
            </a:pPr>
            <a:r>
              <a:rPr lang="en-US" sz="1100" dirty="0">
                <a:solidFill>
                  <a:srgbClr val="8C9BB8"/>
                </a:solidFill>
                <a:latin typeface="Segoe UI" pitchFamily="34" charset="0"/>
                <a:ea typeface="Segoe UI" pitchFamily="34" charset="-122"/>
                <a:cs typeface="Segoe UI" pitchFamily="34" charset="-120"/>
              </a:rPr>
              <a:t>Department of Electrical and Information Engineering  ·  University of Ruhuna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548640" y="365760"/>
            <a:ext cx="6400800" cy="274320"/>
          </a:xfrm>
          <a:prstGeom prst="rect">
            <a:avLst/>
          </a:prstGeom>
          <a:noFill/>
          <a:ln/>
        </p:spPr>
        <p:txBody>
          <a:bodyPr wrap="square" lIns="0" tIns="0" rIns="0" bIns="0" rtlCol="0" anchor="ctr"/>
          <a:lstStyle/>
          <a:p>
            <a:pPr indent="0" marL="0">
              <a:buNone/>
            </a:pPr>
            <a:r>
              <a:rPr lang="en-US" sz="1100" spc="400" kern="0" dirty="0">
                <a:solidFill>
                  <a:srgbClr val="22D3EE"/>
                </a:solidFill>
                <a:latin typeface="Segoe UI Semibold" pitchFamily="34" charset="0"/>
                <a:ea typeface="Segoe UI Semibold" pitchFamily="34" charset="-122"/>
                <a:cs typeface="Segoe UI Semibold" pitchFamily="34" charset="-120"/>
              </a:rPr>
              <a:t>02 · CHARITH · ARCHITECTURE</a:t>
            </a:r>
            <a:endParaRPr lang="en-US" sz="1100" dirty="0"/>
          </a:p>
        </p:txBody>
      </p:sp>
      <p:sp>
        <p:nvSpPr>
          <p:cNvPr id="4"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dirty="0">
                <a:solidFill>
                  <a:srgbClr val="F1F5FB"/>
                </a:solidFill>
                <a:latin typeface="Segoe UI Semibold" pitchFamily="34" charset="0"/>
                <a:ea typeface="Segoe UI Semibold" pitchFamily="34" charset="-122"/>
                <a:cs typeface="Segoe UI Semibold" pitchFamily="34" charset="-120"/>
              </a:rPr>
              <a:t>One gateway, six independent services</a:t>
            </a:r>
            <a:endParaRPr lang="en-US" sz="3000" dirty="0"/>
          </a:p>
        </p:txBody>
      </p:sp>
      <p:sp>
        <p:nvSpPr>
          <p:cNvPr id="5" name="Text 2"/>
          <p:cNvSpPr txBox="1"/>
          <p:nvPr/>
        </p:nvSpPr>
        <p:spPr>
          <a:xfrm>
            <a:off x="548640" y="4754880"/>
            <a:ext cx="5486400" cy="228600"/>
          </a:xfrm>
          <a:prstGeom prst="rect">
            <a:avLst/>
          </a:prstGeom>
          <a:noFill/>
          <a:ln/>
        </p:spPr>
        <p:txBody>
          <a:bodyPr wrap="square" lIns="0" tIns="0" rIns="0" bIns="0" rtlCol="0" anchor="ctr"/>
          <a:lstStyle/>
          <a:p>
            <a:pPr indent="0" marL="0">
              <a:buNone/>
            </a:pPr>
            <a:r>
              <a:rPr lang="en-US" sz="900" dirty="0">
                <a:solidFill>
                  <a:srgbClr val="8C9BB8"/>
                </a:solidFill>
                <a:latin typeface="Segoe UI" pitchFamily="34" charset="0"/>
                <a:ea typeface="Segoe UI" pitchFamily="34" charset="-122"/>
                <a:cs typeface="Segoe UI" pitchFamily="34" charset="-120"/>
              </a:rPr>
              <a:t>EC8208 Software Architecture  ·  University of Ruhuna</a:t>
            </a:r>
            <a:endParaRPr lang="en-US" sz="900" dirty="0"/>
          </a:p>
        </p:txBody>
      </p:sp>
      <p:sp>
        <p:nvSpPr>
          <p:cNvPr id="6" name="Text 3"/>
          <p:cNvSpPr txBox="1"/>
          <p:nvPr/>
        </p:nvSpPr>
        <p:spPr>
          <a:xfrm>
            <a:off x="6766560" y="4754880"/>
            <a:ext cx="1828800" cy="228600"/>
          </a:xfrm>
          <a:prstGeom prst="rect">
            <a:avLst/>
          </a:prstGeom>
          <a:noFill/>
          <a:ln/>
        </p:spPr>
        <p:txBody>
          <a:bodyPr wrap="square" lIns="0" tIns="0" rIns="0" bIns="0" rtlCol="0" anchor="ctr"/>
          <a:lstStyle/>
          <a:p>
            <a:pPr algn="r" indent="0" marL="0">
              <a:buNone/>
            </a:pPr>
            <a:r>
              <a:rPr lang="en-US" sz="900" dirty="0">
                <a:solidFill>
                  <a:srgbClr val="8C9BB8"/>
                </a:solidFill>
                <a:latin typeface="Segoe UI" pitchFamily="34" charset="0"/>
                <a:ea typeface="Segoe UI" pitchFamily="34" charset="-122"/>
                <a:cs typeface="Segoe UI" pitchFamily="34" charset="-120"/>
              </a:rPr>
              <a:t>02  ·  0:10–0:45</a:t>
            </a:r>
            <a:endParaRPr lang="en-US" sz="900" dirty="0"/>
          </a:p>
        </p:txBody>
      </p:sp>
      <p:sp>
        <p:nvSpPr>
          <p:cNvPr id="7" name="Shape 4"/>
          <p:cNvSpPr/>
          <p:nvPr/>
        </p:nvSpPr>
        <p:spPr>
          <a:xfrm>
            <a:off x="548640" y="1508760"/>
            <a:ext cx="8046720" cy="457200"/>
          </a:xfrm>
          <a:prstGeom prst="roundRect">
            <a:avLst>
              <a:gd name="adj" fmla="val 16000"/>
            </a:avLst>
          </a:prstGeom>
          <a:solidFill>
            <a:srgbClr val="121B33"/>
          </a:solidFill>
          <a:ln w="9525">
            <a:solidFill>
              <a:srgbClr val="24314F"/>
            </a:solidFill>
            <a:prstDash val="solid"/>
          </a:ln>
        </p:spPr>
      </p:sp>
      <p:sp>
        <p:nvSpPr>
          <p:cNvPr id="8" name="Text 5"/>
          <p:cNvSpPr txBox="1"/>
          <p:nvPr/>
        </p:nvSpPr>
        <p:spPr>
          <a:xfrm>
            <a:off x="548640" y="1508760"/>
            <a:ext cx="8046720" cy="457200"/>
          </a:xfrm>
          <a:prstGeom prst="rect">
            <a:avLst/>
          </a:prstGeom>
          <a:noFill/>
          <a:ln/>
        </p:spPr>
        <p:txBody>
          <a:bodyPr wrap="square" lIns="0" tIns="0" rIns="0" bIns="0" rtlCol="0" anchor="ctr"/>
          <a:lstStyle/>
          <a:p>
            <a:pPr algn="ctr" indent="0" marL="0">
              <a:buNone/>
            </a:pPr>
            <a:r>
              <a:rPr lang="en-US" sz="1300" dirty="0">
                <a:solidFill>
                  <a:srgbClr val="F1F5FB"/>
                </a:solidFill>
                <a:latin typeface="Segoe UI" pitchFamily="34" charset="0"/>
                <a:ea typeface="Segoe UI" pitchFamily="34" charset="-122"/>
                <a:cs typeface="Segoe UI" pitchFamily="34" charset="-120"/>
              </a:rPr>
              <a:t>React console  ·  nginx  ·  live updates over WebSocket</a:t>
            </a:r>
            <a:endParaRPr lang="en-US" sz="1300" dirty="0"/>
          </a:p>
        </p:txBody>
      </p:sp>
      <p:sp>
        <p:nvSpPr>
          <p:cNvPr id="9" name="Shape 6"/>
          <p:cNvSpPr/>
          <p:nvPr/>
        </p:nvSpPr>
        <p:spPr>
          <a:xfrm>
            <a:off x="548640" y="2148840"/>
            <a:ext cx="8046720" cy="457200"/>
          </a:xfrm>
          <a:prstGeom prst="roundRect">
            <a:avLst>
              <a:gd name="adj" fmla="val 16000"/>
            </a:avLst>
          </a:prstGeom>
          <a:solidFill>
            <a:srgbClr val="22D3EE"/>
          </a:solidFill>
          <a:ln w="9525">
            <a:solidFill>
              <a:srgbClr val="22D3EE"/>
            </a:solidFill>
            <a:prstDash val="solid"/>
          </a:ln>
        </p:spPr>
      </p:sp>
      <p:sp>
        <p:nvSpPr>
          <p:cNvPr id="10" name="Text 7"/>
          <p:cNvSpPr txBox="1"/>
          <p:nvPr/>
        </p:nvSpPr>
        <p:spPr>
          <a:xfrm>
            <a:off x="548640" y="2148840"/>
            <a:ext cx="8046720" cy="457200"/>
          </a:xfrm>
          <a:prstGeom prst="rect">
            <a:avLst/>
          </a:prstGeom>
          <a:noFill/>
          <a:ln/>
        </p:spPr>
        <p:txBody>
          <a:bodyPr wrap="square" lIns="0" tIns="0" rIns="0" bIns="0" rtlCol="0" anchor="ctr"/>
          <a:lstStyle/>
          <a:p>
            <a:pPr algn="ctr" indent="0" marL="0">
              <a:buNone/>
            </a:pPr>
            <a:r>
              <a:rPr lang="en-US" sz="1400" dirty="0">
                <a:solidFill>
                  <a:srgbClr val="0A1020"/>
                </a:solidFill>
                <a:latin typeface="Segoe UI Semibold" pitchFamily="34" charset="0"/>
                <a:ea typeface="Segoe UI Semibold" pitchFamily="34" charset="-122"/>
                <a:cs typeface="Segoe UI Semibold" pitchFamily="34" charset="-120"/>
              </a:rPr>
              <a:t>API Gateway  ·  JWT validation  ·  role policy</a:t>
            </a:r>
            <a:endParaRPr lang="en-US" sz="1400" dirty="0"/>
          </a:p>
        </p:txBody>
      </p:sp>
      <p:sp>
        <p:nvSpPr>
          <p:cNvPr id="11" name="Shape 8"/>
          <p:cNvSpPr/>
          <p:nvPr/>
        </p:nvSpPr>
        <p:spPr>
          <a:xfrm>
            <a:off x="548640" y="2788920"/>
            <a:ext cx="1249680" cy="777240"/>
          </a:xfrm>
          <a:prstGeom prst="roundRect">
            <a:avLst>
              <a:gd name="adj" fmla="val 9412"/>
            </a:avLst>
          </a:prstGeom>
          <a:solidFill>
            <a:srgbClr val="121B33"/>
          </a:solidFill>
          <a:ln w="9525">
            <a:solidFill>
              <a:srgbClr val="24314F"/>
            </a:solidFill>
            <a:prstDash val="solid"/>
          </a:ln>
        </p:spPr>
      </p:sp>
      <p:sp>
        <p:nvSpPr>
          <p:cNvPr id="12" name="Text 9"/>
          <p:cNvSpPr txBox="1"/>
          <p:nvPr/>
        </p:nvSpPr>
        <p:spPr>
          <a:xfrm>
            <a:off x="548640" y="2834640"/>
            <a:ext cx="1249680" cy="411480"/>
          </a:xfrm>
          <a:prstGeom prst="rect">
            <a:avLst/>
          </a:prstGeom>
          <a:noFill/>
          <a:ln/>
        </p:spPr>
        <p:txBody>
          <a:bodyPr wrap="square" lIns="0" tIns="0" rIns="0" bIns="0" rtlCol="0" anchor="ctr"/>
          <a:lstStyle/>
          <a:p>
            <a:pPr algn="ctr" indent="0" marL="0">
              <a:buNone/>
            </a:pPr>
            <a:r>
              <a:rPr lang="en-US" sz="1100" dirty="0">
                <a:solidFill>
                  <a:srgbClr val="F1F5FB"/>
                </a:solidFill>
                <a:latin typeface="Segoe UI Semibold" pitchFamily="34" charset="0"/>
                <a:ea typeface="Segoe UI Semibold" pitchFamily="34" charset="-122"/>
                <a:cs typeface="Segoe UI Semibold" pitchFamily="34" charset="-120"/>
              </a:rPr>
              <a:t>Identity</a:t>
            </a:r>
            <a:endParaRPr lang="en-US" sz="1100" dirty="0"/>
          </a:p>
        </p:txBody>
      </p:sp>
      <p:sp>
        <p:nvSpPr>
          <p:cNvPr id="13" name="Text 10"/>
          <p:cNvSpPr txBox="1"/>
          <p:nvPr/>
        </p:nvSpPr>
        <p:spPr>
          <a:xfrm>
            <a:off x="548640" y="3200400"/>
            <a:ext cx="1249680" cy="274320"/>
          </a:xfrm>
          <a:prstGeom prst="rect">
            <a:avLst/>
          </a:prstGeom>
          <a:noFill/>
          <a:ln/>
        </p:spPr>
        <p:txBody>
          <a:bodyPr wrap="square" lIns="0" tIns="0" rIns="0" bIns="0" rtlCol="0" anchor="ctr"/>
          <a:lstStyle/>
          <a:p>
            <a:pPr algn="ctr" indent="0" marL="0">
              <a:buNone/>
            </a:pPr>
            <a:r>
              <a:rPr lang="en-US" sz="900" dirty="0">
                <a:solidFill>
                  <a:srgbClr val="8C9BB8"/>
                </a:solidFill>
                <a:latin typeface="Segoe UI" pitchFamily="34" charset="0"/>
                <a:ea typeface="Segoe UI" pitchFamily="34" charset="-122"/>
                <a:cs typeface="Segoe UI" pitchFamily="34" charset="-120"/>
              </a:rPr>
              <a:t>PostgreSQL</a:t>
            </a:r>
            <a:endParaRPr lang="en-US" sz="900" dirty="0"/>
          </a:p>
        </p:txBody>
      </p:sp>
      <p:sp>
        <p:nvSpPr>
          <p:cNvPr id="14" name="Shape 11"/>
          <p:cNvSpPr/>
          <p:nvPr/>
        </p:nvSpPr>
        <p:spPr>
          <a:xfrm>
            <a:off x="1908048" y="2788920"/>
            <a:ext cx="1249680" cy="777240"/>
          </a:xfrm>
          <a:prstGeom prst="roundRect">
            <a:avLst>
              <a:gd name="adj" fmla="val 9412"/>
            </a:avLst>
          </a:prstGeom>
          <a:solidFill>
            <a:srgbClr val="121B33"/>
          </a:solidFill>
          <a:ln w="9525">
            <a:solidFill>
              <a:srgbClr val="24314F"/>
            </a:solidFill>
            <a:prstDash val="solid"/>
          </a:ln>
        </p:spPr>
      </p:sp>
      <p:sp>
        <p:nvSpPr>
          <p:cNvPr id="15" name="Text 12"/>
          <p:cNvSpPr txBox="1"/>
          <p:nvPr/>
        </p:nvSpPr>
        <p:spPr>
          <a:xfrm>
            <a:off x="1908048" y="2834640"/>
            <a:ext cx="1249680" cy="411480"/>
          </a:xfrm>
          <a:prstGeom prst="rect">
            <a:avLst/>
          </a:prstGeom>
          <a:noFill/>
          <a:ln/>
        </p:spPr>
        <p:txBody>
          <a:bodyPr wrap="square" lIns="0" tIns="0" rIns="0" bIns="0" rtlCol="0" anchor="ctr"/>
          <a:lstStyle/>
          <a:p>
            <a:pPr algn="ctr" indent="0" marL="0">
              <a:buNone/>
            </a:pPr>
            <a:r>
              <a:rPr lang="en-US" sz="1100" dirty="0">
                <a:solidFill>
                  <a:srgbClr val="F1F5FB"/>
                </a:solidFill>
                <a:latin typeface="Segoe UI Semibold" pitchFamily="34" charset="0"/>
                <a:ea typeface="Segoe UI Semibold" pitchFamily="34" charset="-122"/>
                <a:cs typeface="Segoe UI Semibold" pitchFamily="34" charset="-120"/>
              </a:rPr>
              <a:t>Asset</a:t>
            </a:r>
            <a:endParaRPr lang="en-US" sz="1100" dirty="0"/>
          </a:p>
        </p:txBody>
      </p:sp>
      <p:sp>
        <p:nvSpPr>
          <p:cNvPr id="16" name="Text 13"/>
          <p:cNvSpPr txBox="1"/>
          <p:nvPr/>
        </p:nvSpPr>
        <p:spPr>
          <a:xfrm>
            <a:off x="1908048" y="3200400"/>
            <a:ext cx="1249680" cy="274320"/>
          </a:xfrm>
          <a:prstGeom prst="rect">
            <a:avLst/>
          </a:prstGeom>
          <a:noFill/>
          <a:ln/>
        </p:spPr>
        <p:txBody>
          <a:bodyPr wrap="square" lIns="0" tIns="0" rIns="0" bIns="0" rtlCol="0" anchor="ctr"/>
          <a:lstStyle/>
          <a:p>
            <a:pPr algn="ctr" indent="0" marL="0">
              <a:buNone/>
            </a:pPr>
            <a:r>
              <a:rPr lang="en-US" sz="900" dirty="0">
                <a:solidFill>
                  <a:srgbClr val="8C9BB8"/>
                </a:solidFill>
                <a:latin typeface="Segoe UI" pitchFamily="34" charset="0"/>
                <a:ea typeface="Segoe UI" pitchFamily="34" charset="-122"/>
                <a:cs typeface="Segoe UI" pitchFamily="34" charset="-120"/>
              </a:rPr>
              <a:t>PostgreSQL</a:t>
            </a:r>
            <a:endParaRPr lang="en-US" sz="900" dirty="0"/>
          </a:p>
        </p:txBody>
      </p:sp>
      <p:sp>
        <p:nvSpPr>
          <p:cNvPr id="17" name="Shape 14"/>
          <p:cNvSpPr/>
          <p:nvPr/>
        </p:nvSpPr>
        <p:spPr>
          <a:xfrm>
            <a:off x="3267456" y="2788920"/>
            <a:ext cx="1249680" cy="777240"/>
          </a:xfrm>
          <a:prstGeom prst="roundRect">
            <a:avLst>
              <a:gd name="adj" fmla="val 9412"/>
            </a:avLst>
          </a:prstGeom>
          <a:solidFill>
            <a:srgbClr val="121B33"/>
          </a:solidFill>
          <a:ln w="9525">
            <a:solidFill>
              <a:srgbClr val="24314F"/>
            </a:solidFill>
            <a:prstDash val="solid"/>
          </a:ln>
        </p:spPr>
      </p:sp>
      <p:sp>
        <p:nvSpPr>
          <p:cNvPr id="18" name="Text 15"/>
          <p:cNvSpPr txBox="1"/>
          <p:nvPr/>
        </p:nvSpPr>
        <p:spPr>
          <a:xfrm>
            <a:off x="3267456" y="2834640"/>
            <a:ext cx="1249680" cy="411480"/>
          </a:xfrm>
          <a:prstGeom prst="rect">
            <a:avLst/>
          </a:prstGeom>
          <a:noFill/>
          <a:ln/>
        </p:spPr>
        <p:txBody>
          <a:bodyPr wrap="square" lIns="0" tIns="0" rIns="0" bIns="0" rtlCol="0" anchor="ctr"/>
          <a:lstStyle/>
          <a:p>
            <a:pPr algn="ctr" indent="0" marL="0">
              <a:buNone/>
            </a:pPr>
            <a:r>
              <a:rPr lang="en-US" sz="1100" dirty="0">
                <a:solidFill>
                  <a:srgbClr val="F1F5FB"/>
                </a:solidFill>
                <a:latin typeface="Segoe UI Semibold" pitchFamily="34" charset="0"/>
                <a:ea typeface="Segoe UI Semibold" pitchFamily="34" charset="-122"/>
                <a:cs typeface="Segoe UI Semibold" pitchFamily="34" charset="-120"/>
              </a:rPr>
              <a:t>Monitoring</a:t>
            </a:r>
            <a:endParaRPr lang="en-US" sz="1100" dirty="0"/>
          </a:p>
        </p:txBody>
      </p:sp>
      <p:sp>
        <p:nvSpPr>
          <p:cNvPr id="19" name="Text 16"/>
          <p:cNvSpPr txBox="1"/>
          <p:nvPr/>
        </p:nvSpPr>
        <p:spPr>
          <a:xfrm>
            <a:off x="3267456" y="3200400"/>
            <a:ext cx="1249680" cy="274320"/>
          </a:xfrm>
          <a:prstGeom prst="rect">
            <a:avLst/>
          </a:prstGeom>
          <a:noFill/>
          <a:ln/>
        </p:spPr>
        <p:txBody>
          <a:bodyPr wrap="square" lIns="0" tIns="0" rIns="0" bIns="0" rtlCol="0" anchor="ctr"/>
          <a:lstStyle/>
          <a:p>
            <a:pPr algn="ctr" indent="0" marL="0">
              <a:buNone/>
            </a:pPr>
            <a:r>
              <a:rPr lang="en-US" sz="900" dirty="0">
                <a:solidFill>
                  <a:srgbClr val="8C9BB8"/>
                </a:solidFill>
                <a:latin typeface="Segoe UI" pitchFamily="34" charset="0"/>
                <a:ea typeface="Segoe UI" pitchFamily="34" charset="-122"/>
                <a:cs typeface="Segoe UI" pitchFamily="34" charset="-120"/>
              </a:rPr>
              <a:t>PostgreSQL</a:t>
            </a:r>
            <a:endParaRPr lang="en-US" sz="900" dirty="0"/>
          </a:p>
        </p:txBody>
      </p:sp>
      <p:sp>
        <p:nvSpPr>
          <p:cNvPr id="20" name="Shape 17"/>
          <p:cNvSpPr/>
          <p:nvPr/>
        </p:nvSpPr>
        <p:spPr>
          <a:xfrm>
            <a:off x="4626864" y="2788920"/>
            <a:ext cx="1249680" cy="777240"/>
          </a:xfrm>
          <a:prstGeom prst="roundRect">
            <a:avLst>
              <a:gd name="adj" fmla="val 9412"/>
            </a:avLst>
          </a:prstGeom>
          <a:solidFill>
            <a:srgbClr val="121B33"/>
          </a:solidFill>
          <a:ln w="9525">
            <a:solidFill>
              <a:srgbClr val="24314F"/>
            </a:solidFill>
            <a:prstDash val="solid"/>
          </a:ln>
        </p:spPr>
      </p:sp>
      <p:sp>
        <p:nvSpPr>
          <p:cNvPr id="21" name="Text 18"/>
          <p:cNvSpPr txBox="1"/>
          <p:nvPr/>
        </p:nvSpPr>
        <p:spPr>
          <a:xfrm>
            <a:off x="4626864" y="2834640"/>
            <a:ext cx="1249680" cy="411480"/>
          </a:xfrm>
          <a:prstGeom prst="rect">
            <a:avLst/>
          </a:prstGeom>
          <a:noFill/>
          <a:ln/>
        </p:spPr>
        <p:txBody>
          <a:bodyPr wrap="square" lIns="0" tIns="0" rIns="0" bIns="0" rtlCol="0" anchor="ctr"/>
          <a:lstStyle/>
          <a:p>
            <a:pPr algn="ctr" indent="0" marL="0">
              <a:buNone/>
            </a:pPr>
            <a:r>
              <a:rPr lang="en-US" sz="1100" dirty="0">
                <a:solidFill>
                  <a:srgbClr val="F1F5FB"/>
                </a:solidFill>
                <a:latin typeface="Segoe UI Semibold" pitchFamily="34" charset="0"/>
                <a:ea typeface="Segoe UI Semibold" pitchFamily="34" charset="-122"/>
                <a:cs typeface="Segoe UI Semibold" pitchFamily="34" charset="-120"/>
              </a:rPr>
              <a:t>Maintenance</a:t>
            </a:r>
            <a:endParaRPr lang="en-US" sz="1100" dirty="0"/>
          </a:p>
        </p:txBody>
      </p:sp>
      <p:sp>
        <p:nvSpPr>
          <p:cNvPr id="22" name="Text 19"/>
          <p:cNvSpPr txBox="1"/>
          <p:nvPr/>
        </p:nvSpPr>
        <p:spPr>
          <a:xfrm>
            <a:off x="4626864" y="3200400"/>
            <a:ext cx="1249680" cy="274320"/>
          </a:xfrm>
          <a:prstGeom prst="rect">
            <a:avLst/>
          </a:prstGeom>
          <a:noFill/>
          <a:ln/>
        </p:spPr>
        <p:txBody>
          <a:bodyPr wrap="square" lIns="0" tIns="0" rIns="0" bIns="0" rtlCol="0" anchor="ctr"/>
          <a:lstStyle/>
          <a:p>
            <a:pPr algn="ctr" indent="0" marL="0">
              <a:buNone/>
            </a:pPr>
            <a:r>
              <a:rPr lang="en-US" sz="900" dirty="0">
                <a:solidFill>
                  <a:srgbClr val="8C9BB8"/>
                </a:solidFill>
                <a:latin typeface="Segoe UI" pitchFamily="34" charset="0"/>
                <a:ea typeface="Segoe UI" pitchFamily="34" charset="-122"/>
                <a:cs typeface="Segoe UI" pitchFamily="34" charset="-120"/>
              </a:rPr>
              <a:t>PostgreSQL</a:t>
            </a:r>
            <a:endParaRPr lang="en-US" sz="900" dirty="0"/>
          </a:p>
        </p:txBody>
      </p:sp>
      <p:sp>
        <p:nvSpPr>
          <p:cNvPr id="23" name="Shape 20"/>
          <p:cNvSpPr/>
          <p:nvPr/>
        </p:nvSpPr>
        <p:spPr>
          <a:xfrm>
            <a:off x="5986272" y="2788920"/>
            <a:ext cx="1249680" cy="777240"/>
          </a:xfrm>
          <a:prstGeom prst="roundRect">
            <a:avLst>
              <a:gd name="adj" fmla="val 9412"/>
            </a:avLst>
          </a:prstGeom>
          <a:solidFill>
            <a:srgbClr val="121B33"/>
          </a:solidFill>
          <a:ln w="9525">
            <a:solidFill>
              <a:srgbClr val="24314F"/>
            </a:solidFill>
            <a:prstDash val="solid"/>
          </a:ln>
        </p:spPr>
      </p:sp>
      <p:sp>
        <p:nvSpPr>
          <p:cNvPr id="24" name="Text 21"/>
          <p:cNvSpPr txBox="1"/>
          <p:nvPr/>
        </p:nvSpPr>
        <p:spPr>
          <a:xfrm>
            <a:off x="5986272" y="2834640"/>
            <a:ext cx="1249680" cy="411480"/>
          </a:xfrm>
          <a:prstGeom prst="rect">
            <a:avLst/>
          </a:prstGeom>
          <a:noFill/>
          <a:ln/>
        </p:spPr>
        <p:txBody>
          <a:bodyPr wrap="square" lIns="0" tIns="0" rIns="0" bIns="0" rtlCol="0" anchor="ctr"/>
          <a:lstStyle/>
          <a:p>
            <a:pPr algn="ctr" indent="0" marL="0">
              <a:buNone/>
            </a:pPr>
            <a:r>
              <a:rPr lang="en-US" sz="1100" dirty="0">
                <a:solidFill>
                  <a:srgbClr val="F1F5FB"/>
                </a:solidFill>
                <a:latin typeface="Segoe UI Semibold" pitchFamily="34" charset="0"/>
                <a:ea typeface="Segoe UI Semibold" pitchFamily="34" charset="-122"/>
                <a:cs typeface="Segoe UI Semibold" pitchFamily="34" charset="-120"/>
              </a:rPr>
              <a:t>Notification</a:t>
            </a:r>
            <a:endParaRPr lang="en-US" sz="1100" dirty="0"/>
          </a:p>
        </p:txBody>
      </p:sp>
      <p:sp>
        <p:nvSpPr>
          <p:cNvPr id="25" name="Text 22"/>
          <p:cNvSpPr txBox="1"/>
          <p:nvPr/>
        </p:nvSpPr>
        <p:spPr>
          <a:xfrm>
            <a:off x="5986272" y="3200400"/>
            <a:ext cx="1249680" cy="274320"/>
          </a:xfrm>
          <a:prstGeom prst="rect">
            <a:avLst/>
          </a:prstGeom>
          <a:noFill/>
          <a:ln/>
        </p:spPr>
        <p:txBody>
          <a:bodyPr wrap="square" lIns="0" tIns="0" rIns="0" bIns="0" rtlCol="0" anchor="ctr"/>
          <a:lstStyle/>
          <a:p>
            <a:pPr algn="ctr" indent="0" marL="0">
              <a:buNone/>
            </a:pPr>
            <a:r>
              <a:rPr lang="en-US" sz="900" dirty="0">
                <a:solidFill>
                  <a:srgbClr val="8C9BB8"/>
                </a:solidFill>
                <a:latin typeface="Segoe UI" pitchFamily="34" charset="0"/>
                <a:ea typeface="Segoe UI" pitchFamily="34" charset="-122"/>
                <a:cs typeface="Segoe UI" pitchFamily="34" charset="-120"/>
              </a:rPr>
              <a:t>PostgreSQL</a:t>
            </a:r>
            <a:endParaRPr lang="en-US" sz="900" dirty="0"/>
          </a:p>
        </p:txBody>
      </p:sp>
      <p:sp>
        <p:nvSpPr>
          <p:cNvPr id="26" name="Shape 23"/>
          <p:cNvSpPr/>
          <p:nvPr/>
        </p:nvSpPr>
        <p:spPr>
          <a:xfrm>
            <a:off x="7345680" y="2788920"/>
            <a:ext cx="1249680" cy="777240"/>
          </a:xfrm>
          <a:prstGeom prst="roundRect">
            <a:avLst>
              <a:gd name="adj" fmla="val 9412"/>
            </a:avLst>
          </a:prstGeom>
          <a:solidFill>
            <a:srgbClr val="121B33"/>
          </a:solidFill>
          <a:ln w="9525">
            <a:solidFill>
              <a:srgbClr val="24314F"/>
            </a:solidFill>
            <a:prstDash val="solid"/>
          </a:ln>
        </p:spPr>
      </p:sp>
      <p:sp>
        <p:nvSpPr>
          <p:cNvPr id="27" name="Text 24"/>
          <p:cNvSpPr txBox="1"/>
          <p:nvPr/>
        </p:nvSpPr>
        <p:spPr>
          <a:xfrm>
            <a:off x="7345680" y="2834640"/>
            <a:ext cx="1249680" cy="411480"/>
          </a:xfrm>
          <a:prstGeom prst="rect">
            <a:avLst/>
          </a:prstGeom>
          <a:noFill/>
          <a:ln/>
        </p:spPr>
        <p:txBody>
          <a:bodyPr wrap="square" lIns="0" tIns="0" rIns="0" bIns="0" rtlCol="0" anchor="ctr"/>
          <a:lstStyle/>
          <a:p>
            <a:pPr algn="ctr" indent="0" marL="0">
              <a:buNone/>
            </a:pPr>
            <a:r>
              <a:rPr lang="en-US" sz="1100" dirty="0">
                <a:solidFill>
                  <a:srgbClr val="F1F5FB"/>
                </a:solidFill>
                <a:latin typeface="Segoe UI Semibold" pitchFamily="34" charset="0"/>
                <a:ea typeface="Segoe UI Semibold" pitchFamily="34" charset="-122"/>
                <a:cs typeface="Segoe UI Semibold" pitchFamily="34" charset="-120"/>
              </a:rPr>
              <a:t>Analytics</a:t>
            </a:r>
            <a:endParaRPr lang="en-US" sz="1100" dirty="0"/>
          </a:p>
        </p:txBody>
      </p:sp>
      <p:sp>
        <p:nvSpPr>
          <p:cNvPr id="28" name="Text 25"/>
          <p:cNvSpPr txBox="1"/>
          <p:nvPr/>
        </p:nvSpPr>
        <p:spPr>
          <a:xfrm>
            <a:off x="7345680" y="3200400"/>
            <a:ext cx="1249680" cy="274320"/>
          </a:xfrm>
          <a:prstGeom prst="rect">
            <a:avLst/>
          </a:prstGeom>
          <a:noFill/>
          <a:ln/>
        </p:spPr>
        <p:txBody>
          <a:bodyPr wrap="square" lIns="0" tIns="0" rIns="0" bIns="0" rtlCol="0" anchor="ctr"/>
          <a:lstStyle/>
          <a:p>
            <a:pPr algn="ctr" indent="0" marL="0">
              <a:buNone/>
            </a:pPr>
            <a:r>
              <a:rPr lang="en-US" sz="900" dirty="0">
                <a:solidFill>
                  <a:srgbClr val="8C9BB8"/>
                </a:solidFill>
                <a:latin typeface="Segoe UI" pitchFamily="34" charset="0"/>
                <a:ea typeface="Segoe UI" pitchFamily="34" charset="-122"/>
                <a:cs typeface="Segoe UI" pitchFamily="34" charset="-120"/>
              </a:rPr>
              <a:t>PostgreSQL</a:t>
            </a:r>
            <a:endParaRPr lang="en-US" sz="900" dirty="0"/>
          </a:p>
        </p:txBody>
      </p:sp>
      <p:sp>
        <p:nvSpPr>
          <p:cNvPr id="29" name="Shape 26"/>
          <p:cNvSpPr/>
          <p:nvPr/>
        </p:nvSpPr>
        <p:spPr>
          <a:xfrm>
            <a:off x="548640" y="3749040"/>
            <a:ext cx="8046720" cy="457200"/>
          </a:xfrm>
          <a:prstGeom prst="roundRect">
            <a:avLst>
              <a:gd name="adj" fmla="val 16000"/>
            </a:avLst>
          </a:prstGeom>
          <a:solidFill>
            <a:srgbClr val="121B33"/>
          </a:solidFill>
          <a:ln w="9525">
            <a:solidFill>
              <a:srgbClr val="A3E635"/>
            </a:solidFill>
            <a:prstDash val="solid"/>
          </a:ln>
        </p:spPr>
      </p:sp>
      <p:sp>
        <p:nvSpPr>
          <p:cNvPr id="30" name="Text 27"/>
          <p:cNvSpPr txBox="1"/>
          <p:nvPr/>
        </p:nvSpPr>
        <p:spPr>
          <a:xfrm>
            <a:off x="548640" y="3749040"/>
            <a:ext cx="8046720" cy="457200"/>
          </a:xfrm>
          <a:prstGeom prst="rect">
            <a:avLst/>
          </a:prstGeom>
          <a:noFill/>
          <a:ln/>
        </p:spPr>
        <p:txBody>
          <a:bodyPr wrap="square" lIns="0" tIns="0" rIns="0" bIns="0" rtlCol="0" anchor="ctr"/>
          <a:lstStyle/>
          <a:p>
            <a:pPr algn="ctr" indent="0" marL="0">
              <a:buNone/>
            </a:pPr>
            <a:r>
              <a:rPr lang="en-US" sz="1300" dirty="0">
                <a:solidFill>
                  <a:srgbClr val="F1F5FB"/>
                </a:solidFill>
                <a:latin typeface="Segoe UI" pitchFamily="34" charset="0"/>
                <a:ea typeface="Segoe UI" pitchFamily="34" charset="-122"/>
                <a:cs typeface="Segoe UI" pitchFamily="34" charset="-120"/>
              </a:rPr>
              <a:t>RabbitMQ events  ·  Redis cache  ·  Prometheus and Grafana</a:t>
            </a:r>
            <a:endParaRPr lang="en-US" sz="1300" dirty="0"/>
          </a:p>
        </p:txBody>
      </p:sp>
      <p:sp>
        <p:nvSpPr>
          <p:cNvPr id="31" name="Shape 28"/>
          <p:cNvSpPr/>
          <p:nvPr/>
        </p:nvSpPr>
        <p:spPr>
          <a:xfrm>
            <a:off x="548640" y="4315968"/>
            <a:ext cx="4206240" cy="329184"/>
          </a:xfrm>
          <a:prstGeom prst="roundRect">
            <a:avLst>
              <a:gd name="adj" fmla="val 50000"/>
            </a:avLst>
          </a:prstGeom>
          <a:solidFill>
            <a:srgbClr val="121B33"/>
          </a:solidFill>
          <a:ln w="9525">
            <a:solidFill>
              <a:srgbClr val="22D3EE"/>
            </a:solidFill>
            <a:prstDash val="solid"/>
          </a:ln>
        </p:spPr>
      </p:sp>
      <p:sp>
        <p:nvSpPr>
          <p:cNvPr id="32" name="Text 29"/>
          <p:cNvSpPr txBox="1"/>
          <p:nvPr/>
        </p:nvSpPr>
        <p:spPr>
          <a:xfrm>
            <a:off x="713232" y="4315968"/>
            <a:ext cx="4023360" cy="329184"/>
          </a:xfrm>
          <a:prstGeom prst="rect">
            <a:avLst/>
          </a:prstGeom>
          <a:noFill/>
          <a:ln/>
        </p:spPr>
        <p:txBody>
          <a:bodyPr wrap="square" lIns="0" tIns="0" rIns="0" bIns="0"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LIVE  </a:t>
            </a:r>
            <a:pPr indent="0" marL="0">
              <a:buNone/>
            </a:pPr>
            <a:r>
              <a:rPr lang="en-US" sz="1100" dirty="0">
                <a:solidFill>
                  <a:srgbClr val="F1F5FB"/>
                </a:solidFill>
                <a:latin typeface="Segoe UI" pitchFamily="34" charset="0"/>
                <a:ea typeface="Segoe UI" pitchFamily="34" charset="-122"/>
                <a:cs typeface="Segoe UI" pitchFamily="34" charset="-120"/>
              </a:rPr>
              <a:t>Console: sign in, Control room</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548640" y="365760"/>
            <a:ext cx="6400800" cy="274320"/>
          </a:xfrm>
          <a:prstGeom prst="rect">
            <a:avLst/>
          </a:prstGeom>
          <a:noFill/>
          <a:ln/>
        </p:spPr>
        <p:txBody>
          <a:bodyPr wrap="square" lIns="0" tIns="0" rIns="0" bIns="0" rtlCol="0" anchor="ctr"/>
          <a:lstStyle/>
          <a:p>
            <a:pPr indent="0" marL="0">
              <a:buNone/>
            </a:pPr>
            <a:r>
              <a:rPr lang="en-US" sz="1100" spc="400" kern="0" dirty="0">
                <a:solidFill>
                  <a:srgbClr val="22D3EE"/>
                </a:solidFill>
                <a:latin typeface="Segoe UI Semibold" pitchFamily="34" charset="0"/>
                <a:ea typeface="Segoe UI Semibold" pitchFamily="34" charset="-122"/>
                <a:cs typeface="Segoe UI Semibold" pitchFamily="34" charset="-120"/>
              </a:rPr>
              <a:t>03 · NEMAL · ASSET SERVICE</a:t>
            </a:r>
            <a:endParaRPr lang="en-US" sz="1100" dirty="0"/>
          </a:p>
        </p:txBody>
      </p:sp>
      <p:sp>
        <p:nvSpPr>
          <p:cNvPr id="4"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dirty="0">
                <a:solidFill>
                  <a:srgbClr val="F1F5FB"/>
                </a:solidFill>
                <a:latin typeface="Segoe UI Semibold" pitchFamily="34" charset="0"/>
                <a:ea typeface="Segoe UI Semibold" pitchFamily="34" charset="-122"/>
                <a:cs typeface="Segoe UI Semibold" pitchFamily="34" charset="-120"/>
              </a:rPr>
              <a:t>The registry every service relies on</a:t>
            </a:r>
            <a:endParaRPr lang="en-US" sz="3000" dirty="0"/>
          </a:p>
        </p:txBody>
      </p:sp>
      <p:sp>
        <p:nvSpPr>
          <p:cNvPr id="5" name="Text 2"/>
          <p:cNvSpPr txBox="1"/>
          <p:nvPr/>
        </p:nvSpPr>
        <p:spPr>
          <a:xfrm>
            <a:off x="548640" y="4754880"/>
            <a:ext cx="5486400" cy="228600"/>
          </a:xfrm>
          <a:prstGeom prst="rect">
            <a:avLst/>
          </a:prstGeom>
          <a:noFill/>
          <a:ln/>
        </p:spPr>
        <p:txBody>
          <a:bodyPr wrap="square" lIns="0" tIns="0" rIns="0" bIns="0" rtlCol="0" anchor="ctr"/>
          <a:lstStyle/>
          <a:p>
            <a:pPr indent="0" marL="0">
              <a:buNone/>
            </a:pPr>
            <a:r>
              <a:rPr lang="en-US" sz="900" dirty="0">
                <a:solidFill>
                  <a:srgbClr val="8C9BB8"/>
                </a:solidFill>
                <a:latin typeface="Segoe UI" pitchFamily="34" charset="0"/>
                <a:ea typeface="Segoe UI" pitchFamily="34" charset="-122"/>
                <a:cs typeface="Segoe UI" pitchFamily="34" charset="-120"/>
              </a:rPr>
              <a:t>EC8208 Software Architecture  ·  University of Ruhuna</a:t>
            </a:r>
            <a:endParaRPr lang="en-US" sz="900" dirty="0"/>
          </a:p>
        </p:txBody>
      </p:sp>
      <p:sp>
        <p:nvSpPr>
          <p:cNvPr id="6" name="Text 3"/>
          <p:cNvSpPr txBox="1"/>
          <p:nvPr/>
        </p:nvSpPr>
        <p:spPr>
          <a:xfrm>
            <a:off x="6766560" y="4754880"/>
            <a:ext cx="1828800" cy="228600"/>
          </a:xfrm>
          <a:prstGeom prst="rect">
            <a:avLst/>
          </a:prstGeom>
          <a:noFill/>
          <a:ln/>
        </p:spPr>
        <p:txBody>
          <a:bodyPr wrap="square" lIns="0" tIns="0" rIns="0" bIns="0" rtlCol="0" anchor="ctr"/>
          <a:lstStyle/>
          <a:p>
            <a:pPr algn="r" indent="0" marL="0">
              <a:buNone/>
            </a:pPr>
            <a:r>
              <a:rPr lang="en-US" sz="900" dirty="0">
                <a:solidFill>
                  <a:srgbClr val="8C9BB8"/>
                </a:solidFill>
                <a:latin typeface="Segoe UI" pitchFamily="34" charset="0"/>
                <a:ea typeface="Segoe UI" pitchFamily="34" charset="-122"/>
                <a:cs typeface="Segoe UI" pitchFamily="34" charset="-120"/>
              </a:rPr>
              <a:t>03  ·  0:45–1:15</a:t>
            </a:r>
            <a:endParaRPr lang="en-US" sz="900" dirty="0"/>
          </a:p>
        </p:txBody>
      </p:sp>
      <p:sp>
        <p:nvSpPr>
          <p:cNvPr id="7" name="Shape 4"/>
          <p:cNvSpPr/>
          <p:nvPr/>
        </p:nvSpPr>
        <p:spPr>
          <a:xfrm>
            <a:off x="548640" y="1600200"/>
            <a:ext cx="2499360" cy="914400"/>
          </a:xfrm>
          <a:prstGeom prst="roundRect">
            <a:avLst>
              <a:gd name="adj" fmla="val 8000"/>
            </a:avLst>
          </a:prstGeom>
          <a:solidFill>
            <a:srgbClr val="22D3EE"/>
          </a:solidFill>
          <a:ln w="9525">
            <a:solidFill>
              <a:srgbClr val="22D3EE"/>
            </a:solidFill>
            <a:prstDash val="solid"/>
          </a:ln>
        </p:spPr>
      </p:sp>
      <p:sp>
        <p:nvSpPr>
          <p:cNvPr id="8" name="Text 5"/>
          <p:cNvSpPr txBox="1"/>
          <p:nvPr/>
        </p:nvSpPr>
        <p:spPr>
          <a:xfrm>
            <a:off x="548640" y="1664208"/>
            <a:ext cx="2499360" cy="457200"/>
          </a:xfrm>
          <a:prstGeom prst="rect">
            <a:avLst/>
          </a:prstGeom>
          <a:noFill/>
          <a:ln/>
        </p:spPr>
        <p:txBody>
          <a:bodyPr wrap="square" lIns="0" tIns="0" rIns="0" bIns="0" rtlCol="0" anchor="ctr"/>
          <a:lstStyle/>
          <a:p>
            <a:pPr algn="ctr" indent="0" marL="0">
              <a:buNone/>
            </a:pPr>
            <a:r>
              <a:rPr lang="en-US" sz="1500" dirty="0">
                <a:solidFill>
                  <a:srgbClr val="0A1020"/>
                </a:solidFill>
                <a:latin typeface="Segoe UI Semibold" pitchFamily="34" charset="0"/>
                <a:ea typeface="Segoe UI Semibold" pitchFamily="34" charset="-122"/>
                <a:cs typeface="Segoe UI Semibold" pitchFamily="34" charset="-120"/>
              </a:rPr>
              <a:t>Facility</a:t>
            </a:r>
            <a:endParaRPr lang="en-US" sz="1500" dirty="0"/>
          </a:p>
        </p:txBody>
      </p:sp>
      <p:sp>
        <p:nvSpPr>
          <p:cNvPr id="9" name="Text 6"/>
          <p:cNvSpPr txBox="1"/>
          <p:nvPr/>
        </p:nvSpPr>
        <p:spPr>
          <a:xfrm>
            <a:off x="548640" y="2084832"/>
            <a:ext cx="2499360" cy="320040"/>
          </a:xfrm>
          <a:prstGeom prst="rect">
            <a:avLst/>
          </a:prstGeom>
          <a:noFill/>
          <a:ln/>
        </p:spPr>
        <p:txBody>
          <a:bodyPr wrap="square" lIns="0" tIns="0" rIns="0" bIns="0" rtlCol="0" anchor="ctr"/>
          <a:lstStyle/>
          <a:p>
            <a:pPr algn="ctr" indent="0" marL="0">
              <a:buNone/>
            </a:pPr>
            <a:r>
              <a:rPr lang="en-US" sz="1100" dirty="0">
                <a:solidFill>
                  <a:srgbClr val="0A1020"/>
                </a:solidFill>
                <a:latin typeface="Segoe UI" pitchFamily="34" charset="0"/>
                <a:ea typeface="Segoe UI" pitchFamily="34" charset="-122"/>
                <a:cs typeface="Segoe UI" pitchFamily="34" charset="-120"/>
              </a:rPr>
              <a:t>5 types</a:t>
            </a:r>
            <a:endParaRPr lang="en-US" sz="1100" dirty="0"/>
          </a:p>
        </p:txBody>
      </p:sp>
      <p:sp>
        <p:nvSpPr>
          <p:cNvPr id="10" name="Text 7"/>
          <p:cNvSpPr txBox="1"/>
          <p:nvPr/>
        </p:nvSpPr>
        <p:spPr>
          <a:xfrm>
            <a:off x="304800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1" name="Shape 8"/>
          <p:cNvSpPr/>
          <p:nvPr/>
        </p:nvSpPr>
        <p:spPr>
          <a:xfrm>
            <a:off x="3322320" y="1600200"/>
            <a:ext cx="2499360" cy="914400"/>
          </a:xfrm>
          <a:prstGeom prst="roundRect">
            <a:avLst>
              <a:gd name="adj" fmla="val 8000"/>
            </a:avLst>
          </a:prstGeom>
          <a:solidFill>
            <a:srgbClr val="121B33"/>
          </a:solidFill>
          <a:ln w="9525">
            <a:solidFill>
              <a:srgbClr val="24314F"/>
            </a:solidFill>
            <a:prstDash val="solid"/>
          </a:ln>
        </p:spPr>
      </p:sp>
      <p:sp>
        <p:nvSpPr>
          <p:cNvPr id="12" name="Text 9"/>
          <p:cNvSpPr txBox="1"/>
          <p:nvPr/>
        </p:nvSpPr>
        <p:spPr>
          <a:xfrm>
            <a:off x="3322320" y="1664208"/>
            <a:ext cx="249936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Asset</a:t>
            </a:r>
            <a:endParaRPr lang="en-US" sz="1500" dirty="0"/>
          </a:p>
        </p:txBody>
      </p:sp>
      <p:sp>
        <p:nvSpPr>
          <p:cNvPr id="13" name="Text 10"/>
          <p:cNvSpPr txBox="1"/>
          <p:nvPr/>
        </p:nvSpPr>
        <p:spPr>
          <a:xfrm>
            <a:off x="3322320" y="2084832"/>
            <a:ext cx="249936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7 types</a:t>
            </a:r>
            <a:endParaRPr lang="en-US" sz="1100" dirty="0"/>
          </a:p>
        </p:txBody>
      </p:sp>
      <p:sp>
        <p:nvSpPr>
          <p:cNvPr id="14" name="Text 11"/>
          <p:cNvSpPr txBox="1"/>
          <p:nvPr/>
        </p:nvSpPr>
        <p:spPr>
          <a:xfrm>
            <a:off x="582168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5" name="Shape 12"/>
          <p:cNvSpPr/>
          <p:nvPr/>
        </p:nvSpPr>
        <p:spPr>
          <a:xfrm>
            <a:off x="6096000" y="1600200"/>
            <a:ext cx="2499360" cy="914400"/>
          </a:xfrm>
          <a:prstGeom prst="roundRect">
            <a:avLst>
              <a:gd name="adj" fmla="val 8000"/>
            </a:avLst>
          </a:prstGeom>
          <a:solidFill>
            <a:srgbClr val="121B33"/>
          </a:solidFill>
          <a:ln w="9525">
            <a:solidFill>
              <a:srgbClr val="24314F"/>
            </a:solidFill>
            <a:prstDash val="solid"/>
          </a:ln>
        </p:spPr>
      </p:sp>
      <p:sp>
        <p:nvSpPr>
          <p:cNvPr id="16" name="Text 13"/>
          <p:cNvSpPr txBox="1"/>
          <p:nvPr/>
        </p:nvSpPr>
        <p:spPr>
          <a:xfrm>
            <a:off x="6096000" y="1664208"/>
            <a:ext cx="249936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Sensor</a:t>
            </a:r>
            <a:endParaRPr lang="en-US" sz="1500" dirty="0"/>
          </a:p>
        </p:txBody>
      </p:sp>
      <p:sp>
        <p:nvSpPr>
          <p:cNvPr id="17" name="Text 14"/>
          <p:cNvSpPr txBox="1"/>
          <p:nvPr/>
        </p:nvSpPr>
        <p:spPr>
          <a:xfrm>
            <a:off x="6096000" y="2084832"/>
            <a:ext cx="249936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9 metrics</a:t>
            </a:r>
            <a:endParaRPr lang="en-US" sz="1100" dirty="0"/>
          </a:p>
        </p:txBody>
      </p:sp>
      <p:sp>
        <p:nvSpPr>
          <p:cNvPr id="18" name="Shape 15"/>
          <p:cNvSpPr/>
          <p:nvPr/>
        </p:nvSpPr>
        <p:spPr>
          <a:xfrm>
            <a:off x="548640" y="2926080"/>
            <a:ext cx="2499360" cy="0"/>
          </a:xfrm>
          <a:prstGeom prst="line">
            <a:avLst/>
          </a:prstGeom>
          <a:noFill/>
          <a:ln w="12700">
            <a:solidFill>
              <a:srgbClr val="24314F"/>
            </a:solidFill>
            <a:prstDash val="solid"/>
          </a:ln>
        </p:spPr>
      </p:sp>
      <p:sp>
        <p:nvSpPr>
          <p:cNvPr id="19" name="Text 16"/>
          <p:cNvSpPr txBox="1"/>
          <p:nvPr/>
        </p:nvSpPr>
        <p:spPr>
          <a:xfrm>
            <a:off x="548640" y="3017520"/>
            <a:ext cx="2499360" cy="640080"/>
          </a:xfrm>
          <a:prstGeom prst="rect">
            <a:avLst/>
          </a:prstGeom>
          <a:noFill/>
          <a:ln/>
        </p:spPr>
        <p:txBody>
          <a:bodyPr wrap="square" lIns="0" tIns="0" rIns="0" bIns="0" rtlCol="0" anchor="ctr"/>
          <a:lstStyle/>
          <a:p>
            <a:pPr indent="0" marL="0">
              <a:buNone/>
            </a:pPr>
            <a:r>
              <a:rPr lang="en-US" sz="2400" dirty="0">
                <a:solidFill>
                  <a:srgbClr val="22D3EE"/>
                </a:solidFill>
                <a:latin typeface="Segoe UI Semibold" pitchFamily="34" charset="0"/>
                <a:ea typeface="Segoe UI Semibold" pitchFamily="34" charset="-122"/>
                <a:cs typeface="Segoe UI Semibold" pitchFamily="34" charset="-120"/>
              </a:rPr>
              <a:t>5 · 11 · 32</a:t>
            </a:r>
            <a:endParaRPr lang="en-US" sz="2400" dirty="0"/>
          </a:p>
        </p:txBody>
      </p:sp>
      <p:sp>
        <p:nvSpPr>
          <p:cNvPr id="20" name="Text 17"/>
          <p:cNvSpPr txBox="1"/>
          <p:nvPr/>
        </p:nvSpPr>
        <p:spPr>
          <a:xfrm>
            <a:off x="54864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facilities · assets · sensors</a:t>
            </a:r>
            <a:endParaRPr lang="en-US" sz="1200" dirty="0"/>
          </a:p>
        </p:txBody>
      </p:sp>
      <p:sp>
        <p:nvSpPr>
          <p:cNvPr id="21" name="Shape 18"/>
          <p:cNvSpPr/>
          <p:nvPr/>
        </p:nvSpPr>
        <p:spPr>
          <a:xfrm>
            <a:off x="3322320" y="2926080"/>
            <a:ext cx="2499360" cy="0"/>
          </a:xfrm>
          <a:prstGeom prst="line">
            <a:avLst/>
          </a:prstGeom>
          <a:noFill/>
          <a:ln w="12700">
            <a:solidFill>
              <a:srgbClr val="24314F"/>
            </a:solidFill>
            <a:prstDash val="solid"/>
          </a:ln>
        </p:spPr>
      </p:sp>
      <p:sp>
        <p:nvSpPr>
          <p:cNvPr id="22" name="Text 19"/>
          <p:cNvSpPr txBox="1"/>
          <p:nvPr/>
        </p:nvSpPr>
        <p:spPr>
          <a:xfrm>
            <a:off x="3322320" y="3017520"/>
            <a:ext cx="2499360" cy="640080"/>
          </a:xfrm>
          <a:prstGeom prst="rect">
            <a:avLst/>
          </a:prstGeom>
          <a:noFill/>
          <a:ln/>
        </p:spPr>
        <p:txBody>
          <a:bodyPr wrap="square" lIns="0" tIns="0" rIns="0" bIns="0" rtlCol="0" anchor="ctr"/>
          <a:lstStyle/>
          <a:p>
            <a:pPr indent="0" marL="0">
              <a:buNone/>
            </a:pPr>
            <a:r>
              <a:rPr lang="en-US" sz="2400" dirty="0">
                <a:solidFill>
                  <a:srgbClr val="22D3EE"/>
                </a:solidFill>
                <a:latin typeface="Segoe UI Semibold" pitchFamily="34" charset="0"/>
                <a:ea typeface="Segoe UI Semibold" pitchFamily="34" charset="-122"/>
                <a:cs typeface="Segoe UI Semibold" pitchFamily="34" charset="-120"/>
              </a:rPr>
              <a:t>Server-side</a:t>
            </a:r>
            <a:endParaRPr lang="en-US" sz="2400" dirty="0"/>
          </a:p>
        </p:txBody>
      </p:sp>
      <p:sp>
        <p:nvSpPr>
          <p:cNvPr id="23" name="Text 20"/>
          <p:cNvSpPr txBox="1"/>
          <p:nvPr/>
        </p:nvSpPr>
        <p:spPr>
          <a:xfrm>
            <a:off x="332232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search and paging</a:t>
            </a:r>
            <a:endParaRPr lang="en-US" sz="1200" dirty="0"/>
          </a:p>
        </p:txBody>
      </p:sp>
      <p:sp>
        <p:nvSpPr>
          <p:cNvPr id="24" name="Shape 21"/>
          <p:cNvSpPr/>
          <p:nvPr/>
        </p:nvSpPr>
        <p:spPr>
          <a:xfrm>
            <a:off x="6096000" y="2926080"/>
            <a:ext cx="2499360" cy="0"/>
          </a:xfrm>
          <a:prstGeom prst="line">
            <a:avLst/>
          </a:prstGeom>
          <a:noFill/>
          <a:ln w="12700">
            <a:solidFill>
              <a:srgbClr val="24314F"/>
            </a:solidFill>
            <a:prstDash val="solid"/>
          </a:ln>
        </p:spPr>
      </p:sp>
      <p:sp>
        <p:nvSpPr>
          <p:cNvPr id="25" name="Text 22"/>
          <p:cNvSpPr txBox="1"/>
          <p:nvPr/>
        </p:nvSpPr>
        <p:spPr>
          <a:xfrm>
            <a:off x="6096000" y="3017520"/>
            <a:ext cx="2499360" cy="640080"/>
          </a:xfrm>
          <a:prstGeom prst="rect">
            <a:avLst/>
          </a:prstGeom>
          <a:noFill/>
          <a:ln/>
        </p:spPr>
        <p:txBody>
          <a:bodyPr wrap="square" lIns="0" tIns="0" rIns="0" bIns="0" rtlCol="0" anchor="ctr"/>
          <a:lstStyle/>
          <a:p>
            <a:pPr indent="0" marL="0">
              <a:buNone/>
            </a:pPr>
            <a:r>
              <a:rPr lang="en-US" sz="2400" dirty="0">
                <a:solidFill>
                  <a:srgbClr val="22D3EE"/>
                </a:solidFill>
                <a:latin typeface="Segoe UI Semibold" pitchFamily="34" charset="0"/>
                <a:ea typeface="Segoe UI Semibold" pitchFamily="34" charset="-122"/>
                <a:cs typeface="Segoe UI Semibold" pitchFamily="34" charset="-120"/>
              </a:rPr>
              <a:t>Validated</a:t>
            </a:r>
            <a:endParaRPr lang="en-US" sz="2400" dirty="0"/>
          </a:p>
        </p:txBody>
      </p:sp>
      <p:sp>
        <p:nvSpPr>
          <p:cNvPr id="26" name="Text 23"/>
          <p:cNvSpPr txBox="1"/>
          <p:nvPr/>
        </p:nvSpPr>
        <p:spPr>
          <a:xfrm>
            <a:off x="609600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every form</a:t>
            </a:r>
            <a:endParaRPr lang="en-US" sz="1200" dirty="0"/>
          </a:p>
        </p:txBody>
      </p:sp>
      <p:sp>
        <p:nvSpPr>
          <p:cNvPr id="27" name="Shape 24"/>
          <p:cNvSpPr/>
          <p:nvPr/>
        </p:nvSpPr>
        <p:spPr>
          <a:xfrm>
            <a:off x="548640" y="4315968"/>
            <a:ext cx="4206240" cy="329184"/>
          </a:xfrm>
          <a:prstGeom prst="roundRect">
            <a:avLst>
              <a:gd name="adj" fmla="val 50000"/>
            </a:avLst>
          </a:prstGeom>
          <a:solidFill>
            <a:srgbClr val="121B33"/>
          </a:solidFill>
          <a:ln w="9525">
            <a:solidFill>
              <a:srgbClr val="22D3EE"/>
            </a:solidFill>
            <a:prstDash val="solid"/>
          </a:ln>
        </p:spPr>
      </p:sp>
      <p:sp>
        <p:nvSpPr>
          <p:cNvPr id="28" name="Text 25"/>
          <p:cNvSpPr txBox="1"/>
          <p:nvPr/>
        </p:nvSpPr>
        <p:spPr>
          <a:xfrm>
            <a:off x="713232" y="4315968"/>
            <a:ext cx="4023360" cy="329184"/>
          </a:xfrm>
          <a:prstGeom prst="rect">
            <a:avLst/>
          </a:prstGeom>
          <a:noFill/>
          <a:ln/>
        </p:spPr>
        <p:txBody>
          <a:bodyPr wrap="square" lIns="0" tIns="0" rIns="0" bIns="0"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LIVE  </a:t>
            </a:r>
            <a:pPr indent="0" marL="0">
              <a:buNone/>
            </a:pPr>
            <a:r>
              <a:rPr lang="en-US" sz="1100" dirty="0">
                <a:solidFill>
                  <a:srgbClr val="F1F5FB"/>
                </a:solidFill>
                <a:latin typeface="Segoe UI" pitchFamily="34" charset="0"/>
                <a:ea typeface="Segoe UI" pitchFamily="34" charset="-122"/>
                <a:cs typeface="Segoe UI" pitchFamily="34" charset="-120"/>
              </a:rPr>
              <a:t>Assets page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548640" y="365760"/>
            <a:ext cx="6400800" cy="274320"/>
          </a:xfrm>
          <a:prstGeom prst="rect">
            <a:avLst/>
          </a:prstGeom>
          <a:noFill/>
          <a:ln/>
        </p:spPr>
        <p:txBody>
          <a:bodyPr wrap="square" lIns="0" tIns="0" rIns="0" bIns="0" rtlCol="0" anchor="ctr"/>
          <a:lstStyle/>
          <a:p>
            <a:pPr indent="0" marL="0">
              <a:buNone/>
            </a:pPr>
            <a:r>
              <a:rPr lang="en-US" sz="1100" spc="400" kern="0" dirty="0">
                <a:solidFill>
                  <a:srgbClr val="22D3EE"/>
                </a:solidFill>
                <a:latin typeface="Segoe UI Semibold" pitchFamily="34" charset="0"/>
                <a:ea typeface="Segoe UI Semibold" pitchFamily="34" charset="-122"/>
                <a:cs typeface="Segoe UI Semibold" pitchFamily="34" charset="-120"/>
              </a:rPr>
              <a:t>04 · GOVINDU · MONITORING SERVICE</a:t>
            </a:r>
            <a:endParaRPr lang="en-US" sz="1100" dirty="0"/>
          </a:p>
        </p:txBody>
      </p:sp>
      <p:sp>
        <p:nvSpPr>
          <p:cNvPr id="4"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dirty="0">
                <a:solidFill>
                  <a:srgbClr val="F1F5FB"/>
                </a:solidFill>
                <a:latin typeface="Segoe UI Semibold" pitchFamily="34" charset="0"/>
                <a:ea typeface="Segoe UI Semibold" pitchFamily="34" charset="-122"/>
                <a:cs typeface="Segoe UI Semibold" pitchFamily="34" charset="-120"/>
              </a:rPr>
              <a:t>From a sensor reading to an instant alert</a:t>
            </a:r>
            <a:endParaRPr lang="en-US" sz="3000" dirty="0"/>
          </a:p>
        </p:txBody>
      </p:sp>
      <p:sp>
        <p:nvSpPr>
          <p:cNvPr id="5" name="Text 2"/>
          <p:cNvSpPr txBox="1"/>
          <p:nvPr/>
        </p:nvSpPr>
        <p:spPr>
          <a:xfrm>
            <a:off x="548640" y="4754880"/>
            <a:ext cx="5486400" cy="228600"/>
          </a:xfrm>
          <a:prstGeom prst="rect">
            <a:avLst/>
          </a:prstGeom>
          <a:noFill/>
          <a:ln/>
        </p:spPr>
        <p:txBody>
          <a:bodyPr wrap="square" lIns="0" tIns="0" rIns="0" bIns="0" rtlCol="0" anchor="ctr"/>
          <a:lstStyle/>
          <a:p>
            <a:pPr indent="0" marL="0">
              <a:buNone/>
            </a:pPr>
            <a:r>
              <a:rPr lang="en-US" sz="900" dirty="0">
                <a:solidFill>
                  <a:srgbClr val="8C9BB8"/>
                </a:solidFill>
                <a:latin typeface="Segoe UI" pitchFamily="34" charset="0"/>
                <a:ea typeface="Segoe UI" pitchFamily="34" charset="-122"/>
                <a:cs typeface="Segoe UI" pitchFamily="34" charset="-120"/>
              </a:rPr>
              <a:t>EC8208 Software Architecture  ·  University of Ruhuna</a:t>
            </a:r>
            <a:endParaRPr lang="en-US" sz="900" dirty="0"/>
          </a:p>
        </p:txBody>
      </p:sp>
      <p:sp>
        <p:nvSpPr>
          <p:cNvPr id="6" name="Text 3"/>
          <p:cNvSpPr txBox="1"/>
          <p:nvPr/>
        </p:nvSpPr>
        <p:spPr>
          <a:xfrm>
            <a:off x="6766560" y="4754880"/>
            <a:ext cx="1828800" cy="228600"/>
          </a:xfrm>
          <a:prstGeom prst="rect">
            <a:avLst/>
          </a:prstGeom>
          <a:noFill/>
          <a:ln/>
        </p:spPr>
        <p:txBody>
          <a:bodyPr wrap="square" lIns="0" tIns="0" rIns="0" bIns="0" rtlCol="0" anchor="ctr"/>
          <a:lstStyle/>
          <a:p>
            <a:pPr algn="r" indent="0" marL="0">
              <a:buNone/>
            </a:pPr>
            <a:r>
              <a:rPr lang="en-US" sz="900" dirty="0">
                <a:solidFill>
                  <a:srgbClr val="8C9BB8"/>
                </a:solidFill>
                <a:latin typeface="Segoe UI" pitchFamily="34" charset="0"/>
                <a:ea typeface="Segoe UI" pitchFamily="34" charset="-122"/>
                <a:cs typeface="Segoe UI" pitchFamily="34" charset="-120"/>
              </a:rPr>
              <a:t>04  ·  1:15–2:00</a:t>
            </a:r>
            <a:endParaRPr lang="en-US" sz="900" dirty="0"/>
          </a:p>
        </p:txBody>
      </p:sp>
      <p:sp>
        <p:nvSpPr>
          <p:cNvPr id="7" name="Shape 4"/>
          <p:cNvSpPr/>
          <p:nvPr/>
        </p:nvSpPr>
        <p:spPr>
          <a:xfrm>
            <a:off x="548640" y="1600200"/>
            <a:ext cx="1805940" cy="914400"/>
          </a:xfrm>
          <a:prstGeom prst="roundRect">
            <a:avLst>
              <a:gd name="adj" fmla="val 8000"/>
            </a:avLst>
          </a:prstGeom>
          <a:solidFill>
            <a:srgbClr val="22D3EE"/>
          </a:solidFill>
          <a:ln w="9525">
            <a:solidFill>
              <a:srgbClr val="22D3EE"/>
            </a:solidFill>
            <a:prstDash val="solid"/>
          </a:ln>
        </p:spPr>
      </p:sp>
      <p:sp>
        <p:nvSpPr>
          <p:cNvPr id="8" name="Text 5"/>
          <p:cNvSpPr txBox="1"/>
          <p:nvPr/>
        </p:nvSpPr>
        <p:spPr>
          <a:xfrm>
            <a:off x="548640" y="1664208"/>
            <a:ext cx="1805940" cy="457200"/>
          </a:xfrm>
          <a:prstGeom prst="rect">
            <a:avLst/>
          </a:prstGeom>
          <a:noFill/>
          <a:ln/>
        </p:spPr>
        <p:txBody>
          <a:bodyPr wrap="square" lIns="0" tIns="0" rIns="0" bIns="0" rtlCol="0" anchor="ctr"/>
          <a:lstStyle/>
          <a:p>
            <a:pPr algn="ctr" indent="0" marL="0">
              <a:buNone/>
            </a:pPr>
            <a:r>
              <a:rPr lang="en-US" sz="1500" dirty="0">
                <a:solidFill>
                  <a:srgbClr val="0A1020"/>
                </a:solidFill>
                <a:latin typeface="Segoe UI Semibold" pitchFamily="34" charset="0"/>
                <a:ea typeface="Segoe UI Semibold" pitchFamily="34" charset="-122"/>
                <a:cs typeface="Segoe UI Semibold" pitchFamily="34" charset="-120"/>
              </a:rPr>
              <a:t>Reading</a:t>
            </a:r>
            <a:endParaRPr lang="en-US" sz="1500" dirty="0"/>
          </a:p>
        </p:txBody>
      </p:sp>
      <p:sp>
        <p:nvSpPr>
          <p:cNvPr id="9" name="Text 6"/>
          <p:cNvSpPr txBox="1"/>
          <p:nvPr/>
        </p:nvSpPr>
        <p:spPr>
          <a:xfrm>
            <a:off x="548640" y="2084832"/>
            <a:ext cx="1805940" cy="320040"/>
          </a:xfrm>
          <a:prstGeom prst="rect">
            <a:avLst/>
          </a:prstGeom>
          <a:noFill/>
          <a:ln/>
        </p:spPr>
        <p:txBody>
          <a:bodyPr wrap="square" lIns="0" tIns="0" rIns="0" bIns="0" rtlCol="0" anchor="ctr"/>
          <a:lstStyle/>
          <a:p>
            <a:pPr algn="ctr" indent="0" marL="0">
              <a:buNone/>
            </a:pPr>
            <a:r>
              <a:rPr lang="en-US" sz="1100" dirty="0">
                <a:solidFill>
                  <a:srgbClr val="0A1020"/>
                </a:solidFill>
                <a:latin typeface="Segoe UI" pitchFamily="34" charset="0"/>
                <a:ea typeface="Segoe UI" pitchFamily="34" charset="-122"/>
                <a:cs typeface="Segoe UI" pitchFamily="34" charset="-120"/>
              </a:rPr>
              <a:t>every few seconds</a:t>
            </a:r>
            <a:endParaRPr lang="en-US" sz="1100" dirty="0"/>
          </a:p>
        </p:txBody>
      </p:sp>
      <p:sp>
        <p:nvSpPr>
          <p:cNvPr id="10" name="Text 7"/>
          <p:cNvSpPr txBox="1"/>
          <p:nvPr/>
        </p:nvSpPr>
        <p:spPr>
          <a:xfrm>
            <a:off x="235458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1" name="Shape 8"/>
          <p:cNvSpPr/>
          <p:nvPr/>
        </p:nvSpPr>
        <p:spPr>
          <a:xfrm>
            <a:off x="2628900" y="1600200"/>
            <a:ext cx="1805940" cy="914400"/>
          </a:xfrm>
          <a:prstGeom prst="roundRect">
            <a:avLst>
              <a:gd name="adj" fmla="val 8000"/>
            </a:avLst>
          </a:prstGeom>
          <a:solidFill>
            <a:srgbClr val="121B33"/>
          </a:solidFill>
          <a:ln w="9525">
            <a:solidFill>
              <a:srgbClr val="24314F"/>
            </a:solidFill>
            <a:prstDash val="solid"/>
          </a:ln>
        </p:spPr>
      </p:sp>
      <p:sp>
        <p:nvSpPr>
          <p:cNvPr id="12" name="Text 9"/>
          <p:cNvSpPr txBox="1"/>
          <p:nvPr/>
        </p:nvSpPr>
        <p:spPr>
          <a:xfrm>
            <a:off x="262890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Rule check</a:t>
            </a:r>
            <a:endParaRPr lang="en-US" sz="1500" dirty="0"/>
          </a:p>
        </p:txBody>
      </p:sp>
      <p:sp>
        <p:nvSpPr>
          <p:cNvPr id="13" name="Text 10"/>
          <p:cNvSpPr txBox="1"/>
          <p:nvPr/>
        </p:nvSpPr>
        <p:spPr>
          <a:xfrm>
            <a:off x="262890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threshold</a:t>
            </a:r>
            <a:endParaRPr lang="en-US" sz="1100" dirty="0"/>
          </a:p>
        </p:txBody>
      </p:sp>
      <p:sp>
        <p:nvSpPr>
          <p:cNvPr id="14" name="Text 11"/>
          <p:cNvSpPr txBox="1"/>
          <p:nvPr/>
        </p:nvSpPr>
        <p:spPr>
          <a:xfrm>
            <a:off x="443484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5" name="Shape 12"/>
          <p:cNvSpPr/>
          <p:nvPr/>
        </p:nvSpPr>
        <p:spPr>
          <a:xfrm>
            <a:off x="4709160" y="1600200"/>
            <a:ext cx="1805940" cy="914400"/>
          </a:xfrm>
          <a:prstGeom prst="roundRect">
            <a:avLst>
              <a:gd name="adj" fmla="val 8000"/>
            </a:avLst>
          </a:prstGeom>
          <a:solidFill>
            <a:srgbClr val="121B33"/>
          </a:solidFill>
          <a:ln w="9525">
            <a:solidFill>
              <a:srgbClr val="24314F"/>
            </a:solidFill>
            <a:prstDash val="solid"/>
          </a:ln>
        </p:spPr>
      </p:sp>
      <p:sp>
        <p:nvSpPr>
          <p:cNvPr id="16" name="Text 13"/>
          <p:cNvSpPr txBox="1"/>
          <p:nvPr/>
        </p:nvSpPr>
        <p:spPr>
          <a:xfrm>
            <a:off x="470916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Alert</a:t>
            </a:r>
            <a:endParaRPr lang="en-US" sz="1500" dirty="0"/>
          </a:p>
        </p:txBody>
      </p:sp>
      <p:sp>
        <p:nvSpPr>
          <p:cNvPr id="17" name="Text 14"/>
          <p:cNvSpPr txBox="1"/>
          <p:nvPr/>
        </p:nvSpPr>
        <p:spPr>
          <a:xfrm>
            <a:off x="470916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one per asset</a:t>
            </a:r>
            <a:endParaRPr lang="en-US" sz="1100" dirty="0"/>
          </a:p>
        </p:txBody>
      </p:sp>
      <p:sp>
        <p:nvSpPr>
          <p:cNvPr id="18" name="Text 15"/>
          <p:cNvSpPr txBox="1"/>
          <p:nvPr/>
        </p:nvSpPr>
        <p:spPr>
          <a:xfrm>
            <a:off x="651510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9" name="Shape 16"/>
          <p:cNvSpPr/>
          <p:nvPr/>
        </p:nvSpPr>
        <p:spPr>
          <a:xfrm>
            <a:off x="6789420" y="1600200"/>
            <a:ext cx="1805940" cy="914400"/>
          </a:xfrm>
          <a:prstGeom prst="roundRect">
            <a:avLst>
              <a:gd name="adj" fmla="val 8000"/>
            </a:avLst>
          </a:prstGeom>
          <a:solidFill>
            <a:srgbClr val="121B33"/>
          </a:solidFill>
          <a:ln w="9525">
            <a:solidFill>
              <a:srgbClr val="24314F"/>
            </a:solidFill>
            <a:prstDash val="solid"/>
          </a:ln>
        </p:spPr>
      </p:sp>
      <p:sp>
        <p:nvSpPr>
          <p:cNvPr id="20" name="Text 17"/>
          <p:cNvSpPr txBox="1"/>
          <p:nvPr/>
        </p:nvSpPr>
        <p:spPr>
          <a:xfrm>
            <a:off x="678942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RabbitMQ</a:t>
            </a:r>
            <a:endParaRPr lang="en-US" sz="1500" dirty="0"/>
          </a:p>
        </p:txBody>
      </p:sp>
      <p:sp>
        <p:nvSpPr>
          <p:cNvPr id="21" name="Text 18"/>
          <p:cNvSpPr txBox="1"/>
          <p:nvPr/>
        </p:nvSpPr>
        <p:spPr>
          <a:xfrm>
            <a:off x="678942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event</a:t>
            </a:r>
            <a:endParaRPr lang="en-US" sz="1100" dirty="0"/>
          </a:p>
        </p:txBody>
      </p:sp>
      <p:sp>
        <p:nvSpPr>
          <p:cNvPr id="22" name="Shape 19"/>
          <p:cNvSpPr/>
          <p:nvPr/>
        </p:nvSpPr>
        <p:spPr>
          <a:xfrm>
            <a:off x="548640" y="2926080"/>
            <a:ext cx="2499360" cy="0"/>
          </a:xfrm>
          <a:prstGeom prst="line">
            <a:avLst/>
          </a:prstGeom>
          <a:noFill/>
          <a:ln w="12700">
            <a:solidFill>
              <a:srgbClr val="24314F"/>
            </a:solidFill>
            <a:prstDash val="solid"/>
          </a:ln>
        </p:spPr>
      </p:sp>
      <p:sp>
        <p:nvSpPr>
          <p:cNvPr id="23" name="Text 20"/>
          <p:cNvSpPr txBox="1"/>
          <p:nvPr/>
        </p:nvSpPr>
        <p:spPr>
          <a:xfrm>
            <a:off x="54864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16,000+</a:t>
            </a:r>
            <a:endParaRPr lang="en-US" sz="3200" dirty="0"/>
          </a:p>
        </p:txBody>
      </p:sp>
      <p:sp>
        <p:nvSpPr>
          <p:cNvPr id="24" name="Text 21"/>
          <p:cNvSpPr txBox="1"/>
          <p:nvPr/>
        </p:nvSpPr>
        <p:spPr>
          <a:xfrm>
            <a:off x="54864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readings stored</a:t>
            </a:r>
            <a:endParaRPr lang="en-US" sz="1200" dirty="0"/>
          </a:p>
        </p:txBody>
      </p:sp>
      <p:sp>
        <p:nvSpPr>
          <p:cNvPr id="25" name="Shape 22"/>
          <p:cNvSpPr/>
          <p:nvPr/>
        </p:nvSpPr>
        <p:spPr>
          <a:xfrm>
            <a:off x="3322320" y="2926080"/>
            <a:ext cx="2499360" cy="0"/>
          </a:xfrm>
          <a:prstGeom prst="line">
            <a:avLst/>
          </a:prstGeom>
          <a:noFill/>
          <a:ln w="12700">
            <a:solidFill>
              <a:srgbClr val="24314F"/>
            </a:solidFill>
            <a:prstDash val="solid"/>
          </a:ln>
        </p:spPr>
      </p:sp>
      <p:sp>
        <p:nvSpPr>
          <p:cNvPr id="26" name="Text 23"/>
          <p:cNvSpPr txBox="1"/>
          <p:nvPr/>
        </p:nvSpPr>
        <p:spPr>
          <a:xfrm>
            <a:off x="332232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7</a:t>
            </a:r>
            <a:endParaRPr lang="en-US" sz="3200" dirty="0"/>
          </a:p>
        </p:txBody>
      </p:sp>
      <p:sp>
        <p:nvSpPr>
          <p:cNvPr id="27" name="Text 24"/>
          <p:cNvSpPr txBox="1"/>
          <p:nvPr/>
        </p:nvSpPr>
        <p:spPr>
          <a:xfrm>
            <a:off x="332232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alert rules</a:t>
            </a:r>
            <a:endParaRPr lang="en-US" sz="1200" dirty="0"/>
          </a:p>
        </p:txBody>
      </p:sp>
      <p:sp>
        <p:nvSpPr>
          <p:cNvPr id="28" name="Shape 25"/>
          <p:cNvSpPr/>
          <p:nvPr/>
        </p:nvSpPr>
        <p:spPr>
          <a:xfrm>
            <a:off x="6096000" y="2926080"/>
            <a:ext cx="2499360" cy="0"/>
          </a:xfrm>
          <a:prstGeom prst="line">
            <a:avLst/>
          </a:prstGeom>
          <a:noFill/>
          <a:ln w="12700">
            <a:solidFill>
              <a:srgbClr val="24314F"/>
            </a:solidFill>
            <a:prstDash val="solid"/>
          </a:ln>
        </p:spPr>
      </p:sp>
      <p:sp>
        <p:nvSpPr>
          <p:cNvPr id="29" name="Text 26"/>
          <p:cNvSpPr txBox="1"/>
          <p:nvPr/>
        </p:nvSpPr>
        <p:spPr>
          <a:xfrm>
            <a:off x="609600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10 s</a:t>
            </a:r>
            <a:endParaRPr lang="en-US" sz="3200" dirty="0"/>
          </a:p>
        </p:txBody>
      </p:sp>
      <p:sp>
        <p:nvSpPr>
          <p:cNvPr id="30" name="Text 27"/>
          <p:cNvSpPr txBox="1"/>
          <p:nvPr/>
        </p:nvSpPr>
        <p:spPr>
          <a:xfrm>
            <a:off x="609600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Redis cached dashboard</a:t>
            </a:r>
            <a:endParaRPr lang="en-US" sz="1200" dirty="0"/>
          </a:p>
        </p:txBody>
      </p:sp>
      <p:sp>
        <p:nvSpPr>
          <p:cNvPr id="31" name="Shape 28"/>
          <p:cNvSpPr/>
          <p:nvPr/>
        </p:nvSpPr>
        <p:spPr>
          <a:xfrm>
            <a:off x="548640" y="4315968"/>
            <a:ext cx="4206240" cy="329184"/>
          </a:xfrm>
          <a:prstGeom prst="roundRect">
            <a:avLst>
              <a:gd name="adj" fmla="val 50000"/>
            </a:avLst>
          </a:prstGeom>
          <a:solidFill>
            <a:srgbClr val="121B33"/>
          </a:solidFill>
          <a:ln w="9525">
            <a:solidFill>
              <a:srgbClr val="22D3EE"/>
            </a:solidFill>
            <a:prstDash val="solid"/>
          </a:ln>
        </p:spPr>
      </p:sp>
      <p:sp>
        <p:nvSpPr>
          <p:cNvPr id="32" name="Text 29"/>
          <p:cNvSpPr txBox="1"/>
          <p:nvPr/>
        </p:nvSpPr>
        <p:spPr>
          <a:xfrm>
            <a:off x="713232" y="4315968"/>
            <a:ext cx="4023360" cy="329184"/>
          </a:xfrm>
          <a:prstGeom prst="rect">
            <a:avLst/>
          </a:prstGeom>
          <a:noFill/>
          <a:ln/>
        </p:spPr>
        <p:txBody>
          <a:bodyPr wrap="square" lIns="0" tIns="0" rIns="0" bIns="0"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LIVE  </a:t>
            </a:r>
            <a:pPr indent="0" marL="0">
              <a:buNone/>
            </a:pPr>
            <a:r>
              <a:rPr lang="en-US" sz="1100" dirty="0">
                <a:solidFill>
                  <a:srgbClr val="F1F5FB"/>
                </a:solidFill>
                <a:latin typeface="Segoe UI" pitchFamily="34" charset="0"/>
                <a:ea typeface="Segoe UI" pitchFamily="34" charset="-122"/>
                <a:cs typeface="Segoe UI" pitchFamily="34" charset="-120"/>
              </a:rPr>
              <a:t>Live monitoring page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548640" y="365760"/>
            <a:ext cx="6400800" cy="274320"/>
          </a:xfrm>
          <a:prstGeom prst="rect">
            <a:avLst/>
          </a:prstGeom>
          <a:noFill/>
          <a:ln/>
        </p:spPr>
        <p:txBody>
          <a:bodyPr wrap="square" lIns="0" tIns="0" rIns="0" bIns="0" rtlCol="0" anchor="ctr"/>
          <a:lstStyle/>
          <a:p>
            <a:pPr indent="0" marL="0">
              <a:buNone/>
            </a:pPr>
            <a:r>
              <a:rPr lang="en-US" sz="1100" spc="400" kern="0" dirty="0">
                <a:solidFill>
                  <a:srgbClr val="22D3EE"/>
                </a:solidFill>
                <a:latin typeface="Segoe UI Semibold" pitchFamily="34" charset="0"/>
                <a:ea typeface="Segoe UI Semibold" pitchFamily="34" charset="-122"/>
                <a:cs typeface="Segoe UI Semibold" pitchFamily="34" charset="-120"/>
              </a:rPr>
              <a:t>05 · THURUNU · MAINTENANCE SERVICE</a:t>
            </a:r>
            <a:endParaRPr lang="en-US" sz="1100" dirty="0"/>
          </a:p>
        </p:txBody>
      </p:sp>
      <p:sp>
        <p:nvSpPr>
          <p:cNvPr id="4"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dirty="0">
                <a:solidFill>
                  <a:srgbClr val="F1F5FB"/>
                </a:solidFill>
                <a:latin typeface="Segoe UI Semibold" pitchFamily="34" charset="0"/>
                <a:ea typeface="Segoe UI Semibold" pitchFamily="34" charset="-122"/>
                <a:cs typeface="Segoe UI Semibold" pitchFamily="34" charset="-120"/>
              </a:rPr>
              <a:t>Faults become tracked work automatically</a:t>
            </a:r>
            <a:endParaRPr lang="en-US" sz="3000" dirty="0"/>
          </a:p>
        </p:txBody>
      </p:sp>
      <p:sp>
        <p:nvSpPr>
          <p:cNvPr id="5" name="Text 2"/>
          <p:cNvSpPr txBox="1"/>
          <p:nvPr/>
        </p:nvSpPr>
        <p:spPr>
          <a:xfrm>
            <a:off x="548640" y="4754880"/>
            <a:ext cx="5486400" cy="228600"/>
          </a:xfrm>
          <a:prstGeom prst="rect">
            <a:avLst/>
          </a:prstGeom>
          <a:noFill/>
          <a:ln/>
        </p:spPr>
        <p:txBody>
          <a:bodyPr wrap="square" lIns="0" tIns="0" rIns="0" bIns="0" rtlCol="0" anchor="ctr"/>
          <a:lstStyle/>
          <a:p>
            <a:pPr indent="0" marL="0">
              <a:buNone/>
            </a:pPr>
            <a:r>
              <a:rPr lang="en-US" sz="900" dirty="0">
                <a:solidFill>
                  <a:srgbClr val="8C9BB8"/>
                </a:solidFill>
                <a:latin typeface="Segoe UI" pitchFamily="34" charset="0"/>
                <a:ea typeface="Segoe UI" pitchFamily="34" charset="-122"/>
                <a:cs typeface="Segoe UI" pitchFamily="34" charset="-120"/>
              </a:rPr>
              <a:t>EC8208 Software Architecture  ·  University of Ruhuna</a:t>
            </a:r>
            <a:endParaRPr lang="en-US" sz="900" dirty="0"/>
          </a:p>
        </p:txBody>
      </p:sp>
      <p:sp>
        <p:nvSpPr>
          <p:cNvPr id="6" name="Text 3"/>
          <p:cNvSpPr txBox="1"/>
          <p:nvPr/>
        </p:nvSpPr>
        <p:spPr>
          <a:xfrm>
            <a:off x="6766560" y="4754880"/>
            <a:ext cx="1828800" cy="228600"/>
          </a:xfrm>
          <a:prstGeom prst="rect">
            <a:avLst/>
          </a:prstGeom>
          <a:noFill/>
          <a:ln/>
        </p:spPr>
        <p:txBody>
          <a:bodyPr wrap="square" lIns="0" tIns="0" rIns="0" bIns="0" rtlCol="0" anchor="ctr"/>
          <a:lstStyle/>
          <a:p>
            <a:pPr algn="r" indent="0" marL="0">
              <a:buNone/>
            </a:pPr>
            <a:r>
              <a:rPr lang="en-US" sz="900" dirty="0">
                <a:solidFill>
                  <a:srgbClr val="8C9BB8"/>
                </a:solidFill>
                <a:latin typeface="Segoe UI" pitchFamily="34" charset="0"/>
                <a:ea typeface="Segoe UI" pitchFamily="34" charset="-122"/>
                <a:cs typeface="Segoe UI" pitchFamily="34" charset="-120"/>
              </a:rPr>
              <a:t>05  ·  2:00–2:35</a:t>
            </a:r>
            <a:endParaRPr lang="en-US" sz="900" dirty="0"/>
          </a:p>
        </p:txBody>
      </p:sp>
      <p:sp>
        <p:nvSpPr>
          <p:cNvPr id="7" name="Shape 4"/>
          <p:cNvSpPr/>
          <p:nvPr/>
        </p:nvSpPr>
        <p:spPr>
          <a:xfrm>
            <a:off x="548640" y="1600200"/>
            <a:ext cx="1805940" cy="914400"/>
          </a:xfrm>
          <a:prstGeom prst="roundRect">
            <a:avLst>
              <a:gd name="adj" fmla="val 8000"/>
            </a:avLst>
          </a:prstGeom>
          <a:solidFill>
            <a:srgbClr val="22D3EE"/>
          </a:solidFill>
          <a:ln w="9525">
            <a:solidFill>
              <a:srgbClr val="22D3EE"/>
            </a:solidFill>
            <a:prstDash val="solid"/>
          </a:ln>
        </p:spPr>
      </p:sp>
      <p:sp>
        <p:nvSpPr>
          <p:cNvPr id="8" name="Text 5"/>
          <p:cNvSpPr txBox="1"/>
          <p:nvPr/>
        </p:nvSpPr>
        <p:spPr>
          <a:xfrm>
            <a:off x="548640" y="1664208"/>
            <a:ext cx="1805940" cy="457200"/>
          </a:xfrm>
          <a:prstGeom prst="rect">
            <a:avLst/>
          </a:prstGeom>
          <a:noFill/>
          <a:ln/>
        </p:spPr>
        <p:txBody>
          <a:bodyPr wrap="square" lIns="0" tIns="0" rIns="0" bIns="0" rtlCol="0" anchor="ctr"/>
          <a:lstStyle/>
          <a:p>
            <a:pPr algn="ctr" indent="0" marL="0">
              <a:buNone/>
            </a:pPr>
            <a:r>
              <a:rPr lang="en-US" sz="1500" dirty="0">
                <a:solidFill>
                  <a:srgbClr val="0A1020"/>
                </a:solidFill>
                <a:latin typeface="Segoe UI Semibold" pitchFamily="34" charset="0"/>
                <a:ea typeface="Segoe UI Semibold" pitchFamily="34" charset="-122"/>
                <a:cs typeface="Segoe UI Semibold" pitchFamily="34" charset="-120"/>
              </a:rPr>
              <a:t>Alert event</a:t>
            </a:r>
            <a:endParaRPr lang="en-US" sz="1500" dirty="0"/>
          </a:p>
        </p:txBody>
      </p:sp>
      <p:sp>
        <p:nvSpPr>
          <p:cNvPr id="9" name="Text 6"/>
          <p:cNvSpPr txBox="1"/>
          <p:nvPr/>
        </p:nvSpPr>
        <p:spPr>
          <a:xfrm>
            <a:off x="548640" y="2084832"/>
            <a:ext cx="1805940" cy="320040"/>
          </a:xfrm>
          <a:prstGeom prst="rect">
            <a:avLst/>
          </a:prstGeom>
          <a:noFill/>
          <a:ln/>
        </p:spPr>
        <p:txBody>
          <a:bodyPr wrap="square" lIns="0" tIns="0" rIns="0" bIns="0" rtlCol="0" anchor="ctr"/>
          <a:lstStyle/>
          <a:p>
            <a:pPr algn="ctr" indent="0" marL="0">
              <a:buNone/>
            </a:pPr>
            <a:r>
              <a:rPr lang="en-US" sz="1100" dirty="0">
                <a:solidFill>
                  <a:srgbClr val="0A1020"/>
                </a:solidFill>
                <a:latin typeface="Segoe UI" pitchFamily="34" charset="0"/>
                <a:ea typeface="Segoe UI" pitchFamily="34" charset="-122"/>
                <a:cs typeface="Segoe UI" pitchFamily="34" charset="-120"/>
              </a:rPr>
              <a:t>high or critical</a:t>
            </a:r>
            <a:endParaRPr lang="en-US" sz="1100" dirty="0"/>
          </a:p>
        </p:txBody>
      </p:sp>
      <p:sp>
        <p:nvSpPr>
          <p:cNvPr id="10" name="Text 7"/>
          <p:cNvSpPr txBox="1"/>
          <p:nvPr/>
        </p:nvSpPr>
        <p:spPr>
          <a:xfrm>
            <a:off x="235458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1" name="Shape 8"/>
          <p:cNvSpPr/>
          <p:nvPr/>
        </p:nvSpPr>
        <p:spPr>
          <a:xfrm>
            <a:off x="2628900" y="1600200"/>
            <a:ext cx="1805940" cy="914400"/>
          </a:xfrm>
          <a:prstGeom prst="roundRect">
            <a:avLst>
              <a:gd name="adj" fmla="val 8000"/>
            </a:avLst>
          </a:prstGeom>
          <a:solidFill>
            <a:srgbClr val="121B33"/>
          </a:solidFill>
          <a:ln w="9525">
            <a:solidFill>
              <a:srgbClr val="24314F"/>
            </a:solidFill>
            <a:prstDash val="solid"/>
          </a:ln>
        </p:spPr>
      </p:sp>
      <p:sp>
        <p:nvSpPr>
          <p:cNvPr id="12" name="Text 9"/>
          <p:cNvSpPr txBox="1"/>
          <p:nvPr/>
        </p:nvSpPr>
        <p:spPr>
          <a:xfrm>
            <a:off x="262890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Work order</a:t>
            </a:r>
            <a:endParaRPr lang="en-US" sz="1500" dirty="0"/>
          </a:p>
        </p:txBody>
      </p:sp>
      <p:sp>
        <p:nvSpPr>
          <p:cNvPr id="13" name="Text 10"/>
          <p:cNvSpPr txBox="1"/>
          <p:nvPr/>
        </p:nvSpPr>
        <p:spPr>
          <a:xfrm>
            <a:off x="262890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created</a:t>
            </a:r>
            <a:endParaRPr lang="en-US" sz="1100" dirty="0"/>
          </a:p>
        </p:txBody>
      </p:sp>
      <p:sp>
        <p:nvSpPr>
          <p:cNvPr id="14" name="Text 11"/>
          <p:cNvSpPr txBox="1"/>
          <p:nvPr/>
        </p:nvSpPr>
        <p:spPr>
          <a:xfrm>
            <a:off x="443484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5" name="Shape 12"/>
          <p:cNvSpPr/>
          <p:nvPr/>
        </p:nvSpPr>
        <p:spPr>
          <a:xfrm>
            <a:off x="4709160" y="1600200"/>
            <a:ext cx="1805940" cy="914400"/>
          </a:xfrm>
          <a:prstGeom prst="roundRect">
            <a:avLst>
              <a:gd name="adj" fmla="val 8000"/>
            </a:avLst>
          </a:prstGeom>
          <a:solidFill>
            <a:srgbClr val="121B33"/>
          </a:solidFill>
          <a:ln w="9525">
            <a:solidFill>
              <a:srgbClr val="24314F"/>
            </a:solidFill>
            <a:prstDash val="solid"/>
          </a:ln>
        </p:spPr>
      </p:sp>
      <p:sp>
        <p:nvSpPr>
          <p:cNvPr id="16" name="Text 13"/>
          <p:cNvSpPr txBox="1"/>
          <p:nvPr/>
        </p:nvSpPr>
        <p:spPr>
          <a:xfrm>
            <a:off x="470916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Technician</a:t>
            </a:r>
            <a:endParaRPr lang="en-US" sz="1500" dirty="0"/>
          </a:p>
        </p:txBody>
      </p:sp>
      <p:sp>
        <p:nvSpPr>
          <p:cNvPr id="17" name="Text 14"/>
          <p:cNvSpPr txBox="1"/>
          <p:nvPr/>
        </p:nvSpPr>
        <p:spPr>
          <a:xfrm>
            <a:off x="470916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assigned</a:t>
            </a:r>
            <a:endParaRPr lang="en-US" sz="1100" dirty="0"/>
          </a:p>
        </p:txBody>
      </p:sp>
      <p:sp>
        <p:nvSpPr>
          <p:cNvPr id="18" name="Text 15"/>
          <p:cNvSpPr txBox="1"/>
          <p:nvPr/>
        </p:nvSpPr>
        <p:spPr>
          <a:xfrm>
            <a:off x="651510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9" name="Shape 16"/>
          <p:cNvSpPr/>
          <p:nvPr/>
        </p:nvSpPr>
        <p:spPr>
          <a:xfrm>
            <a:off x="6789420" y="1600200"/>
            <a:ext cx="1805940" cy="914400"/>
          </a:xfrm>
          <a:prstGeom prst="roundRect">
            <a:avLst>
              <a:gd name="adj" fmla="val 8000"/>
            </a:avLst>
          </a:prstGeom>
          <a:solidFill>
            <a:srgbClr val="121B33"/>
          </a:solidFill>
          <a:ln w="9525">
            <a:solidFill>
              <a:srgbClr val="24314F"/>
            </a:solidFill>
            <a:prstDash val="solid"/>
          </a:ln>
        </p:spPr>
      </p:sp>
      <p:sp>
        <p:nvSpPr>
          <p:cNvPr id="20" name="Text 17"/>
          <p:cNvSpPr txBox="1"/>
          <p:nvPr/>
        </p:nvSpPr>
        <p:spPr>
          <a:xfrm>
            <a:off x="678942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Completed</a:t>
            </a:r>
            <a:endParaRPr lang="en-US" sz="1500" dirty="0"/>
          </a:p>
        </p:txBody>
      </p:sp>
      <p:sp>
        <p:nvSpPr>
          <p:cNvPr id="21" name="Text 18"/>
          <p:cNvSpPr txBox="1"/>
          <p:nvPr/>
        </p:nvSpPr>
        <p:spPr>
          <a:xfrm>
            <a:off x="678942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in history</a:t>
            </a:r>
            <a:endParaRPr lang="en-US" sz="1100" dirty="0"/>
          </a:p>
        </p:txBody>
      </p:sp>
      <p:sp>
        <p:nvSpPr>
          <p:cNvPr id="22" name="Shape 19"/>
          <p:cNvSpPr/>
          <p:nvPr/>
        </p:nvSpPr>
        <p:spPr>
          <a:xfrm>
            <a:off x="548640" y="2926080"/>
            <a:ext cx="2499360" cy="0"/>
          </a:xfrm>
          <a:prstGeom prst="line">
            <a:avLst/>
          </a:prstGeom>
          <a:noFill/>
          <a:ln w="12700">
            <a:solidFill>
              <a:srgbClr val="24314F"/>
            </a:solidFill>
            <a:prstDash val="solid"/>
          </a:ln>
        </p:spPr>
      </p:sp>
      <p:sp>
        <p:nvSpPr>
          <p:cNvPr id="23" name="Text 20"/>
          <p:cNvSpPr txBox="1"/>
          <p:nvPr/>
        </p:nvSpPr>
        <p:spPr>
          <a:xfrm>
            <a:off x="54864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0 clicks</a:t>
            </a:r>
            <a:endParaRPr lang="en-US" sz="3200" dirty="0"/>
          </a:p>
        </p:txBody>
      </p:sp>
      <p:sp>
        <p:nvSpPr>
          <p:cNvPr id="24" name="Text 21"/>
          <p:cNvSpPr txBox="1"/>
          <p:nvPr/>
        </p:nvSpPr>
        <p:spPr>
          <a:xfrm>
            <a:off x="54864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to open a corrective order</a:t>
            </a:r>
            <a:endParaRPr lang="en-US" sz="1200" dirty="0"/>
          </a:p>
        </p:txBody>
      </p:sp>
      <p:sp>
        <p:nvSpPr>
          <p:cNvPr id="25" name="Shape 22"/>
          <p:cNvSpPr/>
          <p:nvPr/>
        </p:nvSpPr>
        <p:spPr>
          <a:xfrm>
            <a:off x="3322320" y="2926080"/>
            <a:ext cx="2499360" cy="0"/>
          </a:xfrm>
          <a:prstGeom prst="line">
            <a:avLst/>
          </a:prstGeom>
          <a:noFill/>
          <a:ln w="12700">
            <a:solidFill>
              <a:srgbClr val="24314F"/>
            </a:solidFill>
            <a:prstDash val="solid"/>
          </a:ln>
        </p:spPr>
      </p:sp>
      <p:sp>
        <p:nvSpPr>
          <p:cNvPr id="26" name="Text 23"/>
          <p:cNvSpPr txBox="1"/>
          <p:nvPr/>
        </p:nvSpPr>
        <p:spPr>
          <a:xfrm>
            <a:off x="332232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4</a:t>
            </a:r>
            <a:endParaRPr lang="en-US" sz="3200" dirty="0"/>
          </a:p>
        </p:txBody>
      </p:sp>
      <p:sp>
        <p:nvSpPr>
          <p:cNvPr id="27" name="Text 24"/>
          <p:cNvSpPr txBox="1"/>
          <p:nvPr/>
        </p:nvSpPr>
        <p:spPr>
          <a:xfrm>
            <a:off x="332232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technicians</a:t>
            </a:r>
            <a:endParaRPr lang="en-US" sz="1200" dirty="0"/>
          </a:p>
        </p:txBody>
      </p:sp>
      <p:sp>
        <p:nvSpPr>
          <p:cNvPr id="28" name="Shape 25"/>
          <p:cNvSpPr/>
          <p:nvPr/>
        </p:nvSpPr>
        <p:spPr>
          <a:xfrm>
            <a:off x="6096000" y="2926080"/>
            <a:ext cx="2499360" cy="0"/>
          </a:xfrm>
          <a:prstGeom prst="line">
            <a:avLst/>
          </a:prstGeom>
          <a:noFill/>
          <a:ln w="12700">
            <a:solidFill>
              <a:srgbClr val="24314F"/>
            </a:solidFill>
            <a:prstDash val="solid"/>
          </a:ln>
        </p:spPr>
      </p:sp>
      <p:sp>
        <p:nvSpPr>
          <p:cNvPr id="29" name="Text 26"/>
          <p:cNvSpPr txBox="1"/>
          <p:nvPr/>
        </p:nvSpPr>
        <p:spPr>
          <a:xfrm>
            <a:off x="609600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1</a:t>
            </a:r>
            <a:endParaRPr lang="en-US" sz="3200" dirty="0"/>
          </a:p>
        </p:txBody>
      </p:sp>
      <p:sp>
        <p:nvSpPr>
          <p:cNvPr id="30" name="Text 27"/>
          <p:cNvSpPr txBox="1"/>
          <p:nvPr/>
        </p:nvSpPr>
        <p:spPr>
          <a:xfrm>
            <a:off x="609600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active order per asset</a:t>
            </a:r>
            <a:endParaRPr lang="en-US" sz="1200" dirty="0"/>
          </a:p>
        </p:txBody>
      </p:sp>
      <p:sp>
        <p:nvSpPr>
          <p:cNvPr id="31" name="Shape 28"/>
          <p:cNvSpPr/>
          <p:nvPr/>
        </p:nvSpPr>
        <p:spPr>
          <a:xfrm>
            <a:off x="548640" y="4315968"/>
            <a:ext cx="4206240" cy="329184"/>
          </a:xfrm>
          <a:prstGeom prst="roundRect">
            <a:avLst>
              <a:gd name="adj" fmla="val 50000"/>
            </a:avLst>
          </a:prstGeom>
          <a:solidFill>
            <a:srgbClr val="121B33"/>
          </a:solidFill>
          <a:ln w="9525">
            <a:solidFill>
              <a:srgbClr val="22D3EE"/>
            </a:solidFill>
            <a:prstDash val="solid"/>
          </a:ln>
        </p:spPr>
      </p:sp>
      <p:sp>
        <p:nvSpPr>
          <p:cNvPr id="32" name="Text 29"/>
          <p:cNvSpPr txBox="1"/>
          <p:nvPr/>
        </p:nvSpPr>
        <p:spPr>
          <a:xfrm>
            <a:off x="713232" y="4315968"/>
            <a:ext cx="4023360" cy="329184"/>
          </a:xfrm>
          <a:prstGeom prst="rect">
            <a:avLst/>
          </a:prstGeom>
          <a:noFill/>
          <a:ln/>
        </p:spPr>
        <p:txBody>
          <a:bodyPr wrap="square" lIns="0" tIns="0" rIns="0" bIns="0"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LIVE  </a:t>
            </a:r>
            <a:pPr indent="0" marL="0">
              <a:buNone/>
            </a:pPr>
            <a:r>
              <a:rPr lang="en-US" sz="1100" dirty="0">
                <a:solidFill>
                  <a:srgbClr val="F1F5FB"/>
                </a:solidFill>
                <a:latin typeface="Segoe UI" pitchFamily="34" charset="0"/>
                <a:ea typeface="Segoe UI" pitchFamily="34" charset="-122"/>
                <a:cs typeface="Segoe UI" pitchFamily="34" charset="-120"/>
              </a:rPr>
              <a:t>Maintenance board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548640" y="365760"/>
            <a:ext cx="6400800" cy="274320"/>
          </a:xfrm>
          <a:prstGeom prst="rect">
            <a:avLst/>
          </a:prstGeom>
          <a:noFill/>
          <a:ln/>
        </p:spPr>
        <p:txBody>
          <a:bodyPr wrap="square" lIns="0" tIns="0" rIns="0" bIns="0" rtlCol="0" anchor="ctr"/>
          <a:lstStyle/>
          <a:p>
            <a:pPr indent="0" marL="0">
              <a:buNone/>
            </a:pPr>
            <a:r>
              <a:rPr lang="en-US" sz="1100" spc="400" kern="0" dirty="0">
                <a:solidFill>
                  <a:srgbClr val="22D3EE"/>
                </a:solidFill>
                <a:latin typeface="Segoe UI Semibold" pitchFamily="34" charset="0"/>
                <a:ea typeface="Segoe UI Semibold" pitchFamily="34" charset="-122"/>
                <a:cs typeface="Segoe UI Semibold" pitchFamily="34" charset="-120"/>
              </a:rPr>
              <a:t>06 · YASIRU · NOTIFICATION SERVICE</a:t>
            </a:r>
            <a:endParaRPr lang="en-US" sz="1100" dirty="0"/>
          </a:p>
        </p:txBody>
      </p:sp>
      <p:sp>
        <p:nvSpPr>
          <p:cNvPr id="4"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dirty="0">
                <a:solidFill>
                  <a:srgbClr val="F1F5FB"/>
                </a:solidFill>
                <a:latin typeface="Segoe UI Semibold" pitchFamily="34" charset="0"/>
                <a:ea typeface="Segoe UI Semibold" pitchFamily="34" charset="-122"/>
                <a:cs typeface="Segoe UI Semibold" pitchFamily="34" charset="-120"/>
              </a:rPr>
              <a:t>Every alert delivered and recorded</a:t>
            </a:r>
            <a:endParaRPr lang="en-US" sz="3000" dirty="0"/>
          </a:p>
        </p:txBody>
      </p:sp>
      <p:sp>
        <p:nvSpPr>
          <p:cNvPr id="5" name="Text 2"/>
          <p:cNvSpPr txBox="1"/>
          <p:nvPr/>
        </p:nvSpPr>
        <p:spPr>
          <a:xfrm>
            <a:off x="548640" y="4754880"/>
            <a:ext cx="5486400" cy="228600"/>
          </a:xfrm>
          <a:prstGeom prst="rect">
            <a:avLst/>
          </a:prstGeom>
          <a:noFill/>
          <a:ln/>
        </p:spPr>
        <p:txBody>
          <a:bodyPr wrap="square" lIns="0" tIns="0" rIns="0" bIns="0" rtlCol="0" anchor="ctr"/>
          <a:lstStyle/>
          <a:p>
            <a:pPr indent="0" marL="0">
              <a:buNone/>
            </a:pPr>
            <a:r>
              <a:rPr lang="en-US" sz="900" dirty="0">
                <a:solidFill>
                  <a:srgbClr val="8C9BB8"/>
                </a:solidFill>
                <a:latin typeface="Segoe UI" pitchFamily="34" charset="0"/>
                <a:ea typeface="Segoe UI" pitchFamily="34" charset="-122"/>
                <a:cs typeface="Segoe UI" pitchFamily="34" charset="-120"/>
              </a:rPr>
              <a:t>EC8208 Software Architecture  ·  University of Ruhuna</a:t>
            </a:r>
            <a:endParaRPr lang="en-US" sz="900" dirty="0"/>
          </a:p>
        </p:txBody>
      </p:sp>
      <p:sp>
        <p:nvSpPr>
          <p:cNvPr id="6" name="Text 3"/>
          <p:cNvSpPr txBox="1"/>
          <p:nvPr/>
        </p:nvSpPr>
        <p:spPr>
          <a:xfrm>
            <a:off x="6766560" y="4754880"/>
            <a:ext cx="1828800" cy="228600"/>
          </a:xfrm>
          <a:prstGeom prst="rect">
            <a:avLst/>
          </a:prstGeom>
          <a:noFill/>
          <a:ln/>
        </p:spPr>
        <p:txBody>
          <a:bodyPr wrap="square" lIns="0" tIns="0" rIns="0" bIns="0" rtlCol="0" anchor="ctr"/>
          <a:lstStyle/>
          <a:p>
            <a:pPr algn="r" indent="0" marL="0">
              <a:buNone/>
            </a:pPr>
            <a:r>
              <a:rPr lang="en-US" sz="900" dirty="0">
                <a:solidFill>
                  <a:srgbClr val="8C9BB8"/>
                </a:solidFill>
                <a:latin typeface="Segoe UI" pitchFamily="34" charset="0"/>
                <a:ea typeface="Segoe UI" pitchFamily="34" charset="-122"/>
                <a:cs typeface="Segoe UI" pitchFamily="34" charset="-120"/>
              </a:rPr>
              <a:t>06  ·  2:35–3:05</a:t>
            </a:r>
            <a:endParaRPr lang="en-US" sz="900" dirty="0"/>
          </a:p>
        </p:txBody>
      </p:sp>
      <p:sp>
        <p:nvSpPr>
          <p:cNvPr id="7" name="Shape 4"/>
          <p:cNvSpPr/>
          <p:nvPr/>
        </p:nvSpPr>
        <p:spPr>
          <a:xfrm>
            <a:off x="548640" y="1600200"/>
            <a:ext cx="1805940" cy="914400"/>
          </a:xfrm>
          <a:prstGeom prst="roundRect">
            <a:avLst>
              <a:gd name="adj" fmla="val 8000"/>
            </a:avLst>
          </a:prstGeom>
          <a:solidFill>
            <a:srgbClr val="22D3EE"/>
          </a:solidFill>
          <a:ln w="9525">
            <a:solidFill>
              <a:srgbClr val="22D3EE"/>
            </a:solidFill>
            <a:prstDash val="solid"/>
          </a:ln>
        </p:spPr>
      </p:sp>
      <p:sp>
        <p:nvSpPr>
          <p:cNvPr id="8" name="Text 5"/>
          <p:cNvSpPr txBox="1"/>
          <p:nvPr/>
        </p:nvSpPr>
        <p:spPr>
          <a:xfrm>
            <a:off x="548640" y="1664208"/>
            <a:ext cx="1805940" cy="457200"/>
          </a:xfrm>
          <a:prstGeom prst="rect">
            <a:avLst/>
          </a:prstGeom>
          <a:noFill/>
          <a:ln/>
        </p:spPr>
        <p:txBody>
          <a:bodyPr wrap="square" lIns="0" tIns="0" rIns="0" bIns="0" rtlCol="0" anchor="ctr"/>
          <a:lstStyle/>
          <a:p>
            <a:pPr algn="ctr" indent="0" marL="0">
              <a:buNone/>
            </a:pPr>
            <a:r>
              <a:rPr lang="en-US" sz="1500" dirty="0">
                <a:solidFill>
                  <a:srgbClr val="0A1020"/>
                </a:solidFill>
                <a:latin typeface="Segoe UI Semibold" pitchFamily="34" charset="0"/>
                <a:ea typeface="Segoe UI Semibold" pitchFamily="34" charset="-122"/>
                <a:cs typeface="Segoe UI Semibold" pitchFamily="34" charset="-120"/>
              </a:rPr>
              <a:t>Queue</a:t>
            </a:r>
            <a:endParaRPr lang="en-US" sz="1500" dirty="0"/>
          </a:p>
        </p:txBody>
      </p:sp>
      <p:sp>
        <p:nvSpPr>
          <p:cNvPr id="9" name="Text 6"/>
          <p:cNvSpPr txBox="1"/>
          <p:nvPr/>
        </p:nvSpPr>
        <p:spPr>
          <a:xfrm>
            <a:off x="548640" y="2084832"/>
            <a:ext cx="1805940" cy="320040"/>
          </a:xfrm>
          <a:prstGeom prst="rect">
            <a:avLst/>
          </a:prstGeom>
          <a:noFill/>
          <a:ln/>
        </p:spPr>
        <p:txBody>
          <a:bodyPr wrap="square" lIns="0" tIns="0" rIns="0" bIns="0" rtlCol="0" anchor="ctr"/>
          <a:lstStyle/>
          <a:p>
            <a:pPr algn="ctr" indent="0" marL="0">
              <a:buNone/>
            </a:pPr>
            <a:r>
              <a:rPr lang="en-US" sz="1100" dirty="0">
                <a:solidFill>
                  <a:srgbClr val="0A1020"/>
                </a:solidFill>
                <a:latin typeface="Segoe UI" pitchFamily="34" charset="0"/>
                <a:ea typeface="Segoe UI" pitchFamily="34" charset="-122"/>
                <a:cs typeface="Segoe UI" pitchFamily="34" charset="-120"/>
              </a:rPr>
              <a:t>durable</a:t>
            </a:r>
            <a:endParaRPr lang="en-US" sz="1100" dirty="0"/>
          </a:p>
        </p:txBody>
      </p:sp>
      <p:sp>
        <p:nvSpPr>
          <p:cNvPr id="10" name="Text 7"/>
          <p:cNvSpPr txBox="1"/>
          <p:nvPr/>
        </p:nvSpPr>
        <p:spPr>
          <a:xfrm>
            <a:off x="235458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1" name="Shape 8"/>
          <p:cNvSpPr/>
          <p:nvPr/>
        </p:nvSpPr>
        <p:spPr>
          <a:xfrm>
            <a:off x="2628900" y="1600200"/>
            <a:ext cx="1805940" cy="914400"/>
          </a:xfrm>
          <a:prstGeom prst="roundRect">
            <a:avLst>
              <a:gd name="adj" fmla="val 8000"/>
            </a:avLst>
          </a:prstGeom>
          <a:solidFill>
            <a:srgbClr val="121B33"/>
          </a:solidFill>
          <a:ln w="9525">
            <a:solidFill>
              <a:srgbClr val="24314F"/>
            </a:solidFill>
            <a:prstDash val="solid"/>
          </a:ln>
        </p:spPr>
      </p:sp>
      <p:sp>
        <p:nvSpPr>
          <p:cNvPr id="12" name="Text 9"/>
          <p:cNvSpPr txBox="1"/>
          <p:nvPr/>
        </p:nvSpPr>
        <p:spPr>
          <a:xfrm>
            <a:off x="262890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Consumer</a:t>
            </a:r>
            <a:endParaRPr lang="en-US" sz="1500" dirty="0"/>
          </a:p>
        </p:txBody>
      </p:sp>
      <p:sp>
        <p:nvSpPr>
          <p:cNvPr id="13" name="Text 10"/>
          <p:cNvSpPr txBox="1"/>
          <p:nvPr/>
        </p:nvSpPr>
        <p:spPr>
          <a:xfrm>
            <a:off x="262890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schema check</a:t>
            </a:r>
            <a:endParaRPr lang="en-US" sz="1100" dirty="0"/>
          </a:p>
        </p:txBody>
      </p:sp>
      <p:sp>
        <p:nvSpPr>
          <p:cNvPr id="14" name="Text 11"/>
          <p:cNvSpPr txBox="1"/>
          <p:nvPr/>
        </p:nvSpPr>
        <p:spPr>
          <a:xfrm>
            <a:off x="443484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5" name="Shape 12"/>
          <p:cNvSpPr/>
          <p:nvPr/>
        </p:nvSpPr>
        <p:spPr>
          <a:xfrm>
            <a:off x="4709160" y="1600200"/>
            <a:ext cx="1805940" cy="914400"/>
          </a:xfrm>
          <a:prstGeom prst="roundRect">
            <a:avLst>
              <a:gd name="adj" fmla="val 8000"/>
            </a:avLst>
          </a:prstGeom>
          <a:solidFill>
            <a:srgbClr val="121B33"/>
          </a:solidFill>
          <a:ln w="9525">
            <a:solidFill>
              <a:srgbClr val="24314F"/>
            </a:solidFill>
            <a:prstDash val="solid"/>
          </a:ln>
        </p:spPr>
      </p:sp>
      <p:sp>
        <p:nvSpPr>
          <p:cNvPr id="16" name="Text 13"/>
          <p:cNvSpPr txBox="1"/>
          <p:nvPr/>
        </p:nvSpPr>
        <p:spPr>
          <a:xfrm>
            <a:off x="470916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Channels</a:t>
            </a:r>
            <a:endParaRPr lang="en-US" sz="1500" dirty="0"/>
          </a:p>
        </p:txBody>
      </p:sp>
      <p:sp>
        <p:nvSpPr>
          <p:cNvPr id="17" name="Text 14"/>
          <p:cNvSpPr txBox="1"/>
          <p:nvPr/>
        </p:nvSpPr>
        <p:spPr>
          <a:xfrm>
            <a:off x="470916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email · push</a:t>
            </a:r>
            <a:endParaRPr lang="en-US" sz="1100" dirty="0"/>
          </a:p>
        </p:txBody>
      </p:sp>
      <p:sp>
        <p:nvSpPr>
          <p:cNvPr id="18" name="Text 15"/>
          <p:cNvSpPr txBox="1"/>
          <p:nvPr/>
        </p:nvSpPr>
        <p:spPr>
          <a:xfrm>
            <a:off x="651510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9" name="Shape 16"/>
          <p:cNvSpPr/>
          <p:nvPr/>
        </p:nvSpPr>
        <p:spPr>
          <a:xfrm>
            <a:off x="6789420" y="1600200"/>
            <a:ext cx="1805940" cy="914400"/>
          </a:xfrm>
          <a:prstGeom prst="roundRect">
            <a:avLst>
              <a:gd name="adj" fmla="val 8000"/>
            </a:avLst>
          </a:prstGeom>
          <a:solidFill>
            <a:srgbClr val="121B33"/>
          </a:solidFill>
          <a:ln w="9525">
            <a:solidFill>
              <a:srgbClr val="24314F"/>
            </a:solidFill>
            <a:prstDash val="solid"/>
          </a:ln>
        </p:spPr>
      </p:sp>
      <p:sp>
        <p:nvSpPr>
          <p:cNvPr id="20" name="Text 17"/>
          <p:cNvSpPr txBox="1"/>
          <p:nvPr/>
        </p:nvSpPr>
        <p:spPr>
          <a:xfrm>
            <a:off x="678942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History</a:t>
            </a:r>
            <a:endParaRPr lang="en-US" sz="1500" dirty="0"/>
          </a:p>
        </p:txBody>
      </p:sp>
      <p:sp>
        <p:nvSpPr>
          <p:cNvPr id="21" name="Text 18"/>
          <p:cNvSpPr txBox="1"/>
          <p:nvPr/>
        </p:nvSpPr>
        <p:spPr>
          <a:xfrm>
            <a:off x="678942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stored</a:t>
            </a:r>
            <a:endParaRPr lang="en-US" sz="1100" dirty="0"/>
          </a:p>
        </p:txBody>
      </p:sp>
      <p:sp>
        <p:nvSpPr>
          <p:cNvPr id="22" name="Shape 19"/>
          <p:cNvSpPr/>
          <p:nvPr/>
        </p:nvSpPr>
        <p:spPr>
          <a:xfrm>
            <a:off x="548640" y="2926080"/>
            <a:ext cx="2499360" cy="0"/>
          </a:xfrm>
          <a:prstGeom prst="line">
            <a:avLst/>
          </a:prstGeom>
          <a:noFill/>
          <a:ln w="12700">
            <a:solidFill>
              <a:srgbClr val="24314F"/>
            </a:solidFill>
            <a:prstDash val="solid"/>
          </a:ln>
        </p:spPr>
      </p:sp>
      <p:sp>
        <p:nvSpPr>
          <p:cNvPr id="23" name="Text 20"/>
          <p:cNvSpPr txBox="1"/>
          <p:nvPr/>
        </p:nvSpPr>
        <p:spPr>
          <a:xfrm>
            <a:off x="54864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Instant</a:t>
            </a:r>
            <a:endParaRPr lang="en-US" sz="3200" dirty="0"/>
          </a:p>
        </p:txBody>
      </p:sp>
      <p:sp>
        <p:nvSpPr>
          <p:cNvPr id="24" name="Text 21"/>
          <p:cNvSpPr txBox="1"/>
          <p:nvPr/>
        </p:nvSpPr>
        <p:spPr>
          <a:xfrm>
            <a:off x="54864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in-app push</a:t>
            </a:r>
            <a:endParaRPr lang="en-US" sz="1200" dirty="0"/>
          </a:p>
        </p:txBody>
      </p:sp>
      <p:sp>
        <p:nvSpPr>
          <p:cNvPr id="25" name="Shape 22"/>
          <p:cNvSpPr/>
          <p:nvPr/>
        </p:nvSpPr>
        <p:spPr>
          <a:xfrm>
            <a:off x="3322320" y="2926080"/>
            <a:ext cx="2499360" cy="0"/>
          </a:xfrm>
          <a:prstGeom prst="line">
            <a:avLst/>
          </a:prstGeom>
          <a:noFill/>
          <a:ln w="12700">
            <a:solidFill>
              <a:srgbClr val="24314F"/>
            </a:solidFill>
            <a:prstDash val="solid"/>
          </a:ln>
        </p:spPr>
      </p:sp>
      <p:sp>
        <p:nvSpPr>
          <p:cNvPr id="26" name="Text 23"/>
          <p:cNvSpPr txBox="1"/>
          <p:nvPr/>
        </p:nvSpPr>
        <p:spPr>
          <a:xfrm>
            <a:off x="332232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3</a:t>
            </a:r>
            <a:endParaRPr lang="en-US" sz="3200" dirty="0"/>
          </a:p>
        </p:txBody>
      </p:sp>
      <p:sp>
        <p:nvSpPr>
          <p:cNvPr id="27" name="Text 24"/>
          <p:cNvSpPr txBox="1"/>
          <p:nvPr/>
        </p:nvSpPr>
        <p:spPr>
          <a:xfrm>
            <a:off x="332232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automatic retries</a:t>
            </a:r>
            <a:endParaRPr lang="en-US" sz="1200" dirty="0"/>
          </a:p>
        </p:txBody>
      </p:sp>
      <p:sp>
        <p:nvSpPr>
          <p:cNvPr id="28" name="Shape 25"/>
          <p:cNvSpPr/>
          <p:nvPr/>
        </p:nvSpPr>
        <p:spPr>
          <a:xfrm>
            <a:off x="6096000" y="2926080"/>
            <a:ext cx="2499360" cy="0"/>
          </a:xfrm>
          <a:prstGeom prst="line">
            <a:avLst/>
          </a:prstGeom>
          <a:noFill/>
          <a:ln w="12700">
            <a:solidFill>
              <a:srgbClr val="24314F"/>
            </a:solidFill>
            <a:prstDash val="solid"/>
          </a:ln>
        </p:spPr>
      </p:sp>
      <p:sp>
        <p:nvSpPr>
          <p:cNvPr id="29" name="Text 26"/>
          <p:cNvSpPr txBox="1"/>
          <p:nvPr/>
        </p:nvSpPr>
        <p:spPr>
          <a:xfrm>
            <a:off x="609600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100%</a:t>
            </a:r>
            <a:endParaRPr lang="en-US" sz="3200" dirty="0"/>
          </a:p>
        </p:txBody>
      </p:sp>
      <p:sp>
        <p:nvSpPr>
          <p:cNvPr id="30" name="Text 27"/>
          <p:cNvSpPr txBox="1"/>
          <p:nvPr/>
        </p:nvSpPr>
        <p:spPr>
          <a:xfrm>
            <a:off x="609600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deliveries recorded</a:t>
            </a:r>
            <a:endParaRPr lang="en-US" sz="1200" dirty="0"/>
          </a:p>
        </p:txBody>
      </p:sp>
      <p:sp>
        <p:nvSpPr>
          <p:cNvPr id="31" name="Shape 28"/>
          <p:cNvSpPr/>
          <p:nvPr/>
        </p:nvSpPr>
        <p:spPr>
          <a:xfrm>
            <a:off x="548640" y="4315968"/>
            <a:ext cx="4206240" cy="329184"/>
          </a:xfrm>
          <a:prstGeom prst="roundRect">
            <a:avLst>
              <a:gd name="adj" fmla="val 50000"/>
            </a:avLst>
          </a:prstGeom>
          <a:solidFill>
            <a:srgbClr val="121B33"/>
          </a:solidFill>
          <a:ln w="9525">
            <a:solidFill>
              <a:srgbClr val="22D3EE"/>
            </a:solidFill>
            <a:prstDash val="solid"/>
          </a:ln>
        </p:spPr>
      </p:sp>
      <p:sp>
        <p:nvSpPr>
          <p:cNvPr id="32" name="Text 29"/>
          <p:cNvSpPr txBox="1"/>
          <p:nvPr/>
        </p:nvSpPr>
        <p:spPr>
          <a:xfrm>
            <a:off x="713232" y="4315968"/>
            <a:ext cx="4023360" cy="329184"/>
          </a:xfrm>
          <a:prstGeom prst="rect">
            <a:avLst/>
          </a:prstGeom>
          <a:noFill/>
          <a:ln/>
        </p:spPr>
        <p:txBody>
          <a:bodyPr wrap="square" lIns="0" tIns="0" rIns="0" bIns="0"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LIVE  </a:t>
            </a:r>
            <a:pPr indent="0" marL="0">
              <a:buNone/>
            </a:pPr>
            <a:r>
              <a:rPr lang="en-US" sz="1100" dirty="0">
                <a:solidFill>
                  <a:srgbClr val="F1F5FB"/>
                </a:solidFill>
                <a:latin typeface="Segoe UI" pitchFamily="34" charset="0"/>
                <a:ea typeface="Segoe UI" pitchFamily="34" charset="-122"/>
                <a:cs typeface="Segoe UI" pitchFamily="34" charset="-120"/>
              </a:rPr>
              <a:t>Notifications page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548640" y="365760"/>
            <a:ext cx="6400800" cy="274320"/>
          </a:xfrm>
          <a:prstGeom prst="rect">
            <a:avLst/>
          </a:prstGeom>
          <a:noFill/>
          <a:ln/>
        </p:spPr>
        <p:txBody>
          <a:bodyPr wrap="square" lIns="0" tIns="0" rIns="0" bIns="0" rtlCol="0" anchor="ctr"/>
          <a:lstStyle/>
          <a:p>
            <a:pPr indent="0" marL="0">
              <a:buNone/>
            </a:pPr>
            <a:r>
              <a:rPr lang="en-US" sz="1100" spc="400" kern="0" dirty="0">
                <a:solidFill>
                  <a:srgbClr val="22D3EE"/>
                </a:solidFill>
                <a:latin typeface="Segoe UI Semibold" pitchFamily="34" charset="0"/>
                <a:ea typeface="Segoe UI Semibold" pitchFamily="34" charset="-122"/>
                <a:cs typeface="Segoe UI Semibold" pitchFamily="34" charset="-120"/>
              </a:rPr>
              <a:t>07 · SACHINTHANA · ANALYTICS SERVICE</a:t>
            </a:r>
            <a:endParaRPr lang="en-US" sz="1100" dirty="0"/>
          </a:p>
        </p:txBody>
      </p:sp>
      <p:sp>
        <p:nvSpPr>
          <p:cNvPr id="4"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dirty="0">
                <a:solidFill>
                  <a:srgbClr val="F1F5FB"/>
                </a:solidFill>
                <a:latin typeface="Segoe UI Semibold" pitchFamily="34" charset="0"/>
                <a:ea typeface="Segoe UI Semibold" pitchFamily="34" charset="-122"/>
                <a:cs typeface="Segoe UI Semibold" pitchFamily="34" charset="-120"/>
              </a:rPr>
              <a:t>Trustworthy energy figures and reports</a:t>
            </a:r>
            <a:endParaRPr lang="en-US" sz="3000" dirty="0"/>
          </a:p>
        </p:txBody>
      </p:sp>
      <p:sp>
        <p:nvSpPr>
          <p:cNvPr id="5" name="Text 2"/>
          <p:cNvSpPr txBox="1"/>
          <p:nvPr/>
        </p:nvSpPr>
        <p:spPr>
          <a:xfrm>
            <a:off x="548640" y="4754880"/>
            <a:ext cx="5486400" cy="228600"/>
          </a:xfrm>
          <a:prstGeom prst="rect">
            <a:avLst/>
          </a:prstGeom>
          <a:noFill/>
          <a:ln/>
        </p:spPr>
        <p:txBody>
          <a:bodyPr wrap="square" lIns="0" tIns="0" rIns="0" bIns="0" rtlCol="0" anchor="ctr"/>
          <a:lstStyle/>
          <a:p>
            <a:pPr indent="0" marL="0">
              <a:buNone/>
            </a:pPr>
            <a:r>
              <a:rPr lang="en-US" sz="900" dirty="0">
                <a:solidFill>
                  <a:srgbClr val="8C9BB8"/>
                </a:solidFill>
                <a:latin typeface="Segoe UI" pitchFamily="34" charset="0"/>
                <a:ea typeface="Segoe UI" pitchFamily="34" charset="-122"/>
                <a:cs typeface="Segoe UI" pitchFamily="34" charset="-120"/>
              </a:rPr>
              <a:t>EC8208 Software Architecture  ·  University of Ruhuna</a:t>
            </a:r>
            <a:endParaRPr lang="en-US" sz="900" dirty="0"/>
          </a:p>
        </p:txBody>
      </p:sp>
      <p:sp>
        <p:nvSpPr>
          <p:cNvPr id="6" name="Text 3"/>
          <p:cNvSpPr txBox="1"/>
          <p:nvPr/>
        </p:nvSpPr>
        <p:spPr>
          <a:xfrm>
            <a:off x="6766560" y="4754880"/>
            <a:ext cx="1828800" cy="228600"/>
          </a:xfrm>
          <a:prstGeom prst="rect">
            <a:avLst/>
          </a:prstGeom>
          <a:noFill/>
          <a:ln/>
        </p:spPr>
        <p:txBody>
          <a:bodyPr wrap="square" lIns="0" tIns="0" rIns="0" bIns="0" rtlCol="0" anchor="ctr"/>
          <a:lstStyle/>
          <a:p>
            <a:pPr algn="r" indent="0" marL="0">
              <a:buNone/>
            </a:pPr>
            <a:r>
              <a:rPr lang="en-US" sz="900" dirty="0">
                <a:solidFill>
                  <a:srgbClr val="8C9BB8"/>
                </a:solidFill>
                <a:latin typeface="Segoe UI" pitchFamily="34" charset="0"/>
                <a:ea typeface="Segoe UI" pitchFamily="34" charset="-122"/>
                <a:cs typeface="Segoe UI" pitchFamily="34" charset="-120"/>
              </a:rPr>
              <a:t>07  ·  3:05–3:45</a:t>
            </a:r>
            <a:endParaRPr lang="en-US" sz="900" dirty="0"/>
          </a:p>
        </p:txBody>
      </p:sp>
      <p:sp>
        <p:nvSpPr>
          <p:cNvPr id="7" name="Shape 4"/>
          <p:cNvSpPr/>
          <p:nvPr/>
        </p:nvSpPr>
        <p:spPr>
          <a:xfrm>
            <a:off x="548640" y="1600200"/>
            <a:ext cx="1805940" cy="914400"/>
          </a:xfrm>
          <a:prstGeom prst="roundRect">
            <a:avLst>
              <a:gd name="adj" fmla="val 8000"/>
            </a:avLst>
          </a:prstGeom>
          <a:solidFill>
            <a:srgbClr val="22D3EE"/>
          </a:solidFill>
          <a:ln w="9525">
            <a:solidFill>
              <a:srgbClr val="22D3EE"/>
            </a:solidFill>
            <a:prstDash val="solid"/>
          </a:ln>
        </p:spPr>
      </p:sp>
      <p:sp>
        <p:nvSpPr>
          <p:cNvPr id="8" name="Text 5"/>
          <p:cNvSpPr txBox="1"/>
          <p:nvPr/>
        </p:nvSpPr>
        <p:spPr>
          <a:xfrm>
            <a:off x="548640" y="1664208"/>
            <a:ext cx="1805940" cy="457200"/>
          </a:xfrm>
          <a:prstGeom prst="rect">
            <a:avLst/>
          </a:prstGeom>
          <a:noFill/>
          <a:ln/>
        </p:spPr>
        <p:txBody>
          <a:bodyPr wrap="square" lIns="0" tIns="0" rIns="0" bIns="0" rtlCol="0" anchor="ctr"/>
          <a:lstStyle/>
          <a:p>
            <a:pPr algn="ctr" indent="0" marL="0">
              <a:buNone/>
            </a:pPr>
            <a:r>
              <a:rPr lang="en-US" sz="1500" dirty="0">
                <a:solidFill>
                  <a:srgbClr val="0A1020"/>
                </a:solidFill>
                <a:latin typeface="Segoe UI Semibold" pitchFamily="34" charset="0"/>
                <a:ea typeface="Segoe UI Semibold" pitchFamily="34" charset="-122"/>
                <a:cs typeface="Segoe UI Semibold" pitchFamily="34" charset="-120"/>
              </a:rPr>
              <a:t>Source APIs</a:t>
            </a:r>
            <a:endParaRPr lang="en-US" sz="1500" dirty="0"/>
          </a:p>
        </p:txBody>
      </p:sp>
      <p:sp>
        <p:nvSpPr>
          <p:cNvPr id="9" name="Text 6"/>
          <p:cNvSpPr txBox="1"/>
          <p:nvPr/>
        </p:nvSpPr>
        <p:spPr>
          <a:xfrm>
            <a:off x="548640" y="2084832"/>
            <a:ext cx="1805940" cy="320040"/>
          </a:xfrm>
          <a:prstGeom prst="rect">
            <a:avLst/>
          </a:prstGeom>
          <a:noFill/>
          <a:ln/>
        </p:spPr>
        <p:txBody>
          <a:bodyPr wrap="square" lIns="0" tIns="0" rIns="0" bIns="0" rtlCol="0" anchor="ctr"/>
          <a:lstStyle/>
          <a:p>
            <a:pPr algn="ctr" indent="0" marL="0">
              <a:buNone/>
            </a:pPr>
            <a:r>
              <a:rPr lang="en-US" sz="1100" dirty="0">
                <a:solidFill>
                  <a:srgbClr val="0A1020"/>
                </a:solidFill>
                <a:latin typeface="Segoe UI" pitchFamily="34" charset="0"/>
                <a:ea typeface="Segoe UI" pitchFamily="34" charset="-122"/>
                <a:cs typeface="Segoe UI" pitchFamily="34" charset="-120"/>
              </a:rPr>
              <a:t>REST only</a:t>
            </a:r>
            <a:endParaRPr lang="en-US" sz="1100" dirty="0"/>
          </a:p>
        </p:txBody>
      </p:sp>
      <p:sp>
        <p:nvSpPr>
          <p:cNvPr id="10" name="Text 7"/>
          <p:cNvSpPr txBox="1"/>
          <p:nvPr/>
        </p:nvSpPr>
        <p:spPr>
          <a:xfrm>
            <a:off x="235458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1" name="Shape 8"/>
          <p:cNvSpPr/>
          <p:nvPr/>
        </p:nvSpPr>
        <p:spPr>
          <a:xfrm>
            <a:off x="2628900" y="1600200"/>
            <a:ext cx="1805940" cy="914400"/>
          </a:xfrm>
          <a:prstGeom prst="roundRect">
            <a:avLst>
              <a:gd name="adj" fmla="val 8000"/>
            </a:avLst>
          </a:prstGeom>
          <a:solidFill>
            <a:srgbClr val="121B33"/>
          </a:solidFill>
          <a:ln w="9525">
            <a:solidFill>
              <a:srgbClr val="24314F"/>
            </a:solidFill>
            <a:prstDash val="solid"/>
          </a:ln>
        </p:spPr>
      </p:sp>
      <p:sp>
        <p:nvSpPr>
          <p:cNvPr id="12" name="Text 9"/>
          <p:cNvSpPr txBox="1"/>
          <p:nvPr/>
        </p:nvSpPr>
        <p:spPr>
          <a:xfrm>
            <a:off x="262890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Calculation</a:t>
            </a:r>
            <a:endParaRPr lang="en-US" sz="1500" dirty="0"/>
          </a:p>
        </p:txBody>
      </p:sp>
      <p:sp>
        <p:nvSpPr>
          <p:cNvPr id="13" name="Text 10"/>
          <p:cNvSpPr txBox="1"/>
          <p:nvPr/>
        </p:nvSpPr>
        <p:spPr>
          <a:xfrm>
            <a:off x="262890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power to kWh</a:t>
            </a:r>
            <a:endParaRPr lang="en-US" sz="1100" dirty="0"/>
          </a:p>
        </p:txBody>
      </p:sp>
      <p:sp>
        <p:nvSpPr>
          <p:cNvPr id="14" name="Text 11"/>
          <p:cNvSpPr txBox="1"/>
          <p:nvPr/>
        </p:nvSpPr>
        <p:spPr>
          <a:xfrm>
            <a:off x="443484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5" name="Shape 12"/>
          <p:cNvSpPr/>
          <p:nvPr/>
        </p:nvSpPr>
        <p:spPr>
          <a:xfrm>
            <a:off x="4709160" y="1600200"/>
            <a:ext cx="1805940" cy="914400"/>
          </a:xfrm>
          <a:prstGeom prst="roundRect">
            <a:avLst>
              <a:gd name="adj" fmla="val 8000"/>
            </a:avLst>
          </a:prstGeom>
          <a:solidFill>
            <a:srgbClr val="121B33"/>
          </a:solidFill>
          <a:ln w="9525">
            <a:solidFill>
              <a:srgbClr val="24314F"/>
            </a:solidFill>
            <a:prstDash val="solid"/>
          </a:ln>
        </p:spPr>
      </p:sp>
      <p:sp>
        <p:nvSpPr>
          <p:cNvPr id="16" name="Text 13"/>
          <p:cNvSpPr txBox="1"/>
          <p:nvPr/>
        </p:nvSpPr>
        <p:spPr>
          <a:xfrm>
            <a:off x="470916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Reports</a:t>
            </a:r>
            <a:endParaRPr lang="en-US" sz="1500" dirty="0"/>
          </a:p>
        </p:txBody>
      </p:sp>
      <p:sp>
        <p:nvSpPr>
          <p:cNvPr id="17" name="Text 14"/>
          <p:cNvSpPr txBox="1"/>
          <p:nvPr/>
        </p:nvSpPr>
        <p:spPr>
          <a:xfrm>
            <a:off x="470916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stored</a:t>
            </a:r>
            <a:endParaRPr lang="en-US" sz="1100" dirty="0"/>
          </a:p>
        </p:txBody>
      </p:sp>
      <p:sp>
        <p:nvSpPr>
          <p:cNvPr id="18" name="Text 15"/>
          <p:cNvSpPr txBox="1"/>
          <p:nvPr/>
        </p:nvSpPr>
        <p:spPr>
          <a:xfrm>
            <a:off x="6515100" y="1783080"/>
            <a:ext cx="274320" cy="54864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Semibold" pitchFamily="34" charset="0"/>
                <a:ea typeface="Segoe UI Semibold" pitchFamily="34" charset="-122"/>
                <a:cs typeface="Segoe UI Semibold" pitchFamily="34" charset="-120"/>
              </a:rPr>
              <a:t>›</a:t>
            </a:r>
            <a:endParaRPr lang="en-US" sz="2400" dirty="0"/>
          </a:p>
        </p:txBody>
      </p:sp>
      <p:sp>
        <p:nvSpPr>
          <p:cNvPr id="19" name="Shape 16"/>
          <p:cNvSpPr/>
          <p:nvPr/>
        </p:nvSpPr>
        <p:spPr>
          <a:xfrm>
            <a:off x="6789420" y="1600200"/>
            <a:ext cx="1805940" cy="914400"/>
          </a:xfrm>
          <a:prstGeom prst="roundRect">
            <a:avLst>
              <a:gd name="adj" fmla="val 8000"/>
            </a:avLst>
          </a:prstGeom>
          <a:solidFill>
            <a:srgbClr val="121B33"/>
          </a:solidFill>
          <a:ln w="9525">
            <a:solidFill>
              <a:srgbClr val="24314F"/>
            </a:solidFill>
            <a:prstDash val="solid"/>
          </a:ln>
        </p:spPr>
      </p:sp>
      <p:sp>
        <p:nvSpPr>
          <p:cNvPr id="20" name="Text 17"/>
          <p:cNvSpPr txBox="1"/>
          <p:nvPr/>
        </p:nvSpPr>
        <p:spPr>
          <a:xfrm>
            <a:off x="6789420" y="1664208"/>
            <a:ext cx="1805940" cy="457200"/>
          </a:xfrm>
          <a:prstGeom prst="rect">
            <a:avLst/>
          </a:prstGeom>
          <a:noFill/>
          <a:ln/>
        </p:spPr>
        <p:txBody>
          <a:bodyPr wrap="square" lIns="0" tIns="0" rIns="0" bIns="0" rtlCol="0" anchor="ctr"/>
          <a:lstStyle/>
          <a:p>
            <a:pPr algn="ctr" indent="0" marL="0">
              <a:buNone/>
            </a:pPr>
            <a:r>
              <a:rPr lang="en-US" sz="1500" dirty="0">
                <a:solidFill>
                  <a:srgbClr val="F1F5FB"/>
                </a:solidFill>
                <a:latin typeface="Segoe UI Semibold" pitchFamily="34" charset="0"/>
                <a:ea typeface="Segoe UI Semibold" pitchFamily="34" charset="-122"/>
                <a:cs typeface="Segoe UI Semibold" pitchFamily="34" charset="-120"/>
              </a:rPr>
              <a:t>CSV</a:t>
            </a:r>
            <a:endParaRPr lang="en-US" sz="1500" dirty="0"/>
          </a:p>
        </p:txBody>
      </p:sp>
      <p:sp>
        <p:nvSpPr>
          <p:cNvPr id="21" name="Text 18"/>
          <p:cNvSpPr txBox="1"/>
          <p:nvPr/>
        </p:nvSpPr>
        <p:spPr>
          <a:xfrm>
            <a:off x="6789420" y="2084832"/>
            <a:ext cx="1805940" cy="320040"/>
          </a:xfrm>
          <a:prstGeom prst="rect">
            <a:avLst/>
          </a:prstGeom>
          <a:noFill/>
          <a:ln/>
        </p:spPr>
        <p:txBody>
          <a:bodyPr wrap="square" lIns="0" tIns="0" rIns="0" bIns="0" rtlCol="0" anchor="ctr"/>
          <a:lstStyle/>
          <a:p>
            <a:pPr algn="ctr" indent="0" marL="0">
              <a:buNone/>
            </a:pPr>
            <a:r>
              <a:rPr lang="en-US" sz="1100" dirty="0">
                <a:solidFill>
                  <a:srgbClr val="8C9BB8"/>
                </a:solidFill>
                <a:latin typeface="Segoe UI" pitchFamily="34" charset="0"/>
                <a:ea typeface="Segoe UI" pitchFamily="34" charset="-122"/>
                <a:cs typeface="Segoe UI" pitchFamily="34" charset="-120"/>
              </a:rPr>
              <a:t>export</a:t>
            </a:r>
            <a:endParaRPr lang="en-US" sz="1100" dirty="0"/>
          </a:p>
        </p:txBody>
      </p:sp>
      <p:sp>
        <p:nvSpPr>
          <p:cNvPr id="22" name="Shape 19"/>
          <p:cNvSpPr/>
          <p:nvPr/>
        </p:nvSpPr>
        <p:spPr>
          <a:xfrm>
            <a:off x="548640" y="2926080"/>
            <a:ext cx="2499360" cy="0"/>
          </a:xfrm>
          <a:prstGeom prst="line">
            <a:avLst/>
          </a:prstGeom>
          <a:noFill/>
          <a:ln w="12700">
            <a:solidFill>
              <a:srgbClr val="24314F"/>
            </a:solidFill>
            <a:prstDash val="solid"/>
          </a:ln>
        </p:spPr>
      </p:sp>
      <p:sp>
        <p:nvSpPr>
          <p:cNvPr id="23" name="Text 20"/>
          <p:cNvSpPr txBox="1"/>
          <p:nvPr/>
        </p:nvSpPr>
        <p:spPr>
          <a:xfrm>
            <a:off x="54864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kWh</a:t>
            </a:r>
            <a:endParaRPr lang="en-US" sz="3200" dirty="0"/>
          </a:p>
        </p:txBody>
      </p:sp>
      <p:sp>
        <p:nvSpPr>
          <p:cNvPr id="24" name="Text 21"/>
          <p:cNvSpPr txBox="1"/>
          <p:nvPr/>
        </p:nvSpPr>
        <p:spPr>
          <a:xfrm>
            <a:off x="54864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integrated from power</a:t>
            </a:r>
            <a:endParaRPr lang="en-US" sz="1200" dirty="0"/>
          </a:p>
        </p:txBody>
      </p:sp>
      <p:sp>
        <p:nvSpPr>
          <p:cNvPr id="25" name="Shape 22"/>
          <p:cNvSpPr/>
          <p:nvPr/>
        </p:nvSpPr>
        <p:spPr>
          <a:xfrm>
            <a:off x="3322320" y="2926080"/>
            <a:ext cx="2499360" cy="0"/>
          </a:xfrm>
          <a:prstGeom prst="line">
            <a:avLst/>
          </a:prstGeom>
          <a:noFill/>
          <a:ln w="12700">
            <a:solidFill>
              <a:srgbClr val="24314F"/>
            </a:solidFill>
            <a:prstDash val="solid"/>
          </a:ln>
        </p:spPr>
      </p:sp>
      <p:sp>
        <p:nvSpPr>
          <p:cNvPr id="26" name="Text 23"/>
          <p:cNvSpPr txBox="1"/>
          <p:nvPr/>
        </p:nvSpPr>
        <p:spPr>
          <a:xfrm>
            <a:off x="332232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6</a:t>
            </a:r>
            <a:endParaRPr lang="en-US" sz="3200" dirty="0"/>
          </a:p>
        </p:txBody>
      </p:sp>
      <p:sp>
        <p:nvSpPr>
          <p:cNvPr id="27" name="Text 24"/>
          <p:cNvSpPr txBox="1"/>
          <p:nvPr/>
        </p:nvSpPr>
        <p:spPr>
          <a:xfrm>
            <a:off x="332232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KPIs with targets</a:t>
            </a:r>
            <a:endParaRPr lang="en-US" sz="1200" dirty="0"/>
          </a:p>
        </p:txBody>
      </p:sp>
      <p:sp>
        <p:nvSpPr>
          <p:cNvPr id="28" name="Shape 25"/>
          <p:cNvSpPr/>
          <p:nvPr/>
        </p:nvSpPr>
        <p:spPr>
          <a:xfrm>
            <a:off x="6096000" y="2926080"/>
            <a:ext cx="2499360" cy="0"/>
          </a:xfrm>
          <a:prstGeom prst="line">
            <a:avLst/>
          </a:prstGeom>
          <a:noFill/>
          <a:ln w="12700">
            <a:solidFill>
              <a:srgbClr val="24314F"/>
            </a:solidFill>
            <a:prstDash val="solid"/>
          </a:ln>
        </p:spPr>
      </p:sp>
      <p:sp>
        <p:nvSpPr>
          <p:cNvPr id="29" name="Text 26"/>
          <p:cNvSpPr txBox="1"/>
          <p:nvPr/>
        </p:nvSpPr>
        <p:spPr>
          <a:xfrm>
            <a:off x="6096000" y="3017520"/>
            <a:ext cx="2499360" cy="640080"/>
          </a:xfrm>
          <a:prstGeom prst="rect">
            <a:avLst/>
          </a:prstGeom>
          <a:noFill/>
          <a:ln/>
        </p:spPr>
        <p:txBody>
          <a:bodyPr wrap="square" lIns="0" tIns="0" rIns="0" bIns="0" rtlCol="0" anchor="ctr"/>
          <a:lstStyle/>
          <a:p>
            <a:pPr indent="0" marL="0">
              <a:buNone/>
            </a:pPr>
            <a:r>
              <a:rPr lang="en-US" sz="3200" dirty="0">
                <a:solidFill>
                  <a:srgbClr val="22D3EE"/>
                </a:solidFill>
                <a:latin typeface="Segoe UI Semibold" pitchFamily="34" charset="0"/>
                <a:ea typeface="Segoe UI Semibold" pitchFamily="34" charset="-122"/>
                <a:cs typeface="Segoe UI Semibold" pitchFamily="34" charset="-120"/>
              </a:rPr>
              <a:t>5 + 5</a:t>
            </a:r>
            <a:endParaRPr lang="en-US" sz="3200" dirty="0"/>
          </a:p>
        </p:txBody>
      </p:sp>
      <p:sp>
        <p:nvSpPr>
          <p:cNvPr id="30" name="Text 27"/>
          <p:cNvSpPr txBox="1"/>
          <p:nvPr/>
        </p:nvSpPr>
        <p:spPr>
          <a:xfrm>
            <a:off x="6096000" y="3657600"/>
            <a:ext cx="2499360" cy="320040"/>
          </a:xfrm>
          <a:prstGeom prst="rect">
            <a:avLst/>
          </a:prstGeom>
          <a:noFill/>
          <a:ln/>
        </p:spPr>
        <p:txBody>
          <a:bodyPr wrap="square" lIns="0" tIns="0" rIns="0" bIns="0" rtlCol="0" anchor="t"/>
          <a:lstStyle/>
          <a:p>
            <a:pPr indent="0" marL="0">
              <a:buNone/>
            </a:pPr>
            <a:r>
              <a:rPr lang="en-US" sz="1200" dirty="0">
                <a:solidFill>
                  <a:srgbClr val="8C9BB8"/>
                </a:solidFill>
                <a:latin typeface="Segoe UI" pitchFamily="34" charset="0"/>
                <a:ea typeface="Segoe UI" pitchFamily="34" charset="-122"/>
                <a:cs typeface="Segoe UI" pitchFamily="34" charset="-120"/>
              </a:rPr>
              <a:t>energy and performance reports</a:t>
            </a:r>
            <a:endParaRPr lang="en-US" sz="1200" dirty="0"/>
          </a:p>
        </p:txBody>
      </p:sp>
      <p:sp>
        <p:nvSpPr>
          <p:cNvPr id="31" name="Shape 28"/>
          <p:cNvSpPr/>
          <p:nvPr/>
        </p:nvSpPr>
        <p:spPr>
          <a:xfrm>
            <a:off x="548640" y="4315968"/>
            <a:ext cx="4206240" cy="329184"/>
          </a:xfrm>
          <a:prstGeom prst="roundRect">
            <a:avLst>
              <a:gd name="adj" fmla="val 50000"/>
            </a:avLst>
          </a:prstGeom>
          <a:solidFill>
            <a:srgbClr val="121B33"/>
          </a:solidFill>
          <a:ln w="9525">
            <a:solidFill>
              <a:srgbClr val="22D3EE"/>
            </a:solidFill>
            <a:prstDash val="solid"/>
          </a:ln>
        </p:spPr>
      </p:sp>
      <p:sp>
        <p:nvSpPr>
          <p:cNvPr id="32" name="Text 29"/>
          <p:cNvSpPr txBox="1"/>
          <p:nvPr/>
        </p:nvSpPr>
        <p:spPr>
          <a:xfrm>
            <a:off x="713232" y="4315968"/>
            <a:ext cx="4023360" cy="329184"/>
          </a:xfrm>
          <a:prstGeom prst="rect">
            <a:avLst/>
          </a:prstGeom>
          <a:noFill/>
          <a:ln/>
        </p:spPr>
        <p:txBody>
          <a:bodyPr wrap="square" lIns="0" tIns="0" rIns="0" bIns="0"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LIVE  </a:t>
            </a:r>
            <a:pPr indent="0" marL="0">
              <a:buNone/>
            </a:pPr>
            <a:r>
              <a:rPr lang="en-US" sz="1100" dirty="0">
                <a:solidFill>
                  <a:srgbClr val="F1F5FB"/>
                </a:solidFill>
                <a:latin typeface="Segoe UI" pitchFamily="34" charset="0"/>
                <a:ea typeface="Segoe UI" pitchFamily="34" charset="-122"/>
                <a:cs typeface="Segoe UI" pitchFamily="34" charset="-120"/>
              </a:rPr>
              <a:t>Analytics page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548640" y="365760"/>
            <a:ext cx="6400800" cy="274320"/>
          </a:xfrm>
          <a:prstGeom prst="rect">
            <a:avLst/>
          </a:prstGeom>
          <a:noFill/>
          <a:ln/>
        </p:spPr>
        <p:txBody>
          <a:bodyPr wrap="square" lIns="0" tIns="0" rIns="0" bIns="0" rtlCol="0" anchor="ctr"/>
          <a:lstStyle/>
          <a:p>
            <a:pPr indent="0" marL="0">
              <a:buNone/>
            </a:pPr>
            <a:r>
              <a:rPr lang="en-US" sz="1100" spc="400" kern="0" dirty="0">
                <a:solidFill>
                  <a:srgbClr val="22D3EE"/>
                </a:solidFill>
                <a:latin typeface="Segoe UI Semibold" pitchFamily="34" charset="0"/>
                <a:ea typeface="Segoe UI Semibold" pitchFamily="34" charset="-122"/>
                <a:cs typeface="Segoe UI Semibold" pitchFamily="34" charset="-120"/>
              </a:rPr>
              <a:t>08 · CHARITH · SECURITY</a:t>
            </a:r>
            <a:endParaRPr lang="en-US" sz="1100" dirty="0"/>
          </a:p>
        </p:txBody>
      </p:sp>
      <p:sp>
        <p:nvSpPr>
          <p:cNvPr id="4"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dirty="0">
                <a:solidFill>
                  <a:srgbClr val="F1F5FB"/>
                </a:solidFill>
                <a:latin typeface="Segoe UI Semibold" pitchFamily="34" charset="0"/>
                <a:ea typeface="Segoe UI Semibold" pitchFamily="34" charset="-122"/>
                <a:cs typeface="Segoe UI Semibold" pitchFamily="34" charset="-120"/>
              </a:rPr>
              <a:t>Five roles, enforced at the gateway</a:t>
            </a:r>
            <a:endParaRPr lang="en-US" sz="3000" dirty="0"/>
          </a:p>
        </p:txBody>
      </p:sp>
      <p:sp>
        <p:nvSpPr>
          <p:cNvPr id="5" name="Text 2"/>
          <p:cNvSpPr txBox="1"/>
          <p:nvPr/>
        </p:nvSpPr>
        <p:spPr>
          <a:xfrm>
            <a:off x="548640" y="4754880"/>
            <a:ext cx="5486400" cy="228600"/>
          </a:xfrm>
          <a:prstGeom prst="rect">
            <a:avLst/>
          </a:prstGeom>
          <a:noFill/>
          <a:ln/>
        </p:spPr>
        <p:txBody>
          <a:bodyPr wrap="square" lIns="0" tIns="0" rIns="0" bIns="0" rtlCol="0" anchor="ctr"/>
          <a:lstStyle/>
          <a:p>
            <a:pPr indent="0" marL="0">
              <a:buNone/>
            </a:pPr>
            <a:r>
              <a:rPr lang="en-US" sz="900" dirty="0">
                <a:solidFill>
                  <a:srgbClr val="8C9BB8"/>
                </a:solidFill>
                <a:latin typeface="Segoe UI" pitchFamily="34" charset="0"/>
                <a:ea typeface="Segoe UI" pitchFamily="34" charset="-122"/>
                <a:cs typeface="Segoe UI" pitchFamily="34" charset="-120"/>
              </a:rPr>
              <a:t>EC8208 Software Architecture  ·  University of Ruhuna</a:t>
            </a:r>
            <a:endParaRPr lang="en-US" sz="900" dirty="0"/>
          </a:p>
        </p:txBody>
      </p:sp>
      <p:sp>
        <p:nvSpPr>
          <p:cNvPr id="6" name="Text 3"/>
          <p:cNvSpPr txBox="1"/>
          <p:nvPr/>
        </p:nvSpPr>
        <p:spPr>
          <a:xfrm>
            <a:off x="6766560" y="4754880"/>
            <a:ext cx="1828800" cy="228600"/>
          </a:xfrm>
          <a:prstGeom prst="rect">
            <a:avLst/>
          </a:prstGeom>
          <a:noFill/>
          <a:ln/>
        </p:spPr>
        <p:txBody>
          <a:bodyPr wrap="square" lIns="0" tIns="0" rIns="0" bIns="0" rtlCol="0" anchor="ctr"/>
          <a:lstStyle/>
          <a:p>
            <a:pPr algn="r" indent="0" marL="0">
              <a:buNone/>
            </a:pPr>
            <a:r>
              <a:rPr lang="en-US" sz="900" dirty="0">
                <a:solidFill>
                  <a:srgbClr val="8C9BB8"/>
                </a:solidFill>
                <a:latin typeface="Segoe UI" pitchFamily="34" charset="0"/>
                <a:ea typeface="Segoe UI" pitchFamily="34" charset="-122"/>
                <a:cs typeface="Segoe UI" pitchFamily="34" charset="-120"/>
              </a:rPr>
              <a:t>08  ·  3:45–4:15</a:t>
            </a:r>
            <a:endParaRPr lang="en-US" sz="900" dirty="0"/>
          </a:p>
        </p:txBody>
      </p:sp>
      <p:sp>
        <p:nvSpPr>
          <p:cNvPr id="7" name="Shape 4"/>
          <p:cNvSpPr/>
          <p:nvPr/>
        </p:nvSpPr>
        <p:spPr>
          <a:xfrm>
            <a:off x="548640" y="1554480"/>
            <a:ext cx="8046720" cy="384048"/>
          </a:xfrm>
          <a:prstGeom prst="roundRect">
            <a:avLst>
              <a:gd name="adj" fmla="val 14286"/>
            </a:avLst>
          </a:prstGeom>
          <a:solidFill>
            <a:srgbClr val="121B33"/>
          </a:solidFill>
          <a:ln w="9525">
            <a:solidFill>
              <a:srgbClr val="24314F"/>
            </a:solidFill>
            <a:prstDash val="solid"/>
          </a:ln>
        </p:spPr>
      </p:sp>
      <p:sp>
        <p:nvSpPr>
          <p:cNvPr id="8" name="Text 5"/>
          <p:cNvSpPr txBox="1"/>
          <p:nvPr/>
        </p:nvSpPr>
        <p:spPr>
          <a:xfrm>
            <a:off x="731520" y="1554480"/>
            <a:ext cx="2743200" cy="384048"/>
          </a:xfrm>
          <a:prstGeom prst="rect">
            <a:avLst/>
          </a:prstGeom>
          <a:noFill/>
          <a:ln/>
        </p:spPr>
        <p:txBody>
          <a:bodyPr wrap="square" lIns="0" tIns="0" rIns="0" bIns="0" rtlCol="0" anchor="ctr"/>
          <a:lstStyle/>
          <a:p>
            <a:pPr indent="0" marL="0">
              <a:buNone/>
            </a:pPr>
            <a:r>
              <a:rPr lang="en-US" sz="1300" dirty="0">
                <a:solidFill>
                  <a:srgbClr val="22D3EE"/>
                </a:solidFill>
                <a:latin typeface="Segoe UI Semibold" pitchFamily="34" charset="0"/>
                <a:ea typeface="Segoe UI Semibold" pitchFamily="34" charset="-122"/>
                <a:cs typeface="Segoe UI Semibold" pitchFamily="34" charset="-120"/>
              </a:rPr>
              <a:t>Administrator</a:t>
            </a:r>
            <a:endParaRPr lang="en-US" sz="1300" dirty="0"/>
          </a:p>
        </p:txBody>
      </p:sp>
      <p:sp>
        <p:nvSpPr>
          <p:cNvPr id="9" name="Text 6"/>
          <p:cNvSpPr txBox="1"/>
          <p:nvPr/>
        </p:nvSpPr>
        <p:spPr>
          <a:xfrm>
            <a:off x="3566160" y="1554480"/>
            <a:ext cx="4937760" cy="384048"/>
          </a:xfrm>
          <a:prstGeom prst="rect">
            <a:avLst/>
          </a:prstGeom>
          <a:noFill/>
          <a:ln/>
        </p:spPr>
        <p:txBody>
          <a:bodyPr wrap="square" lIns="0" tIns="0" rIns="0" bIns="0" rtlCol="0" anchor="ctr"/>
          <a:lstStyle/>
          <a:p>
            <a:pPr indent="0" marL="0">
              <a:buNone/>
            </a:pPr>
            <a:r>
              <a:rPr lang="en-US" sz="1300" dirty="0">
                <a:solidFill>
                  <a:srgbClr val="F1F5FB"/>
                </a:solidFill>
                <a:latin typeface="Segoe UI" pitchFamily="34" charset="0"/>
                <a:ea typeface="Segoe UI" pitchFamily="34" charset="-122"/>
                <a:cs typeface="Segoe UI" pitchFamily="34" charset="-120"/>
              </a:rPr>
              <a:t>Everything, users and audit log</a:t>
            </a:r>
            <a:endParaRPr lang="en-US" sz="1300" dirty="0"/>
          </a:p>
        </p:txBody>
      </p:sp>
      <p:sp>
        <p:nvSpPr>
          <p:cNvPr id="10" name="Shape 7"/>
          <p:cNvSpPr/>
          <p:nvPr/>
        </p:nvSpPr>
        <p:spPr>
          <a:xfrm>
            <a:off x="548640" y="2011680"/>
            <a:ext cx="8046720" cy="384048"/>
          </a:xfrm>
          <a:prstGeom prst="roundRect">
            <a:avLst>
              <a:gd name="adj" fmla="val 14286"/>
            </a:avLst>
          </a:prstGeom>
          <a:solidFill>
            <a:srgbClr val="121B33"/>
          </a:solidFill>
          <a:ln w="9525">
            <a:solidFill>
              <a:srgbClr val="24314F"/>
            </a:solidFill>
            <a:prstDash val="solid"/>
          </a:ln>
        </p:spPr>
      </p:sp>
      <p:sp>
        <p:nvSpPr>
          <p:cNvPr id="11" name="Text 8"/>
          <p:cNvSpPr txBox="1"/>
          <p:nvPr/>
        </p:nvSpPr>
        <p:spPr>
          <a:xfrm>
            <a:off x="731520" y="2011680"/>
            <a:ext cx="2743200" cy="384048"/>
          </a:xfrm>
          <a:prstGeom prst="rect">
            <a:avLst/>
          </a:prstGeom>
          <a:noFill/>
          <a:ln/>
        </p:spPr>
        <p:txBody>
          <a:bodyPr wrap="square" lIns="0" tIns="0" rIns="0" bIns="0" rtlCol="0" anchor="ctr"/>
          <a:lstStyle/>
          <a:p>
            <a:pPr indent="0" marL="0">
              <a:buNone/>
            </a:pPr>
            <a:r>
              <a:rPr lang="en-US" sz="1300" dirty="0">
                <a:solidFill>
                  <a:srgbClr val="22D3EE"/>
                </a:solidFill>
                <a:latin typeface="Segoe UI Semibold" pitchFamily="34" charset="0"/>
                <a:ea typeface="Segoe UI Semibold" pitchFamily="34" charset="-122"/>
                <a:cs typeface="Segoe UI Semibold" pitchFamily="34" charset="-120"/>
              </a:rPr>
              <a:t>Operations Manager</a:t>
            </a:r>
            <a:endParaRPr lang="en-US" sz="1300" dirty="0"/>
          </a:p>
        </p:txBody>
      </p:sp>
      <p:sp>
        <p:nvSpPr>
          <p:cNvPr id="12" name="Text 9"/>
          <p:cNvSpPr txBox="1"/>
          <p:nvPr/>
        </p:nvSpPr>
        <p:spPr>
          <a:xfrm>
            <a:off x="3566160" y="2011680"/>
            <a:ext cx="4937760" cy="384048"/>
          </a:xfrm>
          <a:prstGeom prst="rect">
            <a:avLst/>
          </a:prstGeom>
          <a:noFill/>
          <a:ln/>
        </p:spPr>
        <p:txBody>
          <a:bodyPr wrap="square" lIns="0" tIns="0" rIns="0" bIns="0" rtlCol="0" anchor="ctr"/>
          <a:lstStyle/>
          <a:p>
            <a:pPr indent="0" marL="0">
              <a:buNone/>
            </a:pPr>
            <a:r>
              <a:rPr lang="en-US" sz="1300" dirty="0">
                <a:solidFill>
                  <a:srgbClr val="F1F5FB"/>
                </a:solidFill>
                <a:latin typeface="Segoe UI" pitchFamily="34" charset="0"/>
                <a:ea typeface="Segoe UI" pitchFamily="34" charset="-122"/>
                <a:cs typeface="Segoe UI" pitchFamily="34" charset="-120"/>
              </a:rPr>
              <a:t>Assets, rules, work orders, reports</a:t>
            </a:r>
            <a:endParaRPr lang="en-US" sz="1300" dirty="0"/>
          </a:p>
        </p:txBody>
      </p:sp>
      <p:sp>
        <p:nvSpPr>
          <p:cNvPr id="13" name="Shape 10"/>
          <p:cNvSpPr/>
          <p:nvPr/>
        </p:nvSpPr>
        <p:spPr>
          <a:xfrm>
            <a:off x="548640" y="2468880"/>
            <a:ext cx="8046720" cy="384048"/>
          </a:xfrm>
          <a:prstGeom prst="roundRect">
            <a:avLst>
              <a:gd name="adj" fmla="val 14286"/>
            </a:avLst>
          </a:prstGeom>
          <a:solidFill>
            <a:srgbClr val="121B33"/>
          </a:solidFill>
          <a:ln w="9525">
            <a:solidFill>
              <a:srgbClr val="24314F"/>
            </a:solidFill>
            <a:prstDash val="solid"/>
          </a:ln>
        </p:spPr>
      </p:sp>
      <p:sp>
        <p:nvSpPr>
          <p:cNvPr id="14" name="Text 11"/>
          <p:cNvSpPr txBox="1"/>
          <p:nvPr/>
        </p:nvSpPr>
        <p:spPr>
          <a:xfrm>
            <a:off x="731520" y="2468880"/>
            <a:ext cx="2743200" cy="384048"/>
          </a:xfrm>
          <a:prstGeom prst="rect">
            <a:avLst/>
          </a:prstGeom>
          <a:noFill/>
          <a:ln/>
        </p:spPr>
        <p:txBody>
          <a:bodyPr wrap="square" lIns="0" tIns="0" rIns="0" bIns="0" rtlCol="0" anchor="ctr"/>
          <a:lstStyle/>
          <a:p>
            <a:pPr indent="0" marL="0">
              <a:buNone/>
            </a:pPr>
            <a:r>
              <a:rPr lang="en-US" sz="1300" dirty="0">
                <a:solidFill>
                  <a:srgbClr val="22D3EE"/>
                </a:solidFill>
                <a:latin typeface="Segoe UI Semibold" pitchFamily="34" charset="0"/>
                <a:ea typeface="Segoe UI Semibold" pitchFamily="34" charset="-122"/>
                <a:cs typeface="Segoe UI Semibold" pitchFamily="34" charset="-120"/>
              </a:rPr>
              <a:t>Plant Operator</a:t>
            </a:r>
            <a:endParaRPr lang="en-US" sz="1300" dirty="0"/>
          </a:p>
        </p:txBody>
      </p:sp>
      <p:sp>
        <p:nvSpPr>
          <p:cNvPr id="15" name="Text 12"/>
          <p:cNvSpPr txBox="1"/>
          <p:nvPr/>
        </p:nvSpPr>
        <p:spPr>
          <a:xfrm>
            <a:off x="3566160" y="2468880"/>
            <a:ext cx="4937760" cy="384048"/>
          </a:xfrm>
          <a:prstGeom prst="rect">
            <a:avLst/>
          </a:prstGeom>
          <a:noFill/>
          <a:ln/>
        </p:spPr>
        <p:txBody>
          <a:bodyPr wrap="square" lIns="0" tIns="0" rIns="0" bIns="0" rtlCol="0" anchor="ctr"/>
          <a:lstStyle/>
          <a:p>
            <a:pPr indent="0" marL="0">
              <a:buNone/>
            </a:pPr>
            <a:r>
              <a:rPr lang="en-US" sz="1300" dirty="0">
                <a:solidFill>
                  <a:srgbClr val="F1F5FB"/>
                </a:solidFill>
                <a:latin typeface="Segoe UI" pitchFamily="34" charset="0"/>
                <a:ea typeface="Segoe UI" pitchFamily="34" charset="-122"/>
                <a:cs typeface="Segoe UI" pitchFamily="34" charset="-120"/>
              </a:rPr>
              <a:t>Monitor and handle alerts</a:t>
            </a:r>
            <a:endParaRPr lang="en-US" sz="1300" dirty="0"/>
          </a:p>
        </p:txBody>
      </p:sp>
      <p:sp>
        <p:nvSpPr>
          <p:cNvPr id="16" name="Shape 13"/>
          <p:cNvSpPr/>
          <p:nvPr/>
        </p:nvSpPr>
        <p:spPr>
          <a:xfrm>
            <a:off x="548640" y="2926080"/>
            <a:ext cx="8046720" cy="384048"/>
          </a:xfrm>
          <a:prstGeom prst="roundRect">
            <a:avLst>
              <a:gd name="adj" fmla="val 14286"/>
            </a:avLst>
          </a:prstGeom>
          <a:solidFill>
            <a:srgbClr val="121B33"/>
          </a:solidFill>
          <a:ln w="9525">
            <a:solidFill>
              <a:srgbClr val="24314F"/>
            </a:solidFill>
            <a:prstDash val="solid"/>
          </a:ln>
        </p:spPr>
      </p:sp>
      <p:sp>
        <p:nvSpPr>
          <p:cNvPr id="17" name="Text 14"/>
          <p:cNvSpPr txBox="1"/>
          <p:nvPr/>
        </p:nvSpPr>
        <p:spPr>
          <a:xfrm>
            <a:off x="731520" y="2926080"/>
            <a:ext cx="2743200" cy="384048"/>
          </a:xfrm>
          <a:prstGeom prst="rect">
            <a:avLst/>
          </a:prstGeom>
          <a:noFill/>
          <a:ln/>
        </p:spPr>
        <p:txBody>
          <a:bodyPr wrap="square" lIns="0" tIns="0" rIns="0" bIns="0" rtlCol="0" anchor="ctr"/>
          <a:lstStyle/>
          <a:p>
            <a:pPr indent="0" marL="0">
              <a:buNone/>
            </a:pPr>
            <a:r>
              <a:rPr lang="en-US" sz="1300" dirty="0">
                <a:solidFill>
                  <a:srgbClr val="22D3EE"/>
                </a:solidFill>
                <a:latin typeface="Segoe UI Semibold" pitchFamily="34" charset="0"/>
                <a:ea typeface="Segoe UI Semibold" pitchFamily="34" charset="-122"/>
                <a:cs typeface="Segoe UI Semibold" pitchFamily="34" charset="-120"/>
              </a:rPr>
              <a:t>Maintenance Engineer</a:t>
            </a:r>
            <a:endParaRPr lang="en-US" sz="1300" dirty="0"/>
          </a:p>
        </p:txBody>
      </p:sp>
      <p:sp>
        <p:nvSpPr>
          <p:cNvPr id="18" name="Text 15"/>
          <p:cNvSpPr txBox="1"/>
          <p:nvPr/>
        </p:nvSpPr>
        <p:spPr>
          <a:xfrm>
            <a:off x="3566160" y="2926080"/>
            <a:ext cx="4937760" cy="384048"/>
          </a:xfrm>
          <a:prstGeom prst="rect">
            <a:avLst/>
          </a:prstGeom>
          <a:noFill/>
          <a:ln/>
        </p:spPr>
        <p:txBody>
          <a:bodyPr wrap="square" lIns="0" tIns="0" rIns="0" bIns="0" rtlCol="0" anchor="ctr"/>
          <a:lstStyle/>
          <a:p>
            <a:pPr indent="0" marL="0">
              <a:buNone/>
            </a:pPr>
            <a:r>
              <a:rPr lang="en-US" sz="1300" dirty="0">
                <a:solidFill>
                  <a:srgbClr val="F1F5FB"/>
                </a:solidFill>
                <a:latin typeface="Segoe UI" pitchFamily="34" charset="0"/>
                <a:ea typeface="Segoe UI" pitchFamily="34" charset="-122"/>
                <a:cs typeface="Segoe UI" pitchFamily="34" charset="-120"/>
              </a:rPr>
              <a:t>Assign and complete work orders</a:t>
            </a:r>
            <a:endParaRPr lang="en-US" sz="1300" dirty="0"/>
          </a:p>
        </p:txBody>
      </p:sp>
      <p:sp>
        <p:nvSpPr>
          <p:cNvPr id="19" name="Shape 16"/>
          <p:cNvSpPr/>
          <p:nvPr/>
        </p:nvSpPr>
        <p:spPr>
          <a:xfrm>
            <a:off x="548640" y="3383280"/>
            <a:ext cx="8046720" cy="384048"/>
          </a:xfrm>
          <a:prstGeom prst="roundRect">
            <a:avLst>
              <a:gd name="adj" fmla="val 14286"/>
            </a:avLst>
          </a:prstGeom>
          <a:solidFill>
            <a:srgbClr val="121B33"/>
          </a:solidFill>
          <a:ln w="9525">
            <a:solidFill>
              <a:srgbClr val="24314F"/>
            </a:solidFill>
            <a:prstDash val="solid"/>
          </a:ln>
        </p:spPr>
      </p:sp>
      <p:sp>
        <p:nvSpPr>
          <p:cNvPr id="20" name="Text 17"/>
          <p:cNvSpPr txBox="1"/>
          <p:nvPr/>
        </p:nvSpPr>
        <p:spPr>
          <a:xfrm>
            <a:off x="731520" y="3383280"/>
            <a:ext cx="2743200" cy="384048"/>
          </a:xfrm>
          <a:prstGeom prst="rect">
            <a:avLst/>
          </a:prstGeom>
          <a:noFill/>
          <a:ln/>
        </p:spPr>
        <p:txBody>
          <a:bodyPr wrap="square" lIns="0" tIns="0" rIns="0" bIns="0" rtlCol="0" anchor="ctr"/>
          <a:lstStyle/>
          <a:p>
            <a:pPr indent="0" marL="0">
              <a:buNone/>
            </a:pPr>
            <a:r>
              <a:rPr lang="en-US" sz="1300" dirty="0">
                <a:solidFill>
                  <a:srgbClr val="22D3EE"/>
                </a:solidFill>
                <a:latin typeface="Segoe UI Semibold" pitchFamily="34" charset="0"/>
                <a:ea typeface="Segoe UI Semibold" pitchFamily="34" charset="-122"/>
                <a:cs typeface="Segoe UI Semibold" pitchFamily="34" charset="-120"/>
              </a:rPr>
              <a:t>Executive</a:t>
            </a:r>
            <a:endParaRPr lang="en-US" sz="1300" dirty="0"/>
          </a:p>
        </p:txBody>
      </p:sp>
      <p:sp>
        <p:nvSpPr>
          <p:cNvPr id="21" name="Text 18"/>
          <p:cNvSpPr txBox="1"/>
          <p:nvPr/>
        </p:nvSpPr>
        <p:spPr>
          <a:xfrm>
            <a:off x="3566160" y="3383280"/>
            <a:ext cx="4937760" cy="384048"/>
          </a:xfrm>
          <a:prstGeom prst="rect">
            <a:avLst/>
          </a:prstGeom>
          <a:noFill/>
          <a:ln/>
        </p:spPr>
        <p:txBody>
          <a:bodyPr wrap="square" lIns="0" tIns="0" rIns="0" bIns="0" rtlCol="0" anchor="ctr"/>
          <a:lstStyle/>
          <a:p>
            <a:pPr indent="0" marL="0">
              <a:buNone/>
            </a:pPr>
            <a:r>
              <a:rPr lang="en-US" sz="1300" dirty="0">
                <a:solidFill>
                  <a:srgbClr val="F1F5FB"/>
                </a:solidFill>
                <a:latin typeface="Segoe UI" pitchFamily="34" charset="0"/>
                <a:ea typeface="Segoe UI" pitchFamily="34" charset="-122"/>
                <a:cs typeface="Segoe UI" pitchFamily="34" charset="-120"/>
              </a:rPr>
              <a:t>Read-only dashboards and reports</a:t>
            </a:r>
            <a:endParaRPr lang="en-US" sz="1300" dirty="0"/>
          </a:p>
        </p:txBody>
      </p:sp>
      <p:sp>
        <p:nvSpPr>
          <p:cNvPr id="22" name="Shape 19"/>
          <p:cNvSpPr/>
          <p:nvPr/>
        </p:nvSpPr>
        <p:spPr>
          <a:xfrm>
            <a:off x="548640" y="4315968"/>
            <a:ext cx="4206240" cy="329184"/>
          </a:xfrm>
          <a:prstGeom prst="roundRect">
            <a:avLst>
              <a:gd name="adj" fmla="val 50000"/>
            </a:avLst>
          </a:prstGeom>
          <a:solidFill>
            <a:srgbClr val="121B33"/>
          </a:solidFill>
          <a:ln w="9525">
            <a:solidFill>
              <a:srgbClr val="22D3EE"/>
            </a:solidFill>
            <a:prstDash val="solid"/>
          </a:ln>
        </p:spPr>
      </p:sp>
      <p:sp>
        <p:nvSpPr>
          <p:cNvPr id="23" name="Text 20"/>
          <p:cNvSpPr txBox="1"/>
          <p:nvPr/>
        </p:nvSpPr>
        <p:spPr>
          <a:xfrm>
            <a:off x="713232" y="4315968"/>
            <a:ext cx="4023360" cy="329184"/>
          </a:xfrm>
          <a:prstGeom prst="rect">
            <a:avLst/>
          </a:prstGeom>
          <a:noFill/>
          <a:ln/>
        </p:spPr>
        <p:txBody>
          <a:bodyPr wrap="square" lIns="0" tIns="0" rIns="0" bIns="0"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LIVE  </a:t>
            </a:r>
            <a:pPr indent="0" marL="0">
              <a:buNone/>
            </a:pPr>
            <a:r>
              <a:rPr lang="en-US" sz="1100" dirty="0">
                <a:solidFill>
                  <a:srgbClr val="F1F5FB"/>
                </a:solidFill>
                <a:latin typeface="Segoe UI" pitchFamily="34" charset="0"/>
                <a:ea typeface="Segoe UI" pitchFamily="34" charset="-122"/>
                <a:cs typeface="Segoe UI" pitchFamily="34" charset="-120"/>
              </a:rPr>
              <a:t>executive sign-in, read-only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548640" y="365760"/>
            <a:ext cx="6400800" cy="274320"/>
          </a:xfrm>
          <a:prstGeom prst="rect">
            <a:avLst/>
          </a:prstGeom>
          <a:noFill/>
          <a:ln/>
        </p:spPr>
        <p:txBody>
          <a:bodyPr wrap="square" lIns="0" tIns="0" rIns="0" bIns="0" rtlCol="0" anchor="ctr"/>
          <a:lstStyle/>
          <a:p>
            <a:pPr indent="0" marL="0">
              <a:buNone/>
            </a:pPr>
            <a:r>
              <a:rPr lang="en-US" sz="1100" spc="400" kern="0" dirty="0">
                <a:solidFill>
                  <a:srgbClr val="22D3EE"/>
                </a:solidFill>
                <a:latin typeface="Segoe UI Semibold" pitchFamily="34" charset="0"/>
                <a:ea typeface="Segoe UI Semibold" pitchFamily="34" charset="-122"/>
                <a:cs typeface="Segoe UI Semibold" pitchFamily="34" charset="-120"/>
              </a:rPr>
              <a:t>09 · ALL MEMBERS · OPERATIONS AND QUALITY</a:t>
            </a:r>
            <a:endParaRPr lang="en-US" sz="1100" dirty="0"/>
          </a:p>
        </p:txBody>
      </p:sp>
      <p:sp>
        <p:nvSpPr>
          <p:cNvPr id="4"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dirty="0">
                <a:solidFill>
                  <a:srgbClr val="F1F5FB"/>
                </a:solidFill>
                <a:latin typeface="Segoe UI Semibold" pitchFamily="34" charset="0"/>
                <a:ea typeface="Segoe UI Semibold" pitchFamily="34" charset="-122"/>
                <a:cs typeface="Segoe UI Semibold" pitchFamily="34" charset="-120"/>
              </a:rPr>
              <a:t>Observable, tested, one command to run</a:t>
            </a:r>
            <a:endParaRPr lang="en-US" sz="3000" dirty="0"/>
          </a:p>
        </p:txBody>
      </p:sp>
      <p:sp>
        <p:nvSpPr>
          <p:cNvPr id="5" name="Text 2"/>
          <p:cNvSpPr txBox="1"/>
          <p:nvPr/>
        </p:nvSpPr>
        <p:spPr>
          <a:xfrm>
            <a:off x="548640" y="4754880"/>
            <a:ext cx="5486400" cy="228600"/>
          </a:xfrm>
          <a:prstGeom prst="rect">
            <a:avLst/>
          </a:prstGeom>
          <a:noFill/>
          <a:ln/>
        </p:spPr>
        <p:txBody>
          <a:bodyPr wrap="square" lIns="0" tIns="0" rIns="0" bIns="0" rtlCol="0" anchor="ctr"/>
          <a:lstStyle/>
          <a:p>
            <a:pPr indent="0" marL="0">
              <a:buNone/>
            </a:pPr>
            <a:r>
              <a:rPr lang="en-US" sz="900" dirty="0">
                <a:solidFill>
                  <a:srgbClr val="8C9BB8"/>
                </a:solidFill>
                <a:latin typeface="Segoe UI" pitchFamily="34" charset="0"/>
                <a:ea typeface="Segoe UI" pitchFamily="34" charset="-122"/>
                <a:cs typeface="Segoe UI" pitchFamily="34" charset="-120"/>
              </a:rPr>
              <a:t>EC8208 Software Architecture  ·  University of Ruhuna</a:t>
            </a:r>
            <a:endParaRPr lang="en-US" sz="900" dirty="0"/>
          </a:p>
        </p:txBody>
      </p:sp>
      <p:sp>
        <p:nvSpPr>
          <p:cNvPr id="6" name="Text 3"/>
          <p:cNvSpPr txBox="1"/>
          <p:nvPr/>
        </p:nvSpPr>
        <p:spPr>
          <a:xfrm>
            <a:off x="6766560" y="4754880"/>
            <a:ext cx="1828800" cy="228600"/>
          </a:xfrm>
          <a:prstGeom prst="rect">
            <a:avLst/>
          </a:prstGeom>
          <a:noFill/>
          <a:ln/>
        </p:spPr>
        <p:txBody>
          <a:bodyPr wrap="square" lIns="0" tIns="0" rIns="0" bIns="0" rtlCol="0" anchor="ctr"/>
          <a:lstStyle/>
          <a:p>
            <a:pPr algn="r" indent="0" marL="0">
              <a:buNone/>
            </a:pPr>
            <a:r>
              <a:rPr lang="en-US" sz="900" dirty="0">
                <a:solidFill>
                  <a:srgbClr val="8C9BB8"/>
                </a:solidFill>
                <a:latin typeface="Segoe UI" pitchFamily="34" charset="0"/>
                <a:ea typeface="Segoe UI" pitchFamily="34" charset="-122"/>
                <a:cs typeface="Segoe UI" pitchFamily="34" charset="-120"/>
              </a:rPr>
              <a:t>09  ·  4:15–4:50</a:t>
            </a:r>
            <a:endParaRPr lang="en-US" sz="900" dirty="0"/>
          </a:p>
        </p:txBody>
      </p:sp>
      <p:sp>
        <p:nvSpPr>
          <p:cNvPr id="7" name="Shape 4"/>
          <p:cNvSpPr/>
          <p:nvPr/>
        </p:nvSpPr>
        <p:spPr>
          <a:xfrm>
            <a:off x="548640" y="1828800"/>
            <a:ext cx="1805940" cy="0"/>
          </a:xfrm>
          <a:prstGeom prst="line">
            <a:avLst/>
          </a:prstGeom>
          <a:noFill/>
          <a:ln w="12700">
            <a:solidFill>
              <a:srgbClr val="24314F"/>
            </a:solidFill>
            <a:prstDash val="solid"/>
          </a:ln>
        </p:spPr>
      </p:sp>
      <p:sp>
        <p:nvSpPr>
          <p:cNvPr id="8" name="Text 5"/>
          <p:cNvSpPr txBox="1"/>
          <p:nvPr/>
        </p:nvSpPr>
        <p:spPr>
          <a:xfrm>
            <a:off x="548640" y="1965960"/>
            <a:ext cx="1805940" cy="822960"/>
          </a:xfrm>
          <a:prstGeom prst="rect">
            <a:avLst/>
          </a:prstGeom>
          <a:noFill/>
          <a:ln/>
        </p:spPr>
        <p:txBody>
          <a:bodyPr wrap="square" lIns="0" tIns="0" rIns="0" bIns="0" rtlCol="0" anchor="ctr"/>
          <a:lstStyle/>
          <a:p>
            <a:pPr indent="0" marL="0">
              <a:buNone/>
            </a:pPr>
            <a:r>
              <a:rPr lang="en-US" sz="4600" dirty="0">
                <a:solidFill>
                  <a:srgbClr val="22D3EE"/>
                </a:solidFill>
                <a:latin typeface="Segoe UI Semibold" pitchFamily="34" charset="0"/>
                <a:ea typeface="Segoe UI Semibold" pitchFamily="34" charset="-122"/>
                <a:cs typeface="Segoe UI Semibold" pitchFamily="34" charset="-120"/>
              </a:rPr>
              <a:t>60</a:t>
            </a:r>
            <a:endParaRPr lang="en-US" sz="4600" dirty="0"/>
          </a:p>
        </p:txBody>
      </p:sp>
      <p:sp>
        <p:nvSpPr>
          <p:cNvPr id="9" name="Text 6"/>
          <p:cNvSpPr txBox="1"/>
          <p:nvPr/>
        </p:nvSpPr>
        <p:spPr>
          <a:xfrm>
            <a:off x="548640" y="2834640"/>
            <a:ext cx="1805940" cy="320040"/>
          </a:xfrm>
          <a:prstGeom prst="rect">
            <a:avLst/>
          </a:prstGeom>
          <a:noFill/>
          <a:ln/>
        </p:spPr>
        <p:txBody>
          <a:bodyPr wrap="square" lIns="0" tIns="0" rIns="0" bIns="0" rtlCol="0" anchor="ctr"/>
          <a:lstStyle/>
          <a:p>
            <a:pPr indent="0" marL="0">
              <a:buNone/>
            </a:pPr>
            <a:r>
              <a:rPr lang="en-US" sz="1300" dirty="0">
                <a:solidFill>
                  <a:srgbClr val="8C9BB8"/>
                </a:solidFill>
                <a:latin typeface="Segoe UI" pitchFamily="34" charset="0"/>
                <a:ea typeface="Segoe UI" pitchFamily="34" charset="-122"/>
                <a:cs typeface="Segoe UI" pitchFamily="34" charset="-120"/>
              </a:rPr>
              <a:t>test methods</a:t>
            </a:r>
            <a:endParaRPr lang="en-US" sz="1300" dirty="0"/>
          </a:p>
        </p:txBody>
      </p:sp>
      <p:sp>
        <p:nvSpPr>
          <p:cNvPr id="10" name="Shape 7"/>
          <p:cNvSpPr/>
          <p:nvPr/>
        </p:nvSpPr>
        <p:spPr>
          <a:xfrm>
            <a:off x="2628900" y="1828800"/>
            <a:ext cx="1805940" cy="0"/>
          </a:xfrm>
          <a:prstGeom prst="line">
            <a:avLst/>
          </a:prstGeom>
          <a:noFill/>
          <a:ln w="12700">
            <a:solidFill>
              <a:srgbClr val="24314F"/>
            </a:solidFill>
            <a:prstDash val="solid"/>
          </a:ln>
        </p:spPr>
      </p:sp>
      <p:sp>
        <p:nvSpPr>
          <p:cNvPr id="11" name="Text 8"/>
          <p:cNvSpPr txBox="1"/>
          <p:nvPr/>
        </p:nvSpPr>
        <p:spPr>
          <a:xfrm>
            <a:off x="2628900" y="1965960"/>
            <a:ext cx="1805940" cy="822960"/>
          </a:xfrm>
          <a:prstGeom prst="rect">
            <a:avLst/>
          </a:prstGeom>
          <a:noFill/>
          <a:ln/>
        </p:spPr>
        <p:txBody>
          <a:bodyPr wrap="square" lIns="0" tIns="0" rIns="0" bIns="0" rtlCol="0" anchor="ctr"/>
          <a:lstStyle/>
          <a:p>
            <a:pPr indent="0" marL="0">
              <a:buNone/>
            </a:pPr>
            <a:r>
              <a:rPr lang="en-US" sz="4600" dirty="0">
                <a:solidFill>
                  <a:srgbClr val="22D3EE"/>
                </a:solidFill>
                <a:latin typeface="Segoe UI Semibold" pitchFamily="34" charset="0"/>
                <a:ea typeface="Segoe UI Semibold" pitchFamily="34" charset="-122"/>
                <a:cs typeface="Segoe UI Semibold" pitchFamily="34" charset="-120"/>
              </a:rPr>
              <a:t>7</a:t>
            </a:r>
            <a:endParaRPr lang="en-US" sz="4600" dirty="0"/>
          </a:p>
        </p:txBody>
      </p:sp>
      <p:sp>
        <p:nvSpPr>
          <p:cNvPr id="12" name="Text 9"/>
          <p:cNvSpPr txBox="1"/>
          <p:nvPr/>
        </p:nvSpPr>
        <p:spPr>
          <a:xfrm>
            <a:off x="2628900" y="2834640"/>
            <a:ext cx="1805940" cy="320040"/>
          </a:xfrm>
          <a:prstGeom prst="rect">
            <a:avLst/>
          </a:prstGeom>
          <a:noFill/>
          <a:ln/>
        </p:spPr>
        <p:txBody>
          <a:bodyPr wrap="square" lIns="0" tIns="0" rIns="0" bIns="0" rtlCol="0" anchor="ctr"/>
          <a:lstStyle/>
          <a:p>
            <a:pPr indent="0" marL="0">
              <a:buNone/>
            </a:pPr>
            <a:r>
              <a:rPr lang="en-US" sz="1300" dirty="0">
                <a:solidFill>
                  <a:srgbClr val="8C9BB8"/>
                </a:solidFill>
                <a:latin typeface="Segoe UI" pitchFamily="34" charset="0"/>
                <a:ea typeface="Segoe UI" pitchFamily="34" charset="-122"/>
                <a:cs typeface="Segoe UI" pitchFamily="34" charset="-120"/>
              </a:rPr>
              <a:t>services monitored</a:t>
            </a:r>
            <a:endParaRPr lang="en-US" sz="1300" dirty="0"/>
          </a:p>
        </p:txBody>
      </p:sp>
      <p:sp>
        <p:nvSpPr>
          <p:cNvPr id="13" name="Shape 10"/>
          <p:cNvSpPr/>
          <p:nvPr/>
        </p:nvSpPr>
        <p:spPr>
          <a:xfrm>
            <a:off x="4709160" y="1828800"/>
            <a:ext cx="1805940" cy="0"/>
          </a:xfrm>
          <a:prstGeom prst="line">
            <a:avLst/>
          </a:prstGeom>
          <a:noFill/>
          <a:ln w="12700">
            <a:solidFill>
              <a:srgbClr val="24314F"/>
            </a:solidFill>
            <a:prstDash val="solid"/>
          </a:ln>
        </p:spPr>
      </p:sp>
      <p:sp>
        <p:nvSpPr>
          <p:cNvPr id="14" name="Text 11"/>
          <p:cNvSpPr txBox="1"/>
          <p:nvPr/>
        </p:nvSpPr>
        <p:spPr>
          <a:xfrm>
            <a:off x="4709160" y="1965960"/>
            <a:ext cx="1805940" cy="822960"/>
          </a:xfrm>
          <a:prstGeom prst="rect">
            <a:avLst/>
          </a:prstGeom>
          <a:noFill/>
          <a:ln/>
        </p:spPr>
        <p:txBody>
          <a:bodyPr wrap="square" lIns="0" tIns="0" rIns="0" bIns="0" rtlCol="0" anchor="ctr"/>
          <a:lstStyle/>
          <a:p>
            <a:pPr indent="0" marL="0">
              <a:buNone/>
            </a:pPr>
            <a:r>
              <a:rPr lang="en-US" sz="4600" dirty="0">
                <a:solidFill>
                  <a:srgbClr val="22D3EE"/>
                </a:solidFill>
                <a:latin typeface="Segoe UI Semibold" pitchFamily="34" charset="0"/>
                <a:ea typeface="Segoe UI Semibold" pitchFamily="34" charset="-122"/>
                <a:cs typeface="Segoe UI Semibold" pitchFamily="34" charset="-120"/>
              </a:rPr>
              <a:t>19</a:t>
            </a:r>
            <a:endParaRPr lang="en-US" sz="4600" dirty="0"/>
          </a:p>
        </p:txBody>
      </p:sp>
      <p:sp>
        <p:nvSpPr>
          <p:cNvPr id="15" name="Text 12"/>
          <p:cNvSpPr txBox="1"/>
          <p:nvPr/>
        </p:nvSpPr>
        <p:spPr>
          <a:xfrm>
            <a:off x="4709160" y="2834640"/>
            <a:ext cx="1805940" cy="320040"/>
          </a:xfrm>
          <a:prstGeom prst="rect">
            <a:avLst/>
          </a:prstGeom>
          <a:noFill/>
          <a:ln/>
        </p:spPr>
        <p:txBody>
          <a:bodyPr wrap="square" lIns="0" tIns="0" rIns="0" bIns="0" rtlCol="0" anchor="ctr"/>
          <a:lstStyle/>
          <a:p>
            <a:pPr indent="0" marL="0">
              <a:buNone/>
            </a:pPr>
            <a:r>
              <a:rPr lang="en-US" sz="1300" dirty="0">
                <a:solidFill>
                  <a:srgbClr val="8C9BB8"/>
                </a:solidFill>
                <a:latin typeface="Segoe UI" pitchFamily="34" charset="0"/>
                <a:ea typeface="Segoe UI" pitchFamily="34" charset="-122"/>
                <a:cs typeface="Segoe UI" pitchFamily="34" charset="-120"/>
              </a:rPr>
              <a:t>containers</a:t>
            </a:r>
            <a:endParaRPr lang="en-US" sz="1300" dirty="0"/>
          </a:p>
        </p:txBody>
      </p:sp>
      <p:sp>
        <p:nvSpPr>
          <p:cNvPr id="16" name="Shape 13"/>
          <p:cNvSpPr/>
          <p:nvPr/>
        </p:nvSpPr>
        <p:spPr>
          <a:xfrm>
            <a:off x="6789420" y="1828800"/>
            <a:ext cx="1805940" cy="0"/>
          </a:xfrm>
          <a:prstGeom prst="line">
            <a:avLst/>
          </a:prstGeom>
          <a:noFill/>
          <a:ln w="12700">
            <a:solidFill>
              <a:srgbClr val="24314F"/>
            </a:solidFill>
            <a:prstDash val="solid"/>
          </a:ln>
        </p:spPr>
      </p:sp>
      <p:sp>
        <p:nvSpPr>
          <p:cNvPr id="17" name="Text 14"/>
          <p:cNvSpPr txBox="1"/>
          <p:nvPr/>
        </p:nvSpPr>
        <p:spPr>
          <a:xfrm>
            <a:off x="6789420" y="1965960"/>
            <a:ext cx="1805940" cy="822960"/>
          </a:xfrm>
          <a:prstGeom prst="rect">
            <a:avLst/>
          </a:prstGeom>
          <a:noFill/>
          <a:ln/>
        </p:spPr>
        <p:txBody>
          <a:bodyPr wrap="square" lIns="0" tIns="0" rIns="0" bIns="0" rtlCol="0" anchor="ctr"/>
          <a:lstStyle/>
          <a:p>
            <a:pPr indent="0" marL="0">
              <a:buNone/>
            </a:pPr>
            <a:r>
              <a:rPr lang="en-US" sz="4600" dirty="0">
                <a:solidFill>
                  <a:srgbClr val="A3E635"/>
                </a:solidFill>
                <a:latin typeface="Segoe UI Semibold" pitchFamily="34" charset="0"/>
                <a:ea typeface="Segoe UI Semibold" pitchFamily="34" charset="-122"/>
                <a:cs typeface="Segoe UI Semibold" pitchFamily="34" charset="-120"/>
              </a:rPr>
              <a:t>1</a:t>
            </a:r>
            <a:endParaRPr lang="en-US" sz="4600" dirty="0"/>
          </a:p>
        </p:txBody>
      </p:sp>
      <p:sp>
        <p:nvSpPr>
          <p:cNvPr id="18" name="Text 15"/>
          <p:cNvSpPr txBox="1"/>
          <p:nvPr/>
        </p:nvSpPr>
        <p:spPr>
          <a:xfrm>
            <a:off x="6789420" y="2834640"/>
            <a:ext cx="1805940" cy="320040"/>
          </a:xfrm>
          <a:prstGeom prst="rect">
            <a:avLst/>
          </a:prstGeom>
          <a:noFill/>
          <a:ln/>
        </p:spPr>
        <p:txBody>
          <a:bodyPr wrap="square" lIns="0" tIns="0" rIns="0" bIns="0" rtlCol="0" anchor="ctr"/>
          <a:lstStyle/>
          <a:p>
            <a:pPr indent="0" marL="0">
              <a:buNone/>
            </a:pPr>
            <a:r>
              <a:rPr lang="en-US" sz="1300" dirty="0">
                <a:solidFill>
                  <a:srgbClr val="8C9BB8"/>
                </a:solidFill>
                <a:latin typeface="Segoe UI" pitchFamily="34" charset="0"/>
                <a:ea typeface="Segoe UI" pitchFamily="34" charset="-122"/>
                <a:cs typeface="Segoe UI" pitchFamily="34" charset="-120"/>
              </a:rPr>
              <a:t>command to start</a:t>
            </a:r>
            <a:endParaRPr lang="en-US" sz="1300" dirty="0"/>
          </a:p>
        </p:txBody>
      </p:sp>
      <p:sp>
        <p:nvSpPr>
          <p:cNvPr id="19" name="Shape 16"/>
          <p:cNvSpPr/>
          <p:nvPr/>
        </p:nvSpPr>
        <p:spPr>
          <a:xfrm>
            <a:off x="548640" y="4315968"/>
            <a:ext cx="4206240" cy="329184"/>
          </a:xfrm>
          <a:prstGeom prst="roundRect">
            <a:avLst>
              <a:gd name="adj" fmla="val 50000"/>
            </a:avLst>
          </a:prstGeom>
          <a:solidFill>
            <a:srgbClr val="121B33"/>
          </a:solidFill>
          <a:ln w="9525">
            <a:solidFill>
              <a:srgbClr val="22D3EE"/>
            </a:solidFill>
            <a:prstDash val="solid"/>
          </a:ln>
        </p:spPr>
      </p:sp>
      <p:sp>
        <p:nvSpPr>
          <p:cNvPr id="20" name="Text 17"/>
          <p:cNvSpPr txBox="1"/>
          <p:nvPr/>
        </p:nvSpPr>
        <p:spPr>
          <a:xfrm>
            <a:off x="713232" y="4315968"/>
            <a:ext cx="4023360" cy="329184"/>
          </a:xfrm>
          <a:prstGeom prst="rect">
            <a:avLst/>
          </a:prstGeom>
          <a:noFill/>
          <a:ln/>
        </p:spPr>
        <p:txBody>
          <a:bodyPr wrap="square" lIns="0" tIns="0" rIns="0" bIns="0" rtlCol="0" anchor="ctr"/>
          <a:lstStyle/>
          <a:p>
            <a:pPr indent="0" marL="0">
              <a:buNone/>
            </a:pPr>
            <a:r>
              <a:rPr lang="en-US" sz="1100" b="1" dirty="0">
                <a:solidFill>
                  <a:srgbClr val="22D3EE"/>
                </a:solidFill>
                <a:latin typeface="Segoe UI" pitchFamily="34" charset="0"/>
                <a:ea typeface="Segoe UI" pitchFamily="34" charset="-122"/>
                <a:cs typeface="Segoe UI" pitchFamily="34" charset="-120"/>
              </a:rPr>
              <a:t>LIVE  </a:t>
            </a:r>
            <a:pPr indent="0" marL="0">
              <a:buNone/>
            </a:pPr>
            <a:r>
              <a:rPr lang="en-US" sz="1100" dirty="0">
                <a:solidFill>
                  <a:srgbClr val="F1F5FB"/>
                </a:solidFill>
                <a:latin typeface="Segoe UI" pitchFamily="34" charset="0"/>
                <a:ea typeface="Segoe UI" pitchFamily="34" charset="-122"/>
                <a:cs typeface="Segoe UI" pitchFamily="34" charset="-120"/>
              </a:rPr>
              <a:t>Grafana platform health</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020"/>
        </a:solidFill>
      </p:bgPr>
    </p:bg>
    <p:spTree>
      <p:nvGrpSpPr>
        <p:cNvPr id="1" name=""/>
        <p:cNvGrpSpPr/>
        <p:nvPr/>
      </p:nvGrpSpPr>
      <p:grpSpPr>
        <a:xfrm>
          <a:off x="0" y="0"/>
          <a:ext cx="0" cy="0"/>
          <a:chOff x="0" y="0"/>
          <a:chExt cx="0" cy="0"/>
        </a:xfrm>
      </p:grpSpPr>
      <p:sp>
        <p:nvSpPr>
          <p:cNvPr id="3" name="Text 0"/>
          <p:cNvSpPr txBox="1"/>
          <p:nvPr/>
        </p:nvSpPr>
        <p:spPr>
          <a:xfrm>
            <a:off x="640080" y="1554480"/>
            <a:ext cx="7863840" cy="1097280"/>
          </a:xfrm>
          <a:prstGeom prst="rect">
            <a:avLst/>
          </a:prstGeom>
          <a:noFill/>
          <a:ln/>
        </p:spPr>
        <p:txBody>
          <a:bodyPr wrap="square" lIns="0" tIns="0" rIns="0" bIns="0" rtlCol="0" anchor="ctr"/>
          <a:lstStyle/>
          <a:p>
            <a:pPr indent="0" marL="0">
              <a:buNone/>
            </a:pPr>
            <a:r>
              <a:rPr lang="en-US" sz="6000" dirty="0">
                <a:solidFill>
                  <a:srgbClr val="F1F5FB"/>
                </a:solidFill>
                <a:latin typeface="Segoe UI Semibold" pitchFamily="34" charset="0"/>
                <a:ea typeface="Segoe UI Semibold" pitchFamily="34" charset="-122"/>
                <a:cs typeface="Segoe UI Semibold" pitchFamily="34" charset="-120"/>
              </a:rPr>
              <a:t>Thank you</a:t>
            </a:r>
            <a:endParaRPr lang="en-US" sz="6000" dirty="0"/>
          </a:p>
        </p:txBody>
      </p:sp>
      <p:sp>
        <p:nvSpPr>
          <p:cNvPr id="4" name="Text 1"/>
          <p:cNvSpPr txBox="1"/>
          <p:nvPr/>
        </p:nvSpPr>
        <p:spPr>
          <a:xfrm>
            <a:off x="640080" y="2743200"/>
            <a:ext cx="7863840" cy="457200"/>
          </a:xfrm>
          <a:prstGeom prst="rect">
            <a:avLst/>
          </a:prstGeom>
          <a:noFill/>
          <a:ln/>
        </p:spPr>
        <p:txBody>
          <a:bodyPr wrap="square" lIns="0" tIns="0" rIns="0" bIns="0" rtlCol="0" anchor="ctr"/>
          <a:lstStyle/>
          <a:p>
            <a:pPr indent="0" marL="0">
              <a:buNone/>
            </a:pPr>
            <a:r>
              <a:rPr lang="en-US" sz="2200" dirty="0">
                <a:solidFill>
                  <a:srgbClr val="22D3EE"/>
                </a:solidFill>
                <a:latin typeface="Segoe UI" pitchFamily="34" charset="0"/>
                <a:ea typeface="Segoe UI" pitchFamily="34" charset="-122"/>
                <a:cs typeface="Segoe UI" pitchFamily="34" charset="-120"/>
              </a:rPr>
              <a:t>Questions and discussion</a:t>
            </a:r>
            <a:endParaRPr lang="en-US" sz="2200" dirty="0"/>
          </a:p>
        </p:txBody>
      </p:sp>
      <p:sp>
        <p:nvSpPr>
          <p:cNvPr id="5" name="Text 2"/>
          <p:cNvSpPr txBox="1"/>
          <p:nvPr/>
        </p:nvSpPr>
        <p:spPr>
          <a:xfrm>
            <a:off x="640080" y="4297680"/>
            <a:ext cx="7863840" cy="274320"/>
          </a:xfrm>
          <a:prstGeom prst="rect">
            <a:avLst/>
          </a:prstGeom>
          <a:noFill/>
          <a:ln/>
        </p:spPr>
        <p:txBody>
          <a:bodyPr wrap="square" lIns="0" tIns="0" rIns="0" bIns="0" rtlCol="0" anchor="ctr"/>
          <a:lstStyle/>
          <a:p>
            <a:pPr indent="0" marL="0">
              <a:buNone/>
            </a:pPr>
            <a:r>
              <a:rPr lang="en-US" sz="1100" dirty="0">
                <a:solidFill>
                  <a:srgbClr val="8C9BB8"/>
                </a:solidFill>
                <a:latin typeface="Segoe UI" pitchFamily="34" charset="0"/>
                <a:ea typeface="Segoe UI" pitchFamily="34" charset="-122"/>
                <a:cs typeface="Segoe UI" pitchFamily="34" charset="-120"/>
              </a:rPr>
              <a:t>REOAGMS  ·  EC8208 Software Architecture  ·  University of Ruhuna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University of Ruhuna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REOAGMS: Team Presentation</dc:title>
  <dc:subject>PptxGenJS Presentation</dc:subject>
  <dc:creator>REOAGMS project team</dc:creator>
  <cp:lastModifiedBy>REOAGMS project team</cp:lastModifiedBy>
  <cp:revision>1</cp:revision>
  <dcterms:created xsi:type="dcterms:W3CDTF">2026-10-28T19:43:45Z</dcterms:created>
  <dcterms:modified xsi:type="dcterms:W3CDTF">2026-10-28T19:43:45Z</dcterms:modified>
</cp:coreProperties>
</file>