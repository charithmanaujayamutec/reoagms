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Charith (0:00–0:08): Good morning. We are presenting REOAGMS, a platform that monitors and maintains renewable energy assets in real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Charith (0:08–0:33): REOAGMS is six Spring Boot microservices behind one API gateway, connected by RabbitMQ events, each with its own PostgreSQL database. I sign in as the administrator, and this is the control room with live data. Nemal will show where it comes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Nemal (0:33–1:00): Thank you, Charith. The Asset Service owns the registry: five facilities, eleven assets and thirty-two sensors. Lists are searched and paged on the server, and every form is validated, so a blank name is rejected. Govindu will show these assets producing live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Govindu (1:00–1:49): Thanks, Nemal. The Monitoring Service receives a reading from every sensor and checks it against our alert rules. This tile is a live sensor and the dashed line is its threshold. The simulator has just injected a fault, and here is the alert, instantly. One alert is stored, one event goes to RabbitMQ, and the browser is updated over WebSocket. That same event is now reaching Thurunu.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Thurunu (1:49–2:38): Yes. The Maintenance Service received the same event and, because the severity is high, it opened a corrective work order by itself. Here it is on the board. I assign a technician, start the work and complete it. Each step is its own endpoint, and the finished job is saved to the maintenance history. Yasiru will show how people are informed.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Yasiru (2:38–3:27): The Notification Service read the same alert from its own RabbitMQ queue. In this history, the in-app push was delivered instantly, and every email attempt is stored with its status, retry count and reason. A scheduler retries up to three times, I can retry any message here, and failing messages go to a dead-letter queue, so nothing is lost. Sachinthana will turn all this into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Sachinthana (3:27–4:16): The Analytics Service calls the other services over REST and never touches their databases. For this facility it integrates average power into kilowatt-hours for each hour, and calculates availability, efficiency and capacity factor. I generate an energy report for the last day and export it as CSV for management. Nemal will show who is allowed to see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Nemal (4:16–4:38): Access is enforced at the gateway, and five roles carry different rights. I sign in as the executive: there are no action buttons, and the API itself refuses any write. Charith will close.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Charith (4:38–4:54): Grafana shows platform health from Prometheus across all seven services. Sixty tests protect the services, and one docker compose command starts everything.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members (4:54–5:00): Thank you. We are happy to take your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822960"/>
            <a:ext cx="7863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5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EC8208  ·  SOFTWARE ARCHITECTURE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REOAGMS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42316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Renewable Energy Operations, Asset and Grid Management System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343400"/>
            <a:ext cx="7863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Department of Electrical and Information Engineering  ·  University of Ruhuna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02 · ARCHITECTURE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8580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One gateway, six independent services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02  ·  0:08–0:33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08760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50876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1F5F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React console  ·  nginx  ·  live updates over WebSocket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2148840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22D3EE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A1020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API Gateway  ·  JWT validation  ·  role policy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834640"/>
            <a:ext cx="1249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Identity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200400"/>
            <a:ext cx="1249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908048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908048" y="2834640"/>
            <a:ext cx="1249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Asset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908048" y="3200400"/>
            <a:ext cx="1249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267456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267456" y="2834640"/>
            <a:ext cx="1249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Monitoring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3267456" y="3200400"/>
            <a:ext cx="1249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626864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626864" y="2834640"/>
            <a:ext cx="1249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Maintenance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4626864" y="3200400"/>
            <a:ext cx="1249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5986272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986272" y="2834640"/>
            <a:ext cx="1249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Notification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986272" y="3200400"/>
            <a:ext cx="1249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7345680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45680" y="2834640"/>
            <a:ext cx="1249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Analytics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7345680" y="3200400"/>
            <a:ext cx="1249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48640" y="3749040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121B33"/>
          </a:solidFill>
          <a:ln w="9525">
            <a:solidFill>
              <a:srgbClr val="A3E6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374904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1F5F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RabbitMQ events  ·  Redis cache  ·  Prometheus and Grafana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48640" y="4315968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1B33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13232" y="4315968"/>
            <a:ext cx="402336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LIVE  </a:t>
            </a:r>
            <a:r>
              <a:rPr lang="en-US" sz="1100" dirty="0">
                <a:solidFill>
                  <a:srgbClr val="F1F5F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Console: sign in, Control room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03 · ASSET SERVICE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8580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The registry every service relies on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03  ·  0:33–1:00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2499360" cy="914400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664208"/>
            <a:ext cx="24993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A1020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Facility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084832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1020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5 types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304800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3322320" y="1600200"/>
            <a:ext cx="249936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22320" y="1664208"/>
            <a:ext cx="24993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Asset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322320" y="2084832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7 types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82168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6096000" y="1600200"/>
            <a:ext cx="249936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096000" y="1664208"/>
            <a:ext cx="24993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Sensor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096000" y="2084832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9 metrics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5 · 11 · 32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facilities · assets · sensors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332232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Server-side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search and paging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09600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Validated</a:t>
            </a:r>
            <a:endParaRPr lang="en-US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every form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4315968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1B33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13232" y="4315968"/>
            <a:ext cx="402336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LIVE  </a:t>
            </a:r>
            <a:r>
              <a:rPr lang="en-US" sz="1100" dirty="0">
                <a:solidFill>
                  <a:srgbClr val="F1F5F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Assets page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04 · MONITORING SERVICE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8580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From a sensor reading to an instant alert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04  ·  1:00–1:49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A1020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Reading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1020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every few seconds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35458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262890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2890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Rule check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62890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threshold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43484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470916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0916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Alert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70916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one per asset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1510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678942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78942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RabbitMQ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78942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event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16,000+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readings stored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32232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7</a:t>
            </a:r>
            <a:endParaRPr lang="en-US" sz="3200" dirty="0"/>
          </a:p>
        </p:txBody>
      </p:sp>
      <p:sp>
        <p:nvSpPr>
          <p:cNvPr id="27" name="Text 24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alert rules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09600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10 s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Redis cached dashboard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48640" y="4315968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1B33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13232" y="4315968"/>
            <a:ext cx="402336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LIVE  </a:t>
            </a:r>
            <a:r>
              <a:rPr lang="en-US" sz="1100" dirty="0">
                <a:solidFill>
                  <a:srgbClr val="F1F5F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Live monitoring page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05 · MAINTENANCE SERVICE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8580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Faults become tracked work automatically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05  ·  1:49–2:38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A1020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Alert event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1020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high or critical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35458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262890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2890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Work order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62890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created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43484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470916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0916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Technician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70916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assigned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1510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678942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78942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Completed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78942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in history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0 clicks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to open a corrective order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32232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4</a:t>
            </a:r>
            <a:endParaRPr lang="en-US" sz="3200" dirty="0"/>
          </a:p>
        </p:txBody>
      </p:sp>
      <p:sp>
        <p:nvSpPr>
          <p:cNvPr id="27" name="Text 24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technicians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09600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1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active order per asset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48640" y="4315968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1B33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13232" y="4315968"/>
            <a:ext cx="402336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LIVE  </a:t>
            </a:r>
            <a:r>
              <a:rPr lang="en-US" sz="1100" dirty="0">
                <a:solidFill>
                  <a:srgbClr val="F1F5F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Maintenance board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06 · NOTIFICATION SERVICE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8580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Every alert delivered and recorded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06  ·  2:38–3:27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A1020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Queue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1020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durable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35458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262890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2890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Consumer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62890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schema check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43484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470916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0916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Channels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70916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email · push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1510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678942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78942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History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78942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stored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Instant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in-app push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32232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Text 24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automatic retries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09600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100%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deliveries recorded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48640" y="4315968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1B33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13232" y="4315968"/>
            <a:ext cx="402336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LIVE  </a:t>
            </a:r>
            <a:r>
              <a:rPr lang="en-US" sz="1100" dirty="0">
                <a:solidFill>
                  <a:srgbClr val="F1F5F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Notifications page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07 · ANALYTICS SERVICE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8580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Trustworthy energy figures and reports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07  ·  3:27–4:16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A1020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Source APIs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1020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REST only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35458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262890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2890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Calculation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62890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power to kWh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43484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470916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0916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Reports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70916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stored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1510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678942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78942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CSV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78942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export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kWh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integrated from power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32232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6</a:t>
            </a:r>
            <a:endParaRPr lang="en-US" sz="3200" dirty="0"/>
          </a:p>
        </p:txBody>
      </p:sp>
      <p:sp>
        <p:nvSpPr>
          <p:cNvPr id="27" name="Text 24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KPIs with targets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09600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5 + 5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energy and performance reports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48640" y="4315968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1B33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13232" y="4315968"/>
            <a:ext cx="402336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LIVE  </a:t>
            </a:r>
            <a:r>
              <a:rPr lang="en-US" sz="1100" dirty="0">
                <a:solidFill>
                  <a:srgbClr val="F1F5F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Analytics page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08 · SECURITY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8580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Five roles, enforced at the gateway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08  ·  4:16–4:38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554480"/>
            <a:ext cx="2743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Administrator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566160" y="1554480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Everything, users and audit log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0116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2011680"/>
            <a:ext cx="2743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Operations Manager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566160" y="2011680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Assets, rules, work orders, reports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4688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2468880"/>
            <a:ext cx="2743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Plant Operator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3566160" y="2468880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Monitor and handle alerts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29260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2926080"/>
            <a:ext cx="2743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Maintenance Engineer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3566160" y="2926080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Assign and complete work orders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33832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3383280"/>
            <a:ext cx="2743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Executive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3566160" y="3383280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Read-only dashboards and reports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4315968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1B33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13232" y="4315968"/>
            <a:ext cx="402336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LIVE  </a:t>
            </a:r>
            <a:r>
              <a:rPr lang="en-US" sz="1100" dirty="0">
                <a:solidFill>
                  <a:srgbClr val="F1F5F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executive sign-in, read-only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09 · OPERATIONS AND QUALITY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8580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Observable, tested, one command to run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09  ·  4:38–4:54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180594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965960"/>
            <a:ext cx="18059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60</a:t>
            </a:r>
            <a:endParaRPr lang="en-US" sz="46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834640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test methods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628900" y="1828800"/>
            <a:ext cx="180594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28900" y="1965960"/>
            <a:ext cx="18059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7</a:t>
            </a:r>
            <a:endParaRPr lang="en-US" sz="4600" dirty="0"/>
          </a:p>
        </p:txBody>
      </p:sp>
      <p:sp>
        <p:nvSpPr>
          <p:cNvPr id="12" name="Text 9"/>
          <p:cNvSpPr txBox="1"/>
          <p:nvPr/>
        </p:nvSpPr>
        <p:spPr>
          <a:xfrm>
            <a:off x="2628900" y="2834640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services monitored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709160" y="1828800"/>
            <a:ext cx="180594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709160" y="1965960"/>
            <a:ext cx="18059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19</a:t>
            </a:r>
            <a:endParaRPr lang="en-US" sz="4600" dirty="0"/>
          </a:p>
        </p:txBody>
      </p:sp>
      <p:sp>
        <p:nvSpPr>
          <p:cNvPr id="15" name="Text 12"/>
          <p:cNvSpPr txBox="1"/>
          <p:nvPr/>
        </p:nvSpPr>
        <p:spPr>
          <a:xfrm>
            <a:off x="4709160" y="2834640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containers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789420" y="1828800"/>
            <a:ext cx="180594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789420" y="1965960"/>
            <a:ext cx="18059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dirty="0">
                <a:solidFill>
                  <a:srgbClr val="A3E635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1</a:t>
            </a:r>
            <a:endParaRPr lang="en-US" sz="4600" dirty="0"/>
          </a:p>
        </p:txBody>
      </p:sp>
      <p:sp>
        <p:nvSpPr>
          <p:cNvPr id="18" name="Text 15"/>
          <p:cNvSpPr txBox="1"/>
          <p:nvPr/>
        </p:nvSpPr>
        <p:spPr>
          <a:xfrm>
            <a:off x="6789420" y="2834640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command to start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315968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1B33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13232" y="4315968"/>
            <a:ext cx="402336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LIVE  </a:t>
            </a:r>
            <a:r>
              <a:rPr lang="en-US" sz="1100" dirty="0">
                <a:solidFill>
                  <a:srgbClr val="F1F5F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Grafana platform health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554480"/>
            <a:ext cx="786384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74320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2D3EE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Questions and discussion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297680"/>
            <a:ext cx="7863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REOAGMS  ·  EC8208 Software Architecture  ·  University of Ruhuna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2761</Words>
  <Application>WPS Presentation</Application>
  <PresentationFormat>On-screen Show (16:9)</PresentationFormat>
  <Paragraphs>324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3" baseType="lpstr">
      <vt:lpstr>Arial</vt:lpstr>
      <vt:lpstr>SimSun</vt:lpstr>
      <vt:lpstr>Wingdings</vt:lpstr>
      <vt:lpstr>Segoe UI Semibold</vt:lpstr>
      <vt:lpstr>Segoe UI Semibold</vt:lpstr>
      <vt:lpstr>Segoe UI Semibold</vt:lpstr>
      <vt:lpstr>Segoe UI</vt:lpstr>
      <vt:lpstr>Segoe UI</vt:lpstr>
      <vt:lpstr>Segoe UI</vt:lpstr>
      <vt:lpstr>Microsoft YaHei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University of Ruhuna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REOAGMS: Team Presentation</dc:title>
  <dc:creator>REOAGMS project team</dc:creator>
  <dc:subject>PptxGenJS Presentation</dc:subject>
  <cp:lastModifiedBy>Charith Manujaya</cp:lastModifiedBy>
  <cp:revision>9</cp:revision>
  <dcterms:created xsi:type="dcterms:W3CDTF">2026-10-28T19:54:00Z</dcterms:created>
  <dcterms:modified xsi:type="dcterms:W3CDTF">2026-10-28T20:02:24Z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7089CE3EF0AD4A209983CA2F8F504C1A_12</vt:lpwstr>
  </property>
  <property fmtid="{D5CDD505-2E9C-101B-9397-08002B2CF9AE}" pid="3" name="KSOProductBuildVer">
    <vt:lpwstr>1033-12.1.0.29162</vt:lpwstr>
  </property>
</Properties>
</file>