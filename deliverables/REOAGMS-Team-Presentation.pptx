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Charith (0:00–0:15): Good morning, everyone. We are Group 9, and we are presenting REOAGMS, the Renewable Energy Operations, Asset and Grid Management System. It monitors and maintains renewable energy assets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Charith (0:15–1:13): REOAGMS is six Spring Boot microservices behind one API gateway: identity, asset, monitoring, maintenance, notification and analytics. Each service owns its own PostgreSQL database and never reads another's, and they talk to each other through RabbitMQ events. The React console reaches everything through the gateway, which checks the token and the role on every request. I sign in as the administrator, and this is the control room: live generation, open alerts, device health and an hourly energy curve, all coming from real data in the databases. Nemal will show where that data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Nemal (1:13–2:08): Thank you, Charith. The Asset Service owns the registry of everything we monitor. As you can see, there are five facilities, eleven assets and thirty-two sensors, covering solar, wind, hydro, battery storage and tidal. I switch between the facility, asset and sensor tabs, and search runs on the server with paging, so lists stay fast. Now I open the add form and leave the name blank: the form rejects it, because every input is validated. Other services refer to these assets only by ID. Govindu will now show these assets producing live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Govindu (2:08–3:46): Thanks, Nemal. The Monitoring Service receives a reading from every sensor every few seconds and keeps the history: more than sixteen thousand readings are already stored. On the live monitoring page each tile is a real sensor, and the dashed line is its alert threshold. Every reading is checked against our seven alert rules. The simulator has just injected a fault, and here is the toast, instantly. On the Alerts page you can see the alert with its severity, the asset and the value that broke the threshold. Behind this, one alert is stored, and we keep only one open alert per rule and asset, so operators are never flooded. One event is published to RabbitMQ, and the Notification Service pushes it to this browser over WebSocket. The dashboard totals are cached in Redis for ten seconds, and if Redis ever stops, PostgreSQL answers instead. That same event is now reaching Thurunu's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Thurunu (3:46–5:24): Yes. The Maintenance Service listens on its own RabbitMQ queue, received the same event and, because the severity is high, it opened a corrective work order by itself, with no one clicking anything. Here it is on the board, in the Created column. It stores the alert ID, so a repeated message never creates a duplicate, and it keeps one active corrective order per asset. Now I assign one of our four technicians. The card moves to Assigned. I start the work, and it moves to In progress. Then I complete it. Each step is its own endpoint, and the finished job is written to the maintenance history for that asset. So a fault becomes tracked, auditable work from the first reading to the last repair. Yasiru will show how people are informed.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Yasiru (5:24–7:02): The Notification Service read the same alert from its own durable RabbitMQ queue, so it never depends on the Monitoring Service being online. The consumer checks the event schema, then sends the message on each channel. In this history, the in-app push shows as delivered, and it reached this browser instantly. Every email attempt is stored with its status, its retry count and the reason, so nothing is hidden. If delivery fails, a scheduler retries up to three times, sixty seconds apart, and I can also retry any message from this page. Messages that keep failing go to a dead-letter queue, so no alert is ever lost. Email settings come from environment variables, so no credentials are in the code. Sachinthana will now turn all this data into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Sachinthana (7:02–8:40): The Analytics Service calls the other services over REST and never touches their databases. For this facility, I pick it from the selector, and the chart shows hourly energy. Our figures are true kilowatt-hours: the service takes average power for each hour and integrates it over time. It also calculates availability, efficiency, capacity factor and utilisation, and compares the energy with what the rated capacity should have produced. Now I generate an energy report for the last day. It is stored, and I export it as CSV for management. We also keep six KPIs with targets, dashboards and performance reports. Executives see all of this read-only, and Nemal will show exactly who is allowed to see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Nemal (8:40–9:23): Access is enforced at the gateway, and five roles carry different rights, as listed on this slide. I sign out and sign in as the executive. Every page is visible, but there are no action buttons, and the API itself returns forbidden for any write. Now the operator: it can handle alerts, but cannot create a facility. Passwords are stored as BCrypt hashes, and every login and user change is written to the audit log, which the administrator can review. Charith will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Charith (9:23–9:48): Finally, operations. Grafana shows platform health from Prometheus, which scrapes all seven services. Sixty test methods protect the services, validation and error handling are built into every one of them, and one docker compose command starts all nineteen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members (9:48–10:00): Thank you very much.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3" name="Shape 0"/>
          <p:cNvSpPr/>
          <p:nvPr/>
        </p:nvSpPr>
        <p:spPr>
          <a:xfrm>
            <a:off x="6035040" y="-731520"/>
            <a:ext cx="4754880" cy="4754880"/>
          </a:xfrm>
          <a:prstGeom prst="ellipse">
            <a:avLst/>
          </a:prstGeom>
          <a:ln w="12700">
            <a:solidFill>
              <a:srgbClr val="1E2A44"/>
            </a:solidFill>
            <a:prstDash val="solid"/>
          </a:ln>
        </p:spPr>
      </p:sp>
      <p:sp>
        <p:nvSpPr>
          <p:cNvPr id="4" name="Shape 1"/>
          <p:cNvSpPr/>
          <p:nvPr/>
        </p:nvSpPr>
        <p:spPr>
          <a:xfrm>
            <a:off x="6858000" y="91440"/>
            <a:ext cx="3108960" cy="3108960"/>
          </a:xfrm>
          <a:prstGeom prst="ellipse">
            <a:avLst/>
          </a:prstGeom>
          <a:ln w="12700">
            <a:solidFill>
              <a:srgbClr val="1E2A44"/>
            </a:solidFill>
            <a:prstDash val="solid"/>
          </a:ln>
        </p:spPr>
      </p:sp>
      <p:sp>
        <p:nvSpPr>
          <p:cNvPr id="5" name="Shape 2"/>
          <p:cNvSpPr/>
          <p:nvPr/>
        </p:nvSpPr>
        <p:spPr>
          <a:xfrm>
            <a:off x="7680960" y="914400"/>
            <a:ext cx="1463040" cy="1463040"/>
          </a:xfrm>
          <a:prstGeom prst="ellipse">
            <a:avLst/>
          </a:prstGeom>
          <a:ln w="15875">
            <a:solidFill>
              <a:srgbClr val="22D3EE"/>
            </a:solidFill>
            <a:prstDash val="solid"/>
          </a:ln>
        </p:spPr>
      </p:sp>
      <p:sp>
        <p:nvSpPr>
          <p:cNvPr id="6" name="Text 3"/>
          <p:cNvSpPr txBox="1"/>
          <p:nvPr/>
        </p:nvSpPr>
        <p:spPr>
          <a:xfrm>
            <a:off x="640080" y="822960"/>
            <a:ext cx="7863840" cy="274320"/>
          </a:xfrm>
          <a:prstGeom prst="rect">
            <a:avLst/>
          </a:prstGeom>
          <a:noFill/>
          <a:ln/>
        </p:spPr>
        <p:txBody>
          <a:bodyPr wrap="square" lIns="0" tIns="0" rIns="0" bIns="0" rtlCol="0" anchor="ctr"/>
          <a:lstStyle/>
          <a:p>
            <a:pPr indent="0" marL="0">
              <a:buNone/>
            </a:pPr>
            <a:r>
              <a:rPr lang="en-US" sz="1200" spc="500" kern="0" dirty="0">
                <a:solidFill>
                  <a:srgbClr val="22D3EE"/>
                </a:solidFill>
                <a:latin typeface="Segoe UI Semibold" pitchFamily="34" charset="0"/>
                <a:ea typeface="Segoe UI Semibold" pitchFamily="34" charset="-122"/>
                <a:cs typeface="Segoe UI Semibold" pitchFamily="34" charset="-120"/>
              </a:rPr>
              <a:t>GROUP 9  ·  EC8208  ·  SOFTWARE ARCHITECTURE</a:t>
            </a:r>
            <a:endParaRPr lang="en-US" sz="1200" dirty="0"/>
          </a:p>
        </p:txBody>
      </p:sp>
      <p:sp>
        <p:nvSpPr>
          <p:cNvPr id="7" name="Text 4"/>
          <p:cNvSpPr txBox="1"/>
          <p:nvPr/>
        </p:nvSpPr>
        <p:spPr>
          <a:xfrm>
            <a:off x="640080" y="1280160"/>
            <a:ext cx="7863840" cy="1097280"/>
          </a:xfrm>
          <a:prstGeom prst="rect">
            <a:avLst/>
          </a:prstGeom>
          <a:noFill/>
          <a:ln/>
        </p:spPr>
        <p:txBody>
          <a:bodyPr wrap="square" lIns="0" tIns="0" rIns="0" bIns="0" rtlCol="0" anchor="ctr"/>
          <a:lstStyle/>
          <a:p>
            <a:pPr indent="0" marL="0">
              <a:buNone/>
            </a:pPr>
            <a:r>
              <a:rPr lang="en-US" sz="6600" dirty="0">
                <a:solidFill>
                  <a:srgbClr val="F1F5FB"/>
                </a:solidFill>
                <a:latin typeface="Segoe UI Semibold" pitchFamily="34" charset="0"/>
                <a:ea typeface="Segoe UI Semibold" pitchFamily="34" charset="-122"/>
                <a:cs typeface="Segoe UI Semibold" pitchFamily="34" charset="-120"/>
              </a:rPr>
              <a:t>REOAGMS</a:t>
            </a:r>
            <a:endParaRPr lang="en-US" sz="6600" dirty="0"/>
          </a:p>
        </p:txBody>
      </p:sp>
      <p:sp>
        <p:nvSpPr>
          <p:cNvPr id="8" name="Text 5"/>
          <p:cNvSpPr txBox="1"/>
          <p:nvPr/>
        </p:nvSpPr>
        <p:spPr>
          <a:xfrm>
            <a:off x="640080" y="2423160"/>
            <a:ext cx="7863840" cy="457200"/>
          </a:xfrm>
          <a:prstGeom prst="rect">
            <a:avLst/>
          </a:prstGeom>
          <a:noFill/>
          <a:ln/>
        </p:spPr>
        <p:txBody>
          <a:bodyPr wrap="square" lIns="0" tIns="0" rIns="0" bIns="0" rtlCol="0" anchor="ctr"/>
          <a:lstStyle/>
          <a:p>
            <a:pPr indent="0" marL="0">
              <a:buNone/>
            </a:pPr>
            <a:r>
              <a:rPr lang="en-US" sz="2000" dirty="0">
                <a:solidFill>
                  <a:srgbClr val="8C9BB8"/>
                </a:solidFill>
                <a:latin typeface="Segoe UI" pitchFamily="34" charset="0"/>
                <a:ea typeface="Segoe UI" pitchFamily="34" charset="-122"/>
                <a:cs typeface="Segoe UI" pitchFamily="34" charset="-120"/>
              </a:rPr>
              <a:t>Renewable Energy Operations, Asset and Grid Management System</a:t>
            </a:r>
            <a:endParaRPr lang="en-US" sz="2000" dirty="0"/>
          </a:p>
        </p:txBody>
      </p:sp>
      <p:sp>
        <p:nvSpPr>
          <p:cNvPr id="9" name="Text 6"/>
          <p:cNvSpPr txBox="1"/>
          <p:nvPr/>
        </p:nvSpPr>
        <p:spPr>
          <a:xfrm>
            <a:off x="640080" y="3200400"/>
            <a:ext cx="3017520" cy="292608"/>
          </a:xfrm>
          <a:prstGeom prst="rect">
            <a:avLst/>
          </a:prstGeom>
          <a:noFill/>
          <a:ln/>
        </p:spPr>
        <p:txBody>
          <a:bodyPr wrap="square" lIns="0" tIns="0" rIns="0" bIns="0" rtlCol="0" anchor="ctr"/>
          <a:lstStyle/>
          <a:p>
            <a:pPr indent="0" marL="0">
              <a:buNone/>
            </a:pPr>
            <a:r>
              <a:rPr lang="en-US" sz="1300" dirty="0">
                <a:solidFill>
                  <a:srgbClr val="22D3EE"/>
                </a:solidFill>
                <a:latin typeface="Segoe UI" pitchFamily="34" charset="0"/>
                <a:ea typeface="Segoe UI" pitchFamily="34" charset="-122"/>
                <a:cs typeface="Segoe UI" pitchFamily="34" charset="-120"/>
              </a:rPr>
              <a:t>EG/2021/4707   </a:t>
            </a:r>
            <a:pPr indent="0" marL="0">
              <a:buNone/>
            </a:pPr>
            <a:r>
              <a:rPr lang="en-US" sz="1300" b="1" dirty="0">
                <a:solidFill>
                  <a:srgbClr val="F1F5FB"/>
                </a:solidFill>
                <a:latin typeface="Segoe UI" pitchFamily="34" charset="0"/>
                <a:ea typeface="Segoe UI" pitchFamily="34" charset="-122"/>
                <a:cs typeface="Segoe UI" pitchFamily="34" charset="-120"/>
              </a:rPr>
              <a:t>Perera G C M</a:t>
            </a:r>
            <a:endParaRPr lang="en-US" sz="1300" dirty="0"/>
          </a:p>
        </p:txBody>
      </p:sp>
      <p:sp>
        <p:nvSpPr>
          <p:cNvPr id="10" name="Text 7"/>
          <p:cNvSpPr txBox="1"/>
          <p:nvPr/>
        </p:nvSpPr>
        <p:spPr>
          <a:xfrm>
            <a:off x="640080" y="3547872"/>
            <a:ext cx="3017520" cy="292608"/>
          </a:xfrm>
          <a:prstGeom prst="rect">
            <a:avLst/>
          </a:prstGeom>
          <a:noFill/>
          <a:ln/>
        </p:spPr>
        <p:txBody>
          <a:bodyPr wrap="square" lIns="0" tIns="0" rIns="0" bIns="0" rtlCol="0" anchor="ctr"/>
          <a:lstStyle/>
          <a:p>
            <a:pPr indent="0" marL="0">
              <a:buNone/>
            </a:pPr>
            <a:r>
              <a:rPr lang="en-US" sz="1300" dirty="0">
                <a:solidFill>
                  <a:srgbClr val="22D3EE"/>
                </a:solidFill>
                <a:latin typeface="Segoe UI" pitchFamily="34" charset="0"/>
                <a:ea typeface="Segoe UI" pitchFamily="34" charset="-122"/>
                <a:cs typeface="Segoe UI" pitchFamily="34" charset="-120"/>
              </a:rPr>
              <a:t>EG/2021/4620   </a:t>
            </a:r>
            <a:pPr indent="0" marL="0">
              <a:buNone/>
            </a:pPr>
            <a:r>
              <a:rPr lang="en-US" sz="1300" b="1" dirty="0">
                <a:solidFill>
                  <a:srgbClr val="F1F5FB"/>
                </a:solidFill>
                <a:latin typeface="Segoe UI" pitchFamily="34" charset="0"/>
                <a:ea typeface="Segoe UI" pitchFamily="34" charset="-122"/>
                <a:cs typeface="Segoe UI" pitchFamily="34" charset="-120"/>
              </a:rPr>
              <a:t>Kularathne MDYB</a:t>
            </a:r>
            <a:endParaRPr lang="en-US" sz="1300" dirty="0"/>
          </a:p>
        </p:txBody>
      </p:sp>
      <p:sp>
        <p:nvSpPr>
          <p:cNvPr id="11" name="Text 8"/>
          <p:cNvSpPr txBox="1"/>
          <p:nvPr/>
        </p:nvSpPr>
        <p:spPr>
          <a:xfrm>
            <a:off x="640080" y="3895344"/>
            <a:ext cx="3017520" cy="292608"/>
          </a:xfrm>
          <a:prstGeom prst="rect">
            <a:avLst/>
          </a:prstGeom>
          <a:noFill/>
          <a:ln/>
        </p:spPr>
        <p:txBody>
          <a:bodyPr wrap="square" lIns="0" tIns="0" rIns="0" bIns="0" rtlCol="0" anchor="ctr"/>
          <a:lstStyle/>
          <a:p>
            <a:pPr indent="0" marL="0">
              <a:buNone/>
            </a:pPr>
            <a:r>
              <a:rPr lang="en-US" sz="1300" dirty="0">
                <a:solidFill>
                  <a:srgbClr val="22D3EE"/>
                </a:solidFill>
                <a:latin typeface="Segoe UI" pitchFamily="34" charset="0"/>
                <a:ea typeface="Segoe UI" pitchFamily="34" charset="-122"/>
                <a:cs typeface="Segoe UI" pitchFamily="34" charset="-120"/>
              </a:rPr>
              <a:t>EG/2021/4710   </a:t>
            </a:r>
            <a:pPr indent="0" marL="0">
              <a:buNone/>
            </a:pPr>
            <a:r>
              <a:rPr lang="en-US" sz="1300" b="1" dirty="0">
                <a:solidFill>
                  <a:srgbClr val="F1F5FB"/>
                </a:solidFill>
                <a:latin typeface="Segoe UI" pitchFamily="34" charset="0"/>
                <a:ea typeface="Segoe UI" pitchFamily="34" charset="-122"/>
                <a:cs typeface="Segoe UI" pitchFamily="34" charset="-120"/>
              </a:rPr>
              <a:t>Perera K P D N</a:t>
            </a:r>
            <a:endParaRPr lang="en-US" sz="1300" dirty="0"/>
          </a:p>
        </p:txBody>
      </p:sp>
      <p:sp>
        <p:nvSpPr>
          <p:cNvPr id="12" name="Text 9"/>
          <p:cNvSpPr txBox="1"/>
          <p:nvPr/>
        </p:nvSpPr>
        <p:spPr>
          <a:xfrm>
            <a:off x="3749040" y="3200400"/>
            <a:ext cx="3017520" cy="292608"/>
          </a:xfrm>
          <a:prstGeom prst="rect">
            <a:avLst/>
          </a:prstGeom>
          <a:noFill/>
          <a:ln/>
        </p:spPr>
        <p:txBody>
          <a:bodyPr wrap="square" lIns="0" tIns="0" rIns="0" bIns="0" rtlCol="0" anchor="ctr"/>
          <a:lstStyle/>
          <a:p>
            <a:pPr indent="0" marL="0">
              <a:buNone/>
            </a:pPr>
            <a:r>
              <a:rPr lang="en-US" sz="1300" dirty="0">
                <a:solidFill>
                  <a:srgbClr val="22D3EE"/>
                </a:solidFill>
                <a:latin typeface="Segoe UI" pitchFamily="34" charset="0"/>
                <a:ea typeface="Segoe UI" pitchFamily="34" charset="-122"/>
                <a:cs typeface="Segoe UI" pitchFamily="34" charset="-120"/>
              </a:rPr>
              <a:t>EG/2021/4828   </a:t>
            </a:r>
            <a:pPr indent="0" marL="0">
              <a:buNone/>
            </a:pPr>
            <a:r>
              <a:rPr lang="en-US" sz="1300" b="1" dirty="0">
                <a:solidFill>
                  <a:srgbClr val="F1F5FB"/>
                </a:solidFill>
                <a:latin typeface="Segoe UI" pitchFamily="34" charset="0"/>
                <a:ea typeface="Segoe UI" pitchFamily="34" charset="-122"/>
                <a:cs typeface="Segoe UI" pitchFamily="34" charset="-120"/>
              </a:rPr>
              <a:t>Thejana BPGL</a:t>
            </a:r>
            <a:endParaRPr lang="en-US" sz="1300" dirty="0"/>
          </a:p>
        </p:txBody>
      </p:sp>
      <p:sp>
        <p:nvSpPr>
          <p:cNvPr id="13" name="Text 10"/>
          <p:cNvSpPr txBox="1"/>
          <p:nvPr/>
        </p:nvSpPr>
        <p:spPr>
          <a:xfrm>
            <a:off x="3749040" y="3547872"/>
            <a:ext cx="3017520" cy="292608"/>
          </a:xfrm>
          <a:prstGeom prst="rect">
            <a:avLst/>
          </a:prstGeom>
          <a:noFill/>
          <a:ln/>
        </p:spPr>
        <p:txBody>
          <a:bodyPr wrap="square" lIns="0" tIns="0" rIns="0" bIns="0" rtlCol="0" anchor="ctr"/>
          <a:lstStyle/>
          <a:p>
            <a:pPr indent="0" marL="0">
              <a:buNone/>
            </a:pPr>
            <a:r>
              <a:rPr lang="en-US" sz="1300" dirty="0">
                <a:solidFill>
                  <a:srgbClr val="22D3EE"/>
                </a:solidFill>
                <a:latin typeface="Segoe UI" pitchFamily="34" charset="0"/>
                <a:ea typeface="Segoe UI" pitchFamily="34" charset="-122"/>
                <a:cs typeface="Segoe UI" pitchFamily="34" charset="-120"/>
              </a:rPr>
              <a:t>EG/2021/4701   </a:t>
            </a:r>
            <a:pPr indent="0" marL="0">
              <a:buNone/>
            </a:pPr>
            <a:r>
              <a:rPr lang="en-US" sz="1300" b="1" dirty="0">
                <a:solidFill>
                  <a:srgbClr val="F1F5FB"/>
                </a:solidFill>
                <a:latin typeface="Segoe UI" pitchFamily="34" charset="0"/>
                <a:ea typeface="Segoe UI" pitchFamily="34" charset="-122"/>
                <a:cs typeface="Segoe UI" pitchFamily="34" charset="-120"/>
              </a:rPr>
              <a:t>Pabasara PMGT</a:t>
            </a:r>
            <a:endParaRPr lang="en-US" sz="1300" dirty="0"/>
          </a:p>
        </p:txBody>
      </p:sp>
      <p:sp>
        <p:nvSpPr>
          <p:cNvPr id="14" name="Text 11"/>
          <p:cNvSpPr txBox="1"/>
          <p:nvPr/>
        </p:nvSpPr>
        <p:spPr>
          <a:xfrm>
            <a:off x="3749040" y="3895344"/>
            <a:ext cx="3017520" cy="292608"/>
          </a:xfrm>
          <a:prstGeom prst="rect">
            <a:avLst/>
          </a:prstGeom>
          <a:noFill/>
          <a:ln/>
        </p:spPr>
        <p:txBody>
          <a:bodyPr wrap="square" lIns="0" tIns="0" rIns="0" bIns="0" rtlCol="0" anchor="ctr"/>
          <a:lstStyle/>
          <a:p>
            <a:pPr indent="0" marL="0">
              <a:buNone/>
            </a:pPr>
            <a:r>
              <a:rPr lang="en-US" sz="1300" dirty="0">
                <a:solidFill>
                  <a:srgbClr val="22D3EE"/>
                </a:solidFill>
                <a:latin typeface="Segoe UI" pitchFamily="34" charset="0"/>
                <a:ea typeface="Segoe UI" pitchFamily="34" charset="-122"/>
                <a:cs typeface="Segoe UI" pitchFamily="34" charset="-120"/>
              </a:rPr>
              <a:t>EG/2021/4770   </a:t>
            </a:r>
            <a:pPr indent="0" marL="0">
              <a:buNone/>
            </a:pPr>
            <a:r>
              <a:rPr lang="en-US" sz="1300" b="1" dirty="0">
                <a:solidFill>
                  <a:srgbClr val="F1F5FB"/>
                </a:solidFill>
                <a:latin typeface="Segoe UI" pitchFamily="34" charset="0"/>
                <a:ea typeface="Segoe UI" pitchFamily="34" charset="-122"/>
                <a:cs typeface="Segoe UI" pitchFamily="34" charset="-120"/>
              </a:rPr>
              <a:t>Sachinthana K AD</a:t>
            </a:r>
            <a:endParaRPr lang="en-US" sz="1300" dirty="0"/>
          </a:p>
        </p:txBody>
      </p:sp>
      <p:sp>
        <p:nvSpPr>
          <p:cNvPr id="15" name="Text 12"/>
          <p:cNvSpPr txBox="1"/>
          <p:nvPr/>
        </p:nvSpPr>
        <p:spPr>
          <a:xfrm>
            <a:off x="640080" y="4434840"/>
            <a:ext cx="7863840" cy="274320"/>
          </a:xfrm>
          <a:prstGeom prst="rect">
            <a:avLst/>
          </a:prstGeom>
          <a:noFill/>
          <a:ln/>
        </p:spPr>
        <p:txBody>
          <a:bodyPr wrap="square" lIns="0" tIns="0" rIns="0" bIns="0" rtlCol="0" anchor="ctr"/>
          <a:lstStyle/>
          <a:p>
            <a:pPr indent="0" marL="0">
              <a:buNone/>
            </a:pPr>
            <a:r>
              <a:rPr lang="en-US" sz="1100" dirty="0">
                <a:solidFill>
                  <a:srgbClr val="8C9BB8"/>
                </a:solidFill>
                <a:latin typeface="Segoe UI" pitchFamily="34" charset="0"/>
                <a:ea typeface="Segoe UI" pitchFamily="34" charset="-122"/>
                <a:cs typeface="Segoe UI" pitchFamily="34" charset="-120"/>
              </a:rPr>
              <a:t>Department of Electrical and Information Engineering  ·  University of Ruhuna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B"/>
        </a:solidFill>
      </p:bgPr>
    </p:bg>
    <p:spTree>
      <p:nvGrpSpPr>
        <p:cNvPr id="1" name=""/>
        <p:cNvGrpSpPr/>
        <p:nvPr/>
      </p:nvGrpSpPr>
      <p:grpSpPr>
        <a:xfrm>
          <a:off x="0" y="0"/>
          <a:ext cx="0" cy="0"/>
          <a:chOff x="0" y="0"/>
          <a:chExt cx="0" cy="0"/>
        </a:xfrm>
      </p:grpSpPr>
      <p:sp>
        <p:nvSpPr>
          <p:cNvPr id="3" name="Shape 0"/>
          <p:cNvSpPr/>
          <p:nvPr/>
        </p:nvSpPr>
        <p:spPr>
          <a:xfrm>
            <a:off x="548640" y="429768"/>
            <a:ext cx="82296" cy="82296"/>
          </a:xfrm>
          <a:prstGeom prst="rect">
            <a:avLst/>
          </a:prstGeom>
          <a:solidFill>
            <a:srgbClr val="0891B2"/>
          </a:solidFill>
          <a:ln w="12700">
            <a:solidFill>
              <a:srgbClr val="0891B2"/>
            </a:solidFill>
            <a:prstDash val="solid"/>
          </a:ln>
        </p:spPr>
      </p:sp>
      <p:sp>
        <p:nvSpPr>
          <p:cNvPr id="4" name="Text 1"/>
          <p:cNvSpPr txBox="1"/>
          <p:nvPr/>
        </p:nvSpPr>
        <p:spPr>
          <a:xfrm>
            <a:off x="749808" y="365760"/>
            <a:ext cx="7315200" cy="219456"/>
          </a:xfrm>
          <a:prstGeom prst="rect">
            <a:avLst/>
          </a:prstGeom>
          <a:noFill/>
          <a:ln/>
        </p:spPr>
        <p:txBody>
          <a:bodyPr wrap="square" lIns="0" tIns="0" rIns="0" bIns="0" rtlCol="0" anchor="ctr"/>
          <a:lstStyle/>
          <a:p>
            <a:pPr indent="0" marL="0">
              <a:buNone/>
            </a:pPr>
            <a:r>
              <a:rPr lang="en-US" sz="1050" spc="400" kern="0" dirty="0">
                <a:solidFill>
                  <a:srgbClr val="0891B2"/>
                </a:solidFill>
                <a:latin typeface="Segoe UI Semibold" pitchFamily="34" charset="0"/>
                <a:ea typeface="Segoe UI Semibold" pitchFamily="34" charset="-122"/>
                <a:cs typeface="Segoe UI Semibold" pitchFamily="34" charset="-120"/>
              </a:rPr>
              <a:t>02 · CHARITH · ARCHITECTURE</a:t>
            </a:r>
            <a:endParaRPr lang="en-US" sz="1050" dirty="0"/>
          </a:p>
        </p:txBody>
      </p:sp>
      <p:sp>
        <p:nvSpPr>
          <p:cNvPr id="5" name="Text 2"/>
          <p:cNvSpPr txBox="1"/>
          <p:nvPr/>
        </p:nvSpPr>
        <p:spPr>
          <a:xfrm>
            <a:off x="548640" y="713232"/>
            <a:ext cx="8046720" cy="640080"/>
          </a:xfrm>
          <a:prstGeom prst="rect">
            <a:avLst/>
          </a:prstGeom>
          <a:noFill/>
          <a:ln/>
        </p:spPr>
        <p:txBody>
          <a:bodyPr wrap="square" lIns="0" tIns="0" rIns="0" bIns="0" rtlCol="0" anchor="ctr"/>
          <a:lstStyle/>
          <a:p>
            <a:pPr indent="0" marL="0">
              <a:buNone/>
            </a:pPr>
            <a:r>
              <a:rPr lang="en-US" sz="3200" dirty="0">
                <a:solidFill>
                  <a:srgbClr val="0B1B33"/>
                </a:solidFill>
                <a:latin typeface="Segoe UI Semibold" pitchFamily="34" charset="0"/>
                <a:ea typeface="Segoe UI Semibold" pitchFamily="34" charset="-122"/>
                <a:cs typeface="Segoe UI Semibold" pitchFamily="34" charset="-120"/>
              </a:rPr>
              <a:t>One gateway, six independent services</a:t>
            </a:r>
            <a:endParaRPr lang="en-US" sz="3200" dirty="0"/>
          </a:p>
        </p:txBody>
      </p:sp>
      <p:sp>
        <p:nvSpPr>
          <p:cNvPr id="6" name="Shape 3"/>
          <p:cNvSpPr/>
          <p:nvPr/>
        </p:nvSpPr>
        <p:spPr>
          <a:xfrm>
            <a:off x="548640" y="4681728"/>
            <a:ext cx="8046720" cy="0"/>
          </a:xfrm>
          <a:prstGeom prst="line">
            <a:avLst/>
          </a:prstGeom>
          <a:noFill/>
          <a:ln w="9525">
            <a:solidFill>
              <a:srgbClr val="DCE3EE"/>
            </a:solidFill>
            <a:prstDash val="solid"/>
          </a:ln>
        </p:spPr>
      </p:sp>
      <p:sp>
        <p:nvSpPr>
          <p:cNvPr id="7" name="Text 4"/>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8" name="Text 5"/>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64748B"/>
                </a:solidFill>
                <a:latin typeface="Segoe UI" pitchFamily="34" charset="0"/>
                <a:ea typeface="Segoe UI" pitchFamily="34" charset="-122"/>
                <a:cs typeface="Segoe UI" pitchFamily="34" charset="-120"/>
              </a:rPr>
              <a:t>02  ·  0:15–1:13</a:t>
            </a:r>
            <a:endParaRPr lang="en-US" sz="900" dirty="0"/>
          </a:p>
        </p:txBody>
      </p:sp>
      <p:sp>
        <p:nvSpPr>
          <p:cNvPr id="9" name="Shape 6"/>
          <p:cNvSpPr/>
          <p:nvPr/>
        </p:nvSpPr>
        <p:spPr>
          <a:xfrm>
            <a:off x="548640" y="1508760"/>
            <a:ext cx="8046720" cy="457200"/>
          </a:xfrm>
          <a:prstGeom prst="roundRect">
            <a:avLst>
              <a:gd name="adj" fmla="val 16000"/>
            </a:avLst>
          </a:prstGeom>
          <a:solidFill>
            <a:srgbClr val="FFFFFF"/>
          </a:solidFill>
          <a:ln w="9525">
            <a:solidFill>
              <a:srgbClr val="DCE3EE"/>
            </a:solidFill>
            <a:prstDash val="solid"/>
          </a:ln>
        </p:spPr>
      </p:sp>
      <p:sp>
        <p:nvSpPr>
          <p:cNvPr id="10" name="Text 7"/>
          <p:cNvSpPr txBox="1"/>
          <p:nvPr/>
        </p:nvSpPr>
        <p:spPr>
          <a:xfrm>
            <a:off x="548640" y="1508760"/>
            <a:ext cx="8046720" cy="457200"/>
          </a:xfrm>
          <a:prstGeom prst="rect">
            <a:avLst/>
          </a:prstGeom>
          <a:noFill/>
          <a:ln/>
        </p:spPr>
        <p:txBody>
          <a:bodyPr wrap="square" lIns="0" tIns="0" rIns="0" bIns="0" rtlCol="0" anchor="ctr"/>
          <a:lstStyle/>
          <a:p>
            <a:pPr algn="ctr" indent="0" marL="0">
              <a:buNone/>
            </a:pPr>
            <a:r>
              <a:rPr lang="en-US" sz="1300" dirty="0">
                <a:solidFill>
                  <a:srgbClr val="0B1B33"/>
                </a:solidFill>
                <a:latin typeface="Segoe UI" pitchFamily="34" charset="0"/>
                <a:ea typeface="Segoe UI" pitchFamily="34" charset="-122"/>
                <a:cs typeface="Segoe UI" pitchFamily="34" charset="-120"/>
              </a:rPr>
              <a:t>React console  ·  nginx  ·  live updates over WebSocket</a:t>
            </a:r>
            <a:endParaRPr lang="en-US" sz="1300" dirty="0"/>
          </a:p>
        </p:txBody>
      </p:sp>
      <p:sp>
        <p:nvSpPr>
          <p:cNvPr id="11" name="Shape 8"/>
          <p:cNvSpPr/>
          <p:nvPr/>
        </p:nvSpPr>
        <p:spPr>
          <a:xfrm>
            <a:off x="548640" y="2148840"/>
            <a:ext cx="8046720" cy="457200"/>
          </a:xfrm>
          <a:prstGeom prst="roundRect">
            <a:avLst>
              <a:gd name="adj" fmla="val 16000"/>
            </a:avLst>
          </a:prstGeom>
          <a:solidFill>
            <a:srgbClr val="0891B2"/>
          </a:solidFill>
          <a:ln w="9525">
            <a:solidFill>
              <a:srgbClr val="0891B2"/>
            </a:solidFill>
            <a:prstDash val="solid"/>
          </a:ln>
        </p:spPr>
      </p:sp>
      <p:sp>
        <p:nvSpPr>
          <p:cNvPr id="12" name="Text 9"/>
          <p:cNvSpPr txBox="1"/>
          <p:nvPr/>
        </p:nvSpPr>
        <p:spPr>
          <a:xfrm>
            <a:off x="548640" y="2148840"/>
            <a:ext cx="8046720" cy="457200"/>
          </a:xfrm>
          <a:prstGeom prst="rect">
            <a:avLst/>
          </a:prstGeom>
          <a:noFill/>
          <a:ln/>
        </p:spPr>
        <p:txBody>
          <a:bodyPr wrap="square" lIns="0" tIns="0" rIns="0" bIns="0" rtlCol="0" anchor="ctr"/>
          <a:lstStyle/>
          <a:p>
            <a:pPr algn="ctr" indent="0" marL="0">
              <a:buNone/>
            </a:pPr>
            <a:r>
              <a:rPr lang="en-US" sz="1400" dirty="0">
                <a:solidFill>
                  <a:srgbClr val="FFFFFF"/>
                </a:solidFill>
                <a:latin typeface="Segoe UI Semibold" pitchFamily="34" charset="0"/>
                <a:ea typeface="Segoe UI Semibold" pitchFamily="34" charset="-122"/>
                <a:cs typeface="Segoe UI Semibold" pitchFamily="34" charset="-120"/>
              </a:rPr>
              <a:t>API Gateway  ·  JWT validation  ·  role policy</a:t>
            </a:r>
            <a:endParaRPr lang="en-US" sz="1400" dirty="0"/>
          </a:p>
        </p:txBody>
      </p:sp>
      <p:sp>
        <p:nvSpPr>
          <p:cNvPr id="13" name="Shape 10"/>
          <p:cNvSpPr/>
          <p:nvPr/>
        </p:nvSpPr>
        <p:spPr>
          <a:xfrm>
            <a:off x="548640" y="2788920"/>
            <a:ext cx="1249680" cy="777240"/>
          </a:xfrm>
          <a:prstGeom prst="roundRect">
            <a:avLst>
              <a:gd name="adj" fmla="val 9412"/>
            </a:avLst>
          </a:prstGeom>
          <a:solidFill>
            <a:srgbClr val="FFFFFF"/>
          </a:solidFill>
          <a:ln w="9525">
            <a:solidFill>
              <a:srgbClr val="DCE3EE"/>
            </a:solidFill>
            <a:prstDash val="solid"/>
          </a:ln>
        </p:spPr>
      </p:sp>
      <p:sp>
        <p:nvSpPr>
          <p:cNvPr id="14" name="Text 11"/>
          <p:cNvSpPr txBox="1"/>
          <p:nvPr/>
        </p:nvSpPr>
        <p:spPr>
          <a:xfrm>
            <a:off x="548640" y="2834640"/>
            <a:ext cx="1249680" cy="411480"/>
          </a:xfrm>
          <a:prstGeom prst="rect">
            <a:avLst/>
          </a:prstGeom>
          <a:noFill/>
          <a:ln/>
        </p:spPr>
        <p:txBody>
          <a:bodyPr wrap="square" lIns="0" tIns="0" rIns="0" bIns="0" rtlCol="0" anchor="ctr"/>
          <a:lstStyle/>
          <a:p>
            <a:pPr algn="ctr" indent="0" marL="0">
              <a:buNone/>
            </a:pPr>
            <a:r>
              <a:rPr lang="en-US" sz="1100" dirty="0">
                <a:solidFill>
                  <a:srgbClr val="0B1B33"/>
                </a:solidFill>
                <a:latin typeface="Segoe UI Semibold" pitchFamily="34" charset="0"/>
                <a:ea typeface="Segoe UI Semibold" pitchFamily="34" charset="-122"/>
                <a:cs typeface="Segoe UI Semibold" pitchFamily="34" charset="-120"/>
              </a:rPr>
              <a:t>Identity</a:t>
            </a:r>
            <a:endParaRPr lang="en-US" sz="1100" dirty="0"/>
          </a:p>
        </p:txBody>
      </p:sp>
      <p:sp>
        <p:nvSpPr>
          <p:cNvPr id="15" name="Text 12"/>
          <p:cNvSpPr txBox="1"/>
          <p:nvPr/>
        </p:nvSpPr>
        <p:spPr>
          <a:xfrm>
            <a:off x="548640" y="3200400"/>
            <a:ext cx="1249680" cy="274320"/>
          </a:xfrm>
          <a:prstGeom prst="rect">
            <a:avLst/>
          </a:prstGeom>
          <a:noFill/>
          <a:ln/>
        </p:spPr>
        <p:txBody>
          <a:bodyPr wrap="square" lIns="0" tIns="0" rIns="0" bIns="0" rtlCol="0" anchor="ctr"/>
          <a:lstStyle/>
          <a:p>
            <a:pPr algn="ctr" indent="0" marL="0">
              <a:buNone/>
            </a:pPr>
            <a:r>
              <a:rPr lang="en-US" sz="900" dirty="0">
                <a:solidFill>
                  <a:srgbClr val="64748B"/>
                </a:solidFill>
                <a:latin typeface="Segoe UI" pitchFamily="34" charset="0"/>
                <a:ea typeface="Segoe UI" pitchFamily="34" charset="-122"/>
                <a:cs typeface="Segoe UI" pitchFamily="34" charset="-120"/>
              </a:rPr>
              <a:t>PostgreSQL</a:t>
            </a:r>
            <a:endParaRPr lang="en-US" sz="900" dirty="0"/>
          </a:p>
        </p:txBody>
      </p:sp>
      <p:sp>
        <p:nvSpPr>
          <p:cNvPr id="16" name="Shape 13"/>
          <p:cNvSpPr/>
          <p:nvPr/>
        </p:nvSpPr>
        <p:spPr>
          <a:xfrm>
            <a:off x="1908048" y="2788920"/>
            <a:ext cx="1249680" cy="777240"/>
          </a:xfrm>
          <a:prstGeom prst="roundRect">
            <a:avLst>
              <a:gd name="adj" fmla="val 9412"/>
            </a:avLst>
          </a:prstGeom>
          <a:solidFill>
            <a:srgbClr val="FFFFFF"/>
          </a:solidFill>
          <a:ln w="9525">
            <a:solidFill>
              <a:srgbClr val="DCE3EE"/>
            </a:solidFill>
            <a:prstDash val="solid"/>
          </a:ln>
        </p:spPr>
      </p:sp>
      <p:sp>
        <p:nvSpPr>
          <p:cNvPr id="17" name="Text 14"/>
          <p:cNvSpPr txBox="1"/>
          <p:nvPr/>
        </p:nvSpPr>
        <p:spPr>
          <a:xfrm>
            <a:off x="1908048" y="2834640"/>
            <a:ext cx="1249680" cy="411480"/>
          </a:xfrm>
          <a:prstGeom prst="rect">
            <a:avLst/>
          </a:prstGeom>
          <a:noFill/>
          <a:ln/>
        </p:spPr>
        <p:txBody>
          <a:bodyPr wrap="square" lIns="0" tIns="0" rIns="0" bIns="0" rtlCol="0" anchor="ctr"/>
          <a:lstStyle/>
          <a:p>
            <a:pPr algn="ctr" indent="0" marL="0">
              <a:buNone/>
            </a:pPr>
            <a:r>
              <a:rPr lang="en-US" sz="1100" dirty="0">
                <a:solidFill>
                  <a:srgbClr val="0B1B33"/>
                </a:solidFill>
                <a:latin typeface="Segoe UI Semibold" pitchFamily="34" charset="0"/>
                <a:ea typeface="Segoe UI Semibold" pitchFamily="34" charset="-122"/>
                <a:cs typeface="Segoe UI Semibold" pitchFamily="34" charset="-120"/>
              </a:rPr>
              <a:t>Asset</a:t>
            </a:r>
            <a:endParaRPr lang="en-US" sz="1100" dirty="0"/>
          </a:p>
        </p:txBody>
      </p:sp>
      <p:sp>
        <p:nvSpPr>
          <p:cNvPr id="18" name="Text 15"/>
          <p:cNvSpPr txBox="1"/>
          <p:nvPr/>
        </p:nvSpPr>
        <p:spPr>
          <a:xfrm>
            <a:off x="1908048" y="3200400"/>
            <a:ext cx="1249680" cy="274320"/>
          </a:xfrm>
          <a:prstGeom prst="rect">
            <a:avLst/>
          </a:prstGeom>
          <a:noFill/>
          <a:ln/>
        </p:spPr>
        <p:txBody>
          <a:bodyPr wrap="square" lIns="0" tIns="0" rIns="0" bIns="0" rtlCol="0" anchor="ctr"/>
          <a:lstStyle/>
          <a:p>
            <a:pPr algn="ctr" indent="0" marL="0">
              <a:buNone/>
            </a:pPr>
            <a:r>
              <a:rPr lang="en-US" sz="900" dirty="0">
                <a:solidFill>
                  <a:srgbClr val="64748B"/>
                </a:solidFill>
                <a:latin typeface="Segoe UI" pitchFamily="34" charset="0"/>
                <a:ea typeface="Segoe UI" pitchFamily="34" charset="-122"/>
                <a:cs typeface="Segoe UI" pitchFamily="34" charset="-120"/>
              </a:rPr>
              <a:t>PostgreSQL</a:t>
            </a:r>
            <a:endParaRPr lang="en-US" sz="900" dirty="0"/>
          </a:p>
        </p:txBody>
      </p:sp>
      <p:sp>
        <p:nvSpPr>
          <p:cNvPr id="19" name="Shape 16"/>
          <p:cNvSpPr/>
          <p:nvPr/>
        </p:nvSpPr>
        <p:spPr>
          <a:xfrm>
            <a:off x="3267456" y="2788920"/>
            <a:ext cx="1249680" cy="777240"/>
          </a:xfrm>
          <a:prstGeom prst="roundRect">
            <a:avLst>
              <a:gd name="adj" fmla="val 9412"/>
            </a:avLst>
          </a:prstGeom>
          <a:solidFill>
            <a:srgbClr val="FFFFFF"/>
          </a:solidFill>
          <a:ln w="9525">
            <a:solidFill>
              <a:srgbClr val="DCE3EE"/>
            </a:solidFill>
            <a:prstDash val="solid"/>
          </a:ln>
        </p:spPr>
      </p:sp>
      <p:sp>
        <p:nvSpPr>
          <p:cNvPr id="20" name="Text 17"/>
          <p:cNvSpPr txBox="1"/>
          <p:nvPr/>
        </p:nvSpPr>
        <p:spPr>
          <a:xfrm>
            <a:off x="3267456" y="2834640"/>
            <a:ext cx="1249680" cy="411480"/>
          </a:xfrm>
          <a:prstGeom prst="rect">
            <a:avLst/>
          </a:prstGeom>
          <a:noFill/>
          <a:ln/>
        </p:spPr>
        <p:txBody>
          <a:bodyPr wrap="square" lIns="0" tIns="0" rIns="0" bIns="0" rtlCol="0" anchor="ctr"/>
          <a:lstStyle/>
          <a:p>
            <a:pPr algn="ctr" indent="0" marL="0">
              <a:buNone/>
            </a:pPr>
            <a:r>
              <a:rPr lang="en-US" sz="1100" dirty="0">
                <a:solidFill>
                  <a:srgbClr val="0B1B33"/>
                </a:solidFill>
                <a:latin typeface="Segoe UI Semibold" pitchFamily="34" charset="0"/>
                <a:ea typeface="Segoe UI Semibold" pitchFamily="34" charset="-122"/>
                <a:cs typeface="Segoe UI Semibold" pitchFamily="34" charset="-120"/>
              </a:rPr>
              <a:t>Monitoring</a:t>
            </a:r>
            <a:endParaRPr lang="en-US" sz="1100" dirty="0"/>
          </a:p>
        </p:txBody>
      </p:sp>
      <p:sp>
        <p:nvSpPr>
          <p:cNvPr id="21" name="Text 18"/>
          <p:cNvSpPr txBox="1"/>
          <p:nvPr/>
        </p:nvSpPr>
        <p:spPr>
          <a:xfrm>
            <a:off x="3267456" y="3200400"/>
            <a:ext cx="1249680" cy="274320"/>
          </a:xfrm>
          <a:prstGeom prst="rect">
            <a:avLst/>
          </a:prstGeom>
          <a:noFill/>
          <a:ln/>
        </p:spPr>
        <p:txBody>
          <a:bodyPr wrap="square" lIns="0" tIns="0" rIns="0" bIns="0" rtlCol="0" anchor="ctr"/>
          <a:lstStyle/>
          <a:p>
            <a:pPr algn="ctr" indent="0" marL="0">
              <a:buNone/>
            </a:pPr>
            <a:r>
              <a:rPr lang="en-US" sz="900" dirty="0">
                <a:solidFill>
                  <a:srgbClr val="64748B"/>
                </a:solidFill>
                <a:latin typeface="Segoe UI" pitchFamily="34" charset="0"/>
                <a:ea typeface="Segoe UI" pitchFamily="34" charset="-122"/>
                <a:cs typeface="Segoe UI" pitchFamily="34" charset="-120"/>
              </a:rPr>
              <a:t>PostgreSQL</a:t>
            </a:r>
            <a:endParaRPr lang="en-US" sz="900" dirty="0"/>
          </a:p>
        </p:txBody>
      </p:sp>
      <p:sp>
        <p:nvSpPr>
          <p:cNvPr id="22" name="Shape 19"/>
          <p:cNvSpPr/>
          <p:nvPr/>
        </p:nvSpPr>
        <p:spPr>
          <a:xfrm>
            <a:off x="4626864" y="2788920"/>
            <a:ext cx="1249680" cy="777240"/>
          </a:xfrm>
          <a:prstGeom prst="roundRect">
            <a:avLst>
              <a:gd name="adj" fmla="val 9412"/>
            </a:avLst>
          </a:prstGeom>
          <a:solidFill>
            <a:srgbClr val="FFFFFF"/>
          </a:solidFill>
          <a:ln w="9525">
            <a:solidFill>
              <a:srgbClr val="DCE3EE"/>
            </a:solidFill>
            <a:prstDash val="solid"/>
          </a:ln>
        </p:spPr>
      </p:sp>
      <p:sp>
        <p:nvSpPr>
          <p:cNvPr id="23" name="Text 20"/>
          <p:cNvSpPr txBox="1"/>
          <p:nvPr/>
        </p:nvSpPr>
        <p:spPr>
          <a:xfrm>
            <a:off x="4626864" y="2834640"/>
            <a:ext cx="1249680" cy="411480"/>
          </a:xfrm>
          <a:prstGeom prst="rect">
            <a:avLst/>
          </a:prstGeom>
          <a:noFill/>
          <a:ln/>
        </p:spPr>
        <p:txBody>
          <a:bodyPr wrap="square" lIns="0" tIns="0" rIns="0" bIns="0" rtlCol="0" anchor="ctr"/>
          <a:lstStyle/>
          <a:p>
            <a:pPr algn="ctr" indent="0" marL="0">
              <a:buNone/>
            </a:pPr>
            <a:r>
              <a:rPr lang="en-US" sz="1100" dirty="0">
                <a:solidFill>
                  <a:srgbClr val="0B1B33"/>
                </a:solidFill>
                <a:latin typeface="Segoe UI Semibold" pitchFamily="34" charset="0"/>
                <a:ea typeface="Segoe UI Semibold" pitchFamily="34" charset="-122"/>
                <a:cs typeface="Segoe UI Semibold" pitchFamily="34" charset="-120"/>
              </a:rPr>
              <a:t>Maintenance</a:t>
            </a:r>
            <a:endParaRPr lang="en-US" sz="1100" dirty="0"/>
          </a:p>
        </p:txBody>
      </p:sp>
      <p:sp>
        <p:nvSpPr>
          <p:cNvPr id="24" name="Text 21"/>
          <p:cNvSpPr txBox="1"/>
          <p:nvPr/>
        </p:nvSpPr>
        <p:spPr>
          <a:xfrm>
            <a:off x="4626864" y="3200400"/>
            <a:ext cx="1249680" cy="274320"/>
          </a:xfrm>
          <a:prstGeom prst="rect">
            <a:avLst/>
          </a:prstGeom>
          <a:noFill/>
          <a:ln/>
        </p:spPr>
        <p:txBody>
          <a:bodyPr wrap="square" lIns="0" tIns="0" rIns="0" bIns="0" rtlCol="0" anchor="ctr"/>
          <a:lstStyle/>
          <a:p>
            <a:pPr algn="ctr" indent="0" marL="0">
              <a:buNone/>
            </a:pPr>
            <a:r>
              <a:rPr lang="en-US" sz="900" dirty="0">
                <a:solidFill>
                  <a:srgbClr val="64748B"/>
                </a:solidFill>
                <a:latin typeface="Segoe UI" pitchFamily="34" charset="0"/>
                <a:ea typeface="Segoe UI" pitchFamily="34" charset="-122"/>
                <a:cs typeface="Segoe UI" pitchFamily="34" charset="-120"/>
              </a:rPr>
              <a:t>PostgreSQL</a:t>
            </a:r>
            <a:endParaRPr lang="en-US" sz="900" dirty="0"/>
          </a:p>
        </p:txBody>
      </p:sp>
      <p:sp>
        <p:nvSpPr>
          <p:cNvPr id="25" name="Shape 22"/>
          <p:cNvSpPr/>
          <p:nvPr/>
        </p:nvSpPr>
        <p:spPr>
          <a:xfrm>
            <a:off x="5986272" y="2788920"/>
            <a:ext cx="1249680" cy="777240"/>
          </a:xfrm>
          <a:prstGeom prst="roundRect">
            <a:avLst>
              <a:gd name="adj" fmla="val 9412"/>
            </a:avLst>
          </a:prstGeom>
          <a:solidFill>
            <a:srgbClr val="FFFFFF"/>
          </a:solidFill>
          <a:ln w="9525">
            <a:solidFill>
              <a:srgbClr val="DCE3EE"/>
            </a:solidFill>
            <a:prstDash val="solid"/>
          </a:ln>
        </p:spPr>
      </p:sp>
      <p:sp>
        <p:nvSpPr>
          <p:cNvPr id="26" name="Text 23"/>
          <p:cNvSpPr txBox="1"/>
          <p:nvPr/>
        </p:nvSpPr>
        <p:spPr>
          <a:xfrm>
            <a:off x="5986272" y="2834640"/>
            <a:ext cx="1249680" cy="411480"/>
          </a:xfrm>
          <a:prstGeom prst="rect">
            <a:avLst/>
          </a:prstGeom>
          <a:noFill/>
          <a:ln/>
        </p:spPr>
        <p:txBody>
          <a:bodyPr wrap="square" lIns="0" tIns="0" rIns="0" bIns="0" rtlCol="0" anchor="ctr"/>
          <a:lstStyle/>
          <a:p>
            <a:pPr algn="ctr" indent="0" marL="0">
              <a:buNone/>
            </a:pPr>
            <a:r>
              <a:rPr lang="en-US" sz="1100" dirty="0">
                <a:solidFill>
                  <a:srgbClr val="0B1B33"/>
                </a:solidFill>
                <a:latin typeface="Segoe UI Semibold" pitchFamily="34" charset="0"/>
                <a:ea typeface="Segoe UI Semibold" pitchFamily="34" charset="-122"/>
                <a:cs typeface="Segoe UI Semibold" pitchFamily="34" charset="-120"/>
              </a:rPr>
              <a:t>Notification</a:t>
            </a:r>
            <a:endParaRPr lang="en-US" sz="1100" dirty="0"/>
          </a:p>
        </p:txBody>
      </p:sp>
      <p:sp>
        <p:nvSpPr>
          <p:cNvPr id="27" name="Text 24"/>
          <p:cNvSpPr txBox="1"/>
          <p:nvPr/>
        </p:nvSpPr>
        <p:spPr>
          <a:xfrm>
            <a:off x="5986272" y="3200400"/>
            <a:ext cx="1249680" cy="274320"/>
          </a:xfrm>
          <a:prstGeom prst="rect">
            <a:avLst/>
          </a:prstGeom>
          <a:noFill/>
          <a:ln/>
        </p:spPr>
        <p:txBody>
          <a:bodyPr wrap="square" lIns="0" tIns="0" rIns="0" bIns="0" rtlCol="0" anchor="ctr"/>
          <a:lstStyle/>
          <a:p>
            <a:pPr algn="ctr" indent="0" marL="0">
              <a:buNone/>
            </a:pPr>
            <a:r>
              <a:rPr lang="en-US" sz="900" dirty="0">
                <a:solidFill>
                  <a:srgbClr val="64748B"/>
                </a:solidFill>
                <a:latin typeface="Segoe UI" pitchFamily="34" charset="0"/>
                <a:ea typeface="Segoe UI" pitchFamily="34" charset="-122"/>
                <a:cs typeface="Segoe UI" pitchFamily="34" charset="-120"/>
              </a:rPr>
              <a:t>PostgreSQL</a:t>
            </a:r>
            <a:endParaRPr lang="en-US" sz="900" dirty="0"/>
          </a:p>
        </p:txBody>
      </p:sp>
      <p:sp>
        <p:nvSpPr>
          <p:cNvPr id="28" name="Shape 25"/>
          <p:cNvSpPr/>
          <p:nvPr/>
        </p:nvSpPr>
        <p:spPr>
          <a:xfrm>
            <a:off x="7345680" y="2788920"/>
            <a:ext cx="1249680" cy="777240"/>
          </a:xfrm>
          <a:prstGeom prst="roundRect">
            <a:avLst>
              <a:gd name="adj" fmla="val 9412"/>
            </a:avLst>
          </a:prstGeom>
          <a:solidFill>
            <a:srgbClr val="FFFFFF"/>
          </a:solidFill>
          <a:ln w="9525">
            <a:solidFill>
              <a:srgbClr val="DCE3EE"/>
            </a:solidFill>
            <a:prstDash val="solid"/>
          </a:ln>
        </p:spPr>
      </p:sp>
      <p:sp>
        <p:nvSpPr>
          <p:cNvPr id="29" name="Text 26"/>
          <p:cNvSpPr txBox="1"/>
          <p:nvPr/>
        </p:nvSpPr>
        <p:spPr>
          <a:xfrm>
            <a:off x="7345680" y="2834640"/>
            <a:ext cx="1249680" cy="411480"/>
          </a:xfrm>
          <a:prstGeom prst="rect">
            <a:avLst/>
          </a:prstGeom>
          <a:noFill/>
          <a:ln/>
        </p:spPr>
        <p:txBody>
          <a:bodyPr wrap="square" lIns="0" tIns="0" rIns="0" bIns="0" rtlCol="0" anchor="ctr"/>
          <a:lstStyle/>
          <a:p>
            <a:pPr algn="ctr" indent="0" marL="0">
              <a:buNone/>
            </a:pPr>
            <a:r>
              <a:rPr lang="en-US" sz="1100" dirty="0">
                <a:solidFill>
                  <a:srgbClr val="0B1B33"/>
                </a:solidFill>
                <a:latin typeface="Segoe UI Semibold" pitchFamily="34" charset="0"/>
                <a:ea typeface="Segoe UI Semibold" pitchFamily="34" charset="-122"/>
                <a:cs typeface="Segoe UI Semibold" pitchFamily="34" charset="-120"/>
              </a:rPr>
              <a:t>Analytics</a:t>
            </a:r>
            <a:endParaRPr lang="en-US" sz="1100" dirty="0"/>
          </a:p>
        </p:txBody>
      </p:sp>
      <p:sp>
        <p:nvSpPr>
          <p:cNvPr id="30" name="Text 27"/>
          <p:cNvSpPr txBox="1"/>
          <p:nvPr/>
        </p:nvSpPr>
        <p:spPr>
          <a:xfrm>
            <a:off x="7345680" y="3200400"/>
            <a:ext cx="1249680" cy="274320"/>
          </a:xfrm>
          <a:prstGeom prst="rect">
            <a:avLst/>
          </a:prstGeom>
          <a:noFill/>
          <a:ln/>
        </p:spPr>
        <p:txBody>
          <a:bodyPr wrap="square" lIns="0" tIns="0" rIns="0" bIns="0" rtlCol="0" anchor="ctr"/>
          <a:lstStyle/>
          <a:p>
            <a:pPr algn="ctr" indent="0" marL="0">
              <a:buNone/>
            </a:pPr>
            <a:r>
              <a:rPr lang="en-US" sz="900" dirty="0">
                <a:solidFill>
                  <a:srgbClr val="64748B"/>
                </a:solidFill>
                <a:latin typeface="Segoe UI" pitchFamily="34" charset="0"/>
                <a:ea typeface="Segoe UI" pitchFamily="34" charset="-122"/>
                <a:cs typeface="Segoe UI" pitchFamily="34" charset="-120"/>
              </a:rPr>
              <a:t>PostgreSQL</a:t>
            </a:r>
            <a:endParaRPr lang="en-US" sz="900" dirty="0"/>
          </a:p>
        </p:txBody>
      </p:sp>
      <p:sp>
        <p:nvSpPr>
          <p:cNvPr id="31" name="Shape 28"/>
          <p:cNvSpPr/>
          <p:nvPr/>
        </p:nvSpPr>
        <p:spPr>
          <a:xfrm>
            <a:off x="548640" y="3749040"/>
            <a:ext cx="8046720" cy="457200"/>
          </a:xfrm>
          <a:prstGeom prst="roundRect">
            <a:avLst>
              <a:gd name="adj" fmla="val 16000"/>
            </a:avLst>
          </a:prstGeom>
          <a:solidFill>
            <a:srgbClr val="FFFFFF"/>
          </a:solidFill>
          <a:ln w="9525">
            <a:solidFill>
              <a:srgbClr val="16A34A"/>
            </a:solidFill>
            <a:prstDash val="solid"/>
          </a:ln>
        </p:spPr>
      </p:sp>
      <p:sp>
        <p:nvSpPr>
          <p:cNvPr id="32" name="Text 29"/>
          <p:cNvSpPr txBox="1"/>
          <p:nvPr/>
        </p:nvSpPr>
        <p:spPr>
          <a:xfrm>
            <a:off x="548640" y="3749040"/>
            <a:ext cx="8046720" cy="457200"/>
          </a:xfrm>
          <a:prstGeom prst="rect">
            <a:avLst/>
          </a:prstGeom>
          <a:noFill/>
          <a:ln/>
        </p:spPr>
        <p:txBody>
          <a:bodyPr wrap="square" lIns="0" tIns="0" rIns="0" bIns="0" rtlCol="0" anchor="ctr"/>
          <a:lstStyle/>
          <a:p>
            <a:pPr algn="ctr" indent="0" marL="0">
              <a:buNone/>
            </a:pPr>
            <a:r>
              <a:rPr lang="en-US" sz="1300" dirty="0">
                <a:solidFill>
                  <a:srgbClr val="0B1B33"/>
                </a:solidFill>
                <a:latin typeface="Segoe UI" pitchFamily="34" charset="0"/>
                <a:ea typeface="Segoe UI" pitchFamily="34" charset="-122"/>
                <a:cs typeface="Segoe UI" pitchFamily="34" charset="-120"/>
              </a:rPr>
              <a:t>RabbitMQ events  ·  Redis cache  ·  Prometheus and Grafana</a:t>
            </a:r>
            <a:endParaRPr lang="en-US" sz="1300" dirty="0"/>
          </a:p>
        </p:txBody>
      </p:sp>
      <p:sp>
        <p:nvSpPr>
          <p:cNvPr id="33" name="Shape 30"/>
          <p:cNvSpPr/>
          <p:nvPr/>
        </p:nvSpPr>
        <p:spPr>
          <a:xfrm>
            <a:off x="548640" y="4297680"/>
            <a:ext cx="4206240" cy="329184"/>
          </a:xfrm>
          <a:prstGeom prst="roundRect">
            <a:avLst>
              <a:gd name="adj" fmla="val 50000"/>
            </a:avLst>
          </a:prstGeom>
          <a:solidFill>
            <a:srgbClr val="E6F4F8"/>
          </a:solidFill>
          <a:ln w="12700">
            <a:solidFill>
              <a:srgbClr val="E6F4F8"/>
            </a:solidFill>
            <a:prstDash val="solid"/>
          </a:ln>
        </p:spPr>
      </p:sp>
      <p:sp>
        <p:nvSpPr>
          <p:cNvPr id="34" name="Text 31"/>
          <p:cNvSpPr txBox="1"/>
          <p:nvPr/>
        </p:nvSpPr>
        <p:spPr>
          <a:xfrm>
            <a:off x="731520" y="4297680"/>
            <a:ext cx="3931920" cy="329184"/>
          </a:xfrm>
          <a:prstGeom prst="rect">
            <a:avLst/>
          </a:prstGeom>
          <a:noFill/>
          <a:ln/>
        </p:spPr>
        <p:txBody>
          <a:bodyPr wrap="square" lIns="0" tIns="0" rIns="0" bIns="0" rtlCol="0" anchor="ctr"/>
          <a:lstStyle/>
          <a:p>
            <a:pPr indent="0" marL="0">
              <a:buNone/>
            </a:pPr>
            <a:r>
              <a:rPr lang="en-US" sz="1100" b="1" dirty="0">
                <a:solidFill>
                  <a:srgbClr val="0891B2"/>
                </a:solidFill>
                <a:latin typeface="Segoe UI" pitchFamily="34" charset="0"/>
                <a:ea typeface="Segoe UI" pitchFamily="34" charset="-122"/>
                <a:cs typeface="Segoe UI" pitchFamily="34" charset="-120"/>
              </a:rPr>
              <a:t>LIVE  </a:t>
            </a:r>
            <a:pPr indent="0" marL="0">
              <a:buNone/>
            </a:pPr>
            <a:r>
              <a:rPr lang="en-US" sz="1100" dirty="0">
                <a:solidFill>
                  <a:srgbClr val="0B1B33"/>
                </a:solidFill>
                <a:latin typeface="Segoe UI" pitchFamily="34" charset="0"/>
                <a:ea typeface="Segoe UI" pitchFamily="34" charset="-122"/>
                <a:cs typeface="Segoe UI" pitchFamily="34" charset="-120"/>
              </a:rPr>
              <a:t>Console: sign in, Control room</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3" name="Shape 0"/>
          <p:cNvSpPr/>
          <p:nvPr/>
        </p:nvSpPr>
        <p:spPr>
          <a:xfrm>
            <a:off x="548640" y="429768"/>
            <a:ext cx="82296" cy="82296"/>
          </a:xfrm>
          <a:prstGeom prst="rect">
            <a:avLst/>
          </a:prstGeom>
          <a:solidFill>
            <a:srgbClr val="0891B2"/>
          </a:solidFill>
          <a:ln w="12700">
            <a:solidFill>
              <a:srgbClr val="0891B2"/>
            </a:solidFill>
            <a:prstDash val="solid"/>
          </a:ln>
        </p:spPr>
      </p:sp>
      <p:sp>
        <p:nvSpPr>
          <p:cNvPr id="4" name="Text 1"/>
          <p:cNvSpPr txBox="1"/>
          <p:nvPr/>
        </p:nvSpPr>
        <p:spPr>
          <a:xfrm>
            <a:off x="749808" y="365760"/>
            <a:ext cx="7315200" cy="219456"/>
          </a:xfrm>
          <a:prstGeom prst="rect">
            <a:avLst/>
          </a:prstGeom>
          <a:noFill/>
          <a:ln/>
        </p:spPr>
        <p:txBody>
          <a:bodyPr wrap="square" lIns="0" tIns="0" rIns="0" bIns="0" rtlCol="0" anchor="ctr"/>
          <a:lstStyle/>
          <a:p>
            <a:pPr indent="0" marL="0">
              <a:buNone/>
            </a:pPr>
            <a:r>
              <a:rPr lang="en-US" sz="1050" spc="400" kern="0" dirty="0">
                <a:solidFill>
                  <a:srgbClr val="0891B2"/>
                </a:solidFill>
                <a:latin typeface="Segoe UI Semibold" pitchFamily="34" charset="0"/>
                <a:ea typeface="Segoe UI Semibold" pitchFamily="34" charset="-122"/>
                <a:cs typeface="Segoe UI Semibold" pitchFamily="34" charset="-120"/>
              </a:rPr>
              <a:t>03 · NEMAL · ASSET SERVICE</a:t>
            </a:r>
            <a:endParaRPr lang="en-US" sz="1050" dirty="0"/>
          </a:p>
        </p:txBody>
      </p:sp>
      <p:sp>
        <p:nvSpPr>
          <p:cNvPr id="5" name="Text 2"/>
          <p:cNvSpPr txBox="1"/>
          <p:nvPr/>
        </p:nvSpPr>
        <p:spPr>
          <a:xfrm>
            <a:off x="548640" y="713232"/>
            <a:ext cx="8046720" cy="640080"/>
          </a:xfrm>
          <a:prstGeom prst="rect">
            <a:avLst/>
          </a:prstGeom>
          <a:noFill/>
          <a:ln/>
        </p:spPr>
        <p:txBody>
          <a:bodyPr wrap="square" lIns="0" tIns="0" rIns="0" bIns="0" rtlCol="0" anchor="ctr"/>
          <a:lstStyle/>
          <a:p>
            <a:pPr indent="0" marL="0">
              <a:buNone/>
            </a:pPr>
            <a:r>
              <a:rPr lang="en-US" sz="3200" dirty="0">
                <a:solidFill>
                  <a:srgbClr val="0B1B33"/>
                </a:solidFill>
                <a:latin typeface="Segoe UI Semibold" pitchFamily="34" charset="0"/>
                <a:ea typeface="Segoe UI Semibold" pitchFamily="34" charset="-122"/>
                <a:cs typeface="Segoe UI Semibold" pitchFamily="34" charset="-120"/>
              </a:rPr>
              <a:t>The registry every service relies on</a:t>
            </a:r>
            <a:endParaRPr lang="en-US" sz="3200" dirty="0"/>
          </a:p>
        </p:txBody>
      </p:sp>
      <p:sp>
        <p:nvSpPr>
          <p:cNvPr id="6" name="Shape 3"/>
          <p:cNvSpPr/>
          <p:nvPr/>
        </p:nvSpPr>
        <p:spPr>
          <a:xfrm>
            <a:off x="548640" y="4681728"/>
            <a:ext cx="8046720" cy="0"/>
          </a:xfrm>
          <a:prstGeom prst="line">
            <a:avLst/>
          </a:prstGeom>
          <a:noFill/>
          <a:ln w="9525">
            <a:solidFill>
              <a:srgbClr val="DCE3EE"/>
            </a:solidFill>
            <a:prstDash val="solid"/>
          </a:ln>
        </p:spPr>
      </p:sp>
      <p:sp>
        <p:nvSpPr>
          <p:cNvPr id="7" name="Text 4"/>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8" name="Text 5"/>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64748B"/>
                </a:solidFill>
                <a:latin typeface="Segoe UI" pitchFamily="34" charset="0"/>
                <a:ea typeface="Segoe UI" pitchFamily="34" charset="-122"/>
                <a:cs typeface="Segoe UI" pitchFamily="34" charset="-120"/>
              </a:rPr>
              <a:t>03  ·  1:13–2:08</a:t>
            </a:r>
            <a:endParaRPr lang="en-US" sz="900" dirty="0"/>
          </a:p>
        </p:txBody>
      </p:sp>
      <p:sp>
        <p:nvSpPr>
          <p:cNvPr id="9" name="Shape 6"/>
          <p:cNvSpPr/>
          <p:nvPr/>
        </p:nvSpPr>
        <p:spPr>
          <a:xfrm>
            <a:off x="548640" y="1600200"/>
            <a:ext cx="2499360" cy="914400"/>
          </a:xfrm>
          <a:prstGeom prst="roundRect">
            <a:avLst>
              <a:gd name="adj" fmla="val 8000"/>
            </a:avLst>
          </a:prstGeom>
          <a:solidFill>
            <a:srgbClr val="0891B2"/>
          </a:solidFill>
          <a:ln w="9525">
            <a:solidFill>
              <a:srgbClr val="0891B2"/>
            </a:solidFill>
            <a:prstDash val="solid"/>
          </a:ln>
        </p:spPr>
      </p:sp>
      <p:sp>
        <p:nvSpPr>
          <p:cNvPr id="10" name="Text 7"/>
          <p:cNvSpPr txBox="1"/>
          <p:nvPr/>
        </p:nvSpPr>
        <p:spPr>
          <a:xfrm>
            <a:off x="548640" y="1664208"/>
            <a:ext cx="249936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Segoe UI Semibold" pitchFamily="34" charset="0"/>
                <a:ea typeface="Segoe UI Semibold" pitchFamily="34" charset="-122"/>
                <a:cs typeface="Segoe UI Semibold" pitchFamily="34" charset="-120"/>
              </a:rPr>
              <a:t>Facility</a:t>
            </a:r>
            <a:endParaRPr lang="en-US" sz="1500" dirty="0"/>
          </a:p>
        </p:txBody>
      </p:sp>
      <p:sp>
        <p:nvSpPr>
          <p:cNvPr id="11" name="Text 8"/>
          <p:cNvSpPr txBox="1"/>
          <p:nvPr/>
        </p:nvSpPr>
        <p:spPr>
          <a:xfrm>
            <a:off x="548640" y="2084832"/>
            <a:ext cx="2499360" cy="320040"/>
          </a:xfrm>
          <a:prstGeom prst="rect">
            <a:avLst/>
          </a:prstGeom>
          <a:noFill/>
          <a:ln/>
        </p:spPr>
        <p:txBody>
          <a:bodyPr wrap="square" lIns="0" tIns="0" rIns="0" bIns="0" rtlCol="0" anchor="ctr"/>
          <a:lstStyle/>
          <a:p>
            <a:pPr algn="ctr" indent="0" marL="0">
              <a:buNone/>
            </a:pPr>
            <a:r>
              <a:rPr lang="en-US" sz="1100" dirty="0">
                <a:solidFill>
                  <a:srgbClr val="E6F4F8"/>
                </a:solidFill>
                <a:latin typeface="Segoe UI" pitchFamily="34" charset="0"/>
                <a:ea typeface="Segoe UI" pitchFamily="34" charset="-122"/>
                <a:cs typeface="Segoe UI" pitchFamily="34" charset="-120"/>
              </a:rPr>
              <a:t>5 types</a:t>
            </a:r>
            <a:endParaRPr lang="en-US" sz="1100" dirty="0"/>
          </a:p>
        </p:txBody>
      </p:sp>
      <p:sp>
        <p:nvSpPr>
          <p:cNvPr id="12" name="Text 9"/>
          <p:cNvSpPr txBox="1"/>
          <p:nvPr/>
        </p:nvSpPr>
        <p:spPr>
          <a:xfrm>
            <a:off x="3048000" y="1783080"/>
            <a:ext cx="274320" cy="548640"/>
          </a:xfrm>
          <a:prstGeom prst="rect">
            <a:avLst/>
          </a:prstGeom>
          <a:noFill/>
          <a:ln/>
        </p:spPr>
        <p:txBody>
          <a:bodyPr wrap="square" lIns="0" tIns="0" rIns="0" bIns="0" rtlCol="0" anchor="ctr"/>
          <a:lstStyle/>
          <a:p>
            <a:pPr algn="ctr" indent="0" marL="0">
              <a:buNone/>
            </a:pPr>
            <a:r>
              <a:rPr lang="en-US" sz="2400" dirty="0">
                <a:solidFill>
                  <a:srgbClr val="0891B2"/>
                </a:solidFill>
                <a:latin typeface="Segoe UI Semibold" pitchFamily="34" charset="0"/>
                <a:ea typeface="Segoe UI Semibold" pitchFamily="34" charset="-122"/>
                <a:cs typeface="Segoe UI Semibold" pitchFamily="34" charset="-120"/>
              </a:rPr>
              <a:t>›</a:t>
            </a:r>
            <a:endParaRPr lang="en-US" sz="2400" dirty="0"/>
          </a:p>
        </p:txBody>
      </p:sp>
      <p:sp>
        <p:nvSpPr>
          <p:cNvPr id="13" name="Shape 10"/>
          <p:cNvSpPr/>
          <p:nvPr/>
        </p:nvSpPr>
        <p:spPr>
          <a:xfrm>
            <a:off x="3322320" y="1600200"/>
            <a:ext cx="2499360" cy="914400"/>
          </a:xfrm>
          <a:prstGeom prst="roundRect">
            <a:avLst>
              <a:gd name="adj" fmla="val 8000"/>
            </a:avLst>
          </a:prstGeom>
          <a:solidFill>
            <a:srgbClr val="FFFFFF"/>
          </a:solidFill>
          <a:ln w="9525">
            <a:solidFill>
              <a:srgbClr val="DCE3EE"/>
            </a:solidFill>
            <a:prstDash val="solid"/>
          </a:ln>
        </p:spPr>
      </p:sp>
      <p:sp>
        <p:nvSpPr>
          <p:cNvPr id="14" name="Text 11"/>
          <p:cNvSpPr txBox="1"/>
          <p:nvPr/>
        </p:nvSpPr>
        <p:spPr>
          <a:xfrm>
            <a:off x="3322320" y="1664208"/>
            <a:ext cx="2499360" cy="457200"/>
          </a:xfrm>
          <a:prstGeom prst="rect">
            <a:avLst/>
          </a:prstGeom>
          <a:noFill/>
          <a:ln/>
        </p:spPr>
        <p:txBody>
          <a:bodyPr wrap="square" lIns="0" tIns="0" rIns="0" bIns="0" rtlCol="0" anchor="ctr"/>
          <a:lstStyle/>
          <a:p>
            <a:pPr algn="ctr" indent="0" marL="0">
              <a:buNone/>
            </a:pPr>
            <a:r>
              <a:rPr lang="en-US" sz="1500" dirty="0">
                <a:solidFill>
                  <a:srgbClr val="0B1B33"/>
                </a:solidFill>
                <a:latin typeface="Segoe UI Semibold" pitchFamily="34" charset="0"/>
                <a:ea typeface="Segoe UI Semibold" pitchFamily="34" charset="-122"/>
                <a:cs typeface="Segoe UI Semibold" pitchFamily="34" charset="-120"/>
              </a:rPr>
              <a:t>Asset</a:t>
            </a:r>
            <a:endParaRPr lang="en-US" sz="1500" dirty="0"/>
          </a:p>
        </p:txBody>
      </p:sp>
      <p:sp>
        <p:nvSpPr>
          <p:cNvPr id="15" name="Text 12"/>
          <p:cNvSpPr txBox="1"/>
          <p:nvPr/>
        </p:nvSpPr>
        <p:spPr>
          <a:xfrm>
            <a:off x="3322320" y="2084832"/>
            <a:ext cx="249936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Segoe UI" pitchFamily="34" charset="0"/>
                <a:ea typeface="Segoe UI" pitchFamily="34" charset="-122"/>
                <a:cs typeface="Segoe UI" pitchFamily="34" charset="-120"/>
              </a:rPr>
              <a:t>7 types</a:t>
            </a:r>
            <a:endParaRPr lang="en-US" sz="1100" dirty="0"/>
          </a:p>
        </p:txBody>
      </p:sp>
      <p:sp>
        <p:nvSpPr>
          <p:cNvPr id="16" name="Text 13"/>
          <p:cNvSpPr txBox="1"/>
          <p:nvPr/>
        </p:nvSpPr>
        <p:spPr>
          <a:xfrm>
            <a:off x="5821680" y="1783080"/>
            <a:ext cx="274320" cy="548640"/>
          </a:xfrm>
          <a:prstGeom prst="rect">
            <a:avLst/>
          </a:prstGeom>
          <a:noFill/>
          <a:ln/>
        </p:spPr>
        <p:txBody>
          <a:bodyPr wrap="square" lIns="0" tIns="0" rIns="0" bIns="0" rtlCol="0" anchor="ctr"/>
          <a:lstStyle/>
          <a:p>
            <a:pPr algn="ctr" indent="0" marL="0">
              <a:buNone/>
            </a:pPr>
            <a:r>
              <a:rPr lang="en-US" sz="2400" dirty="0">
                <a:solidFill>
                  <a:srgbClr val="0891B2"/>
                </a:solidFill>
                <a:latin typeface="Segoe UI Semibold" pitchFamily="34" charset="0"/>
                <a:ea typeface="Segoe UI Semibold" pitchFamily="34" charset="-122"/>
                <a:cs typeface="Segoe UI Semibold" pitchFamily="34" charset="-120"/>
              </a:rPr>
              <a:t>›</a:t>
            </a:r>
            <a:endParaRPr lang="en-US" sz="2400" dirty="0"/>
          </a:p>
        </p:txBody>
      </p:sp>
      <p:sp>
        <p:nvSpPr>
          <p:cNvPr id="17" name="Shape 14"/>
          <p:cNvSpPr/>
          <p:nvPr/>
        </p:nvSpPr>
        <p:spPr>
          <a:xfrm>
            <a:off x="6096000" y="1600200"/>
            <a:ext cx="2499360" cy="914400"/>
          </a:xfrm>
          <a:prstGeom prst="roundRect">
            <a:avLst>
              <a:gd name="adj" fmla="val 8000"/>
            </a:avLst>
          </a:prstGeom>
          <a:solidFill>
            <a:srgbClr val="FFFFFF"/>
          </a:solidFill>
          <a:ln w="9525">
            <a:solidFill>
              <a:srgbClr val="DCE3EE"/>
            </a:solidFill>
            <a:prstDash val="solid"/>
          </a:ln>
        </p:spPr>
      </p:sp>
      <p:sp>
        <p:nvSpPr>
          <p:cNvPr id="18" name="Text 15"/>
          <p:cNvSpPr txBox="1"/>
          <p:nvPr/>
        </p:nvSpPr>
        <p:spPr>
          <a:xfrm>
            <a:off x="6096000" y="1664208"/>
            <a:ext cx="2499360" cy="457200"/>
          </a:xfrm>
          <a:prstGeom prst="rect">
            <a:avLst/>
          </a:prstGeom>
          <a:noFill/>
          <a:ln/>
        </p:spPr>
        <p:txBody>
          <a:bodyPr wrap="square" lIns="0" tIns="0" rIns="0" bIns="0" rtlCol="0" anchor="ctr"/>
          <a:lstStyle/>
          <a:p>
            <a:pPr algn="ctr" indent="0" marL="0">
              <a:buNone/>
            </a:pPr>
            <a:r>
              <a:rPr lang="en-US" sz="1500" dirty="0">
                <a:solidFill>
                  <a:srgbClr val="0B1B33"/>
                </a:solidFill>
                <a:latin typeface="Segoe UI Semibold" pitchFamily="34" charset="0"/>
                <a:ea typeface="Segoe UI Semibold" pitchFamily="34" charset="-122"/>
                <a:cs typeface="Segoe UI Semibold" pitchFamily="34" charset="-120"/>
              </a:rPr>
              <a:t>Sensor</a:t>
            </a:r>
            <a:endParaRPr lang="en-US" sz="1500" dirty="0"/>
          </a:p>
        </p:txBody>
      </p:sp>
      <p:sp>
        <p:nvSpPr>
          <p:cNvPr id="19" name="Text 16"/>
          <p:cNvSpPr txBox="1"/>
          <p:nvPr/>
        </p:nvSpPr>
        <p:spPr>
          <a:xfrm>
            <a:off x="6096000" y="2084832"/>
            <a:ext cx="249936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Segoe UI" pitchFamily="34" charset="0"/>
                <a:ea typeface="Segoe UI" pitchFamily="34" charset="-122"/>
                <a:cs typeface="Segoe UI" pitchFamily="34" charset="-120"/>
              </a:rPr>
              <a:t>9 metrics</a:t>
            </a:r>
            <a:endParaRPr lang="en-US" sz="1100" dirty="0"/>
          </a:p>
        </p:txBody>
      </p:sp>
      <p:sp>
        <p:nvSpPr>
          <p:cNvPr id="20" name="Shape 17"/>
          <p:cNvSpPr/>
          <p:nvPr/>
        </p:nvSpPr>
        <p:spPr>
          <a:xfrm>
            <a:off x="548640" y="2926080"/>
            <a:ext cx="457200" cy="0"/>
          </a:xfrm>
          <a:prstGeom prst="line">
            <a:avLst/>
          </a:prstGeom>
          <a:noFill/>
          <a:ln w="28575">
            <a:solidFill>
              <a:srgbClr val="0891B2"/>
            </a:solidFill>
            <a:prstDash val="solid"/>
          </a:ln>
        </p:spPr>
      </p:sp>
      <p:sp>
        <p:nvSpPr>
          <p:cNvPr id="21" name="Text 18"/>
          <p:cNvSpPr txBox="1"/>
          <p:nvPr/>
        </p:nvSpPr>
        <p:spPr>
          <a:xfrm>
            <a:off x="548640" y="3017520"/>
            <a:ext cx="2499360" cy="640080"/>
          </a:xfrm>
          <a:prstGeom prst="rect">
            <a:avLst/>
          </a:prstGeom>
          <a:noFill/>
          <a:ln/>
        </p:spPr>
        <p:txBody>
          <a:bodyPr wrap="square" lIns="0" tIns="0" rIns="0" bIns="0" rtlCol="0" anchor="ctr"/>
          <a:lstStyle/>
          <a:p>
            <a:pPr indent="0" marL="0">
              <a:buNone/>
            </a:pPr>
            <a:r>
              <a:rPr lang="en-US" sz="2400" dirty="0">
                <a:solidFill>
                  <a:srgbClr val="0891B2"/>
                </a:solidFill>
                <a:latin typeface="Segoe UI Semibold" pitchFamily="34" charset="0"/>
                <a:ea typeface="Segoe UI Semibold" pitchFamily="34" charset="-122"/>
                <a:cs typeface="Segoe UI Semibold" pitchFamily="34" charset="-120"/>
              </a:rPr>
              <a:t>5 · 11 · 32</a:t>
            </a:r>
            <a:endParaRPr lang="en-US" sz="2400" dirty="0"/>
          </a:p>
        </p:txBody>
      </p:sp>
      <p:sp>
        <p:nvSpPr>
          <p:cNvPr id="22" name="Text 19"/>
          <p:cNvSpPr txBox="1"/>
          <p:nvPr/>
        </p:nvSpPr>
        <p:spPr>
          <a:xfrm>
            <a:off x="548640" y="3657600"/>
            <a:ext cx="2499360" cy="32004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facilities · assets · sensors</a:t>
            </a:r>
            <a:endParaRPr lang="en-US" sz="1200" dirty="0"/>
          </a:p>
        </p:txBody>
      </p:sp>
      <p:sp>
        <p:nvSpPr>
          <p:cNvPr id="23" name="Shape 20"/>
          <p:cNvSpPr/>
          <p:nvPr/>
        </p:nvSpPr>
        <p:spPr>
          <a:xfrm>
            <a:off x="3322320" y="2926080"/>
            <a:ext cx="457200" cy="0"/>
          </a:xfrm>
          <a:prstGeom prst="line">
            <a:avLst/>
          </a:prstGeom>
          <a:noFill/>
          <a:ln w="28575">
            <a:solidFill>
              <a:srgbClr val="0891B2"/>
            </a:solidFill>
            <a:prstDash val="solid"/>
          </a:ln>
        </p:spPr>
      </p:sp>
      <p:sp>
        <p:nvSpPr>
          <p:cNvPr id="24" name="Text 21"/>
          <p:cNvSpPr txBox="1"/>
          <p:nvPr/>
        </p:nvSpPr>
        <p:spPr>
          <a:xfrm>
            <a:off x="3322320" y="3017520"/>
            <a:ext cx="2499360" cy="640080"/>
          </a:xfrm>
          <a:prstGeom prst="rect">
            <a:avLst/>
          </a:prstGeom>
          <a:noFill/>
          <a:ln/>
        </p:spPr>
        <p:txBody>
          <a:bodyPr wrap="square" lIns="0" tIns="0" rIns="0" bIns="0" rtlCol="0" anchor="ctr"/>
          <a:lstStyle/>
          <a:p>
            <a:pPr indent="0" marL="0">
              <a:buNone/>
            </a:pPr>
            <a:r>
              <a:rPr lang="en-US" sz="2400" dirty="0">
                <a:solidFill>
                  <a:srgbClr val="0891B2"/>
                </a:solidFill>
                <a:latin typeface="Segoe UI Semibold" pitchFamily="34" charset="0"/>
                <a:ea typeface="Segoe UI Semibold" pitchFamily="34" charset="-122"/>
                <a:cs typeface="Segoe UI Semibold" pitchFamily="34" charset="-120"/>
              </a:rPr>
              <a:t>Server-side</a:t>
            </a:r>
            <a:endParaRPr lang="en-US" sz="2400" dirty="0"/>
          </a:p>
        </p:txBody>
      </p:sp>
      <p:sp>
        <p:nvSpPr>
          <p:cNvPr id="25" name="Text 22"/>
          <p:cNvSpPr txBox="1"/>
          <p:nvPr/>
        </p:nvSpPr>
        <p:spPr>
          <a:xfrm>
            <a:off x="3322320" y="3657600"/>
            <a:ext cx="2499360" cy="32004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search and paging</a:t>
            </a:r>
            <a:endParaRPr lang="en-US" sz="1200" dirty="0"/>
          </a:p>
        </p:txBody>
      </p:sp>
      <p:sp>
        <p:nvSpPr>
          <p:cNvPr id="26" name="Shape 23"/>
          <p:cNvSpPr/>
          <p:nvPr/>
        </p:nvSpPr>
        <p:spPr>
          <a:xfrm>
            <a:off x="6096000" y="2926080"/>
            <a:ext cx="457200" cy="0"/>
          </a:xfrm>
          <a:prstGeom prst="line">
            <a:avLst/>
          </a:prstGeom>
          <a:noFill/>
          <a:ln w="28575">
            <a:solidFill>
              <a:srgbClr val="0891B2"/>
            </a:solidFill>
            <a:prstDash val="solid"/>
          </a:ln>
        </p:spPr>
      </p:sp>
      <p:sp>
        <p:nvSpPr>
          <p:cNvPr id="27" name="Text 24"/>
          <p:cNvSpPr txBox="1"/>
          <p:nvPr/>
        </p:nvSpPr>
        <p:spPr>
          <a:xfrm>
            <a:off x="6096000" y="3017520"/>
            <a:ext cx="2499360" cy="640080"/>
          </a:xfrm>
          <a:prstGeom prst="rect">
            <a:avLst/>
          </a:prstGeom>
          <a:noFill/>
          <a:ln/>
        </p:spPr>
        <p:txBody>
          <a:bodyPr wrap="square" lIns="0" tIns="0" rIns="0" bIns="0" rtlCol="0" anchor="ctr"/>
          <a:lstStyle/>
          <a:p>
            <a:pPr indent="0" marL="0">
              <a:buNone/>
            </a:pPr>
            <a:r>
              <a:rPr lang="en-US" sz="2400" dirty="0">
                <a:solidFill>
                  <a:srgbClr val="0891B2"/>
                </a:solidFill>
                <a:latin typeface="Segoe UI Semibold" pitchFamily="34" charset="0"/>
                <a:ea typeface="Segoe UI Semibold" pitchFamily="34" charset="-122"/>
                <a:cs typeface="Segoe UI Semibold" pitchFamily="34" charset="-120"/>
              </a:rPr>
              <a:t>Validated</a:t>
            </a:r>
            <a:endParaRPr lang="en-US" sz="2400" dirty="0"/>
          </a:p>
        </p:txBody>
      </p:sp>
      <p:sp>
        <p:nvSpPr>
          <p:cNvPr id="28" name="Text 25"/>
          <p:cNvSpPr txBox="1"/>
          <p:nvPr/>
        </p:nvSpPr>
        <p:spPr>
          <a:xfrm>
            <a:off x="6096000" y="3657600"/>
            <a:ext cx="2499360" cy="32004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every form</a:t>
            </a:r>
            <a:endParaRPr lang="en-US" sz="1200" dirty="0"/>
          </a:p>
        </p:txBody>
      </p:sp>
      <p:sp>
        <p:nvSpPr>
          <p:cNvPr id="29" name="Shape 26"/>
          <p:cNvSpPr/>
          <p:nvPr/>
        </p:nvSpPr>
        <p:spPr>
          <a:xfrm>
            <a:off x="548640" y="4297680"/>
            <a:ext cx="4206240" cy="329184"/>
          </a:xfrm>
          <a:prstGeom prst="roundRect">
            <a:avLst>
              <a:gd name="adj" fmla="val 50000"/>
            </a:avLst>
          </a:prstGeom>
          <a:solidFill>
            <a:srgbClr val="E6F4F8"/>
          </a:solidFill>
          <a:ln w="12700">
            <a:solidFill>
              <a:srgbClr val="E6F4F8"/>
            </a:solidFill>
            <a:prstDash val="solid"/>
          </a:ln>
        </p:spPr>
      </p:sp>
      <p:sp>
        <p:nvSpPr>
          <p:cNvPr id="30" name="Text 27"/>
          <p:cNvSpPr txBox="1"/>
          <p:nvPr/>
        </p:nvSpPr>
        <p:spPr>
          <a:xfrm>
            <a:off x="731520" y="4297680"/>
            <a:ext cx="3931920" cy="329184"/>
          </a:xfrm>
          <a:prstGeom prst="rect">
            <a:avLst/>
          </a:prstGeom>
          <a:noFill/>
          <a:ln/>
        </p:spPr>
        <p:txBody>
          <a:bodyPr wrap="square" lIns="0" tIns="0" rIns="0" bIns="0" rtlCol="0" anchor="ctr"/>
          <a:lstStyle/>
          <a:p>
            <a:pPr indent="0" marL="0">
              <a:buNone/>
            </a:pPr>
            <a:r>
              <a:rPr lang="en-US" sz="1100" b="1" dirty="0">
                <a:solidFill>
                  <a:srgbClr val="0891B2"/>
                </a:solidFill>
                <a:latin typeface="Segoe UI" pitchFamily="34" charset="0"/>
                <a:ea typeface="Segoe UI" pitchFamily="34" charset="-122"/>
                <a:cs typeface="Segoe UI" pitchFamily="34" charset="-120"/>
              </a:rPr>
              <a:t>LIVE  </a:t>
            </a:r>
            <a:pPr indent="0" marL="0">
              <a:buNone/>
            </a:pPr>
            <a:r>
              <a:rPr lang="en-US" sz="1100" dirty="0">
                <a:solidFill>
                  <a:srgbClr val="0B1B33"/>
                </a:solidFill>
                <a:latin typeface="Segoe UI" pitchFamily="34" charset="0"/>
                <a:ea typeface="Segoe UI" pitchFamily="34" charset="-122"/>
                <a:cs typeface="Segoe UI" pitchFamily="34" charset="-120"/>
              </a:rPr>
              <a:t>Assets page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3" name="Shape 0"/>
          <p:cNvSpPr/>
          <p:nvPr/>
        </p:nvSpPr>
        <p:spPr>
          <a:xfrm>
            <a:off x="548640" y="429768"/>
            <a:ext cx="82296" cy="82296"/>
          </a:xfrm>
          <a:prstGeom prst="rect">
            <a:avLst/>
          </a:prstGeom>
          <a:solidFill>
            <a:srgbClr val="0891B2"/>
          </a:solidFill>
          <a:ln w="12700">
            <a:solidFill>
              <a:srgbClr val="0891B2"/>
            </a:solidFill>
            <a:prstDash val="solid"/>
          </a:ln>
        </p:spPr>
      </p:sp>
      <p:sp>
        <p:nvSpPr>
          <p:cNvPr id="4" name="Text 1"/>
          <p:cNvSpPr txBox="1"/>
          <p:nvPr/>
        </p:nvSpPr>
        <p:spPr>
          <a:xfrm>
            <a:off x="749808" y="365760"/>
            <a:ext cx="7315200" cy="219456"/>
          </a:xfrm>
          <a:prstGeom prst="rect">
            <a:avLst/>
          </a:prstGeom>
          <a:noFill/>
          <a:ln/>
        </p:spPr>
        <p:txBody>
          <a:bodyPr wrap="square" lIns="0" tIns="0" rIns="0" bIns="0" rtlCol="0" anchor="ctr"/>
          <a:lstStyle/>
          <a:p>
            <a:pPr indent="0" marL="0">
              <a:buNone/>
            </a:pPr>
            <a:r>
              <a:rPr lang="en-US" sz="1050" spc="400" kern="0" dirty="0">
                <a:solidFill>
                  <a:srgbClr val="0891B2"/>
                </a:solidFill>
                <a:latin typeface="Segoe UI Semibold" pitchFamily="34" charset="0"/>
                <a:ea typeface="Segoe UI Semibold" pitchFamily="34" charset="-122"/>
                <a:cs typeface="Segoe UI Semibold" pitchFamily="34" charset="-120"/>
              </a:rPr>
              <a:t>04 · GOVINDU · MONITORING SERVICE</a:t>
            </a:r>
            <a:endParaRPr lang="en-US" sz="1050" dirty="0"/>
          </a:p>
        </p:txBody>
      </p:sp>
      <p:sp>
        <p:nvSpPr>
          <p:cNvPr id="5" name="Text 2"/>
          <p:cNvSpPr txBox="1"/>
          <p:nvPr/>
        </p:nvSpPr>
        <p:spPr>
          <a:xfrm>
            <a:off x="548640" y="713232"/>
            <a:ext cx="8046720" cy="640080"/>
          </a:xfrm>
          <a:prstGeom prst="rect">
            <a:avLst/>
          </a:prstGeom>
          <a:noFill/>
          <a:ln/>
        </p:spPr>
        <p:txBody>
          <a:bodyPr wrap="square" lIns="0" tIns="0" rIns="0" bIns="0" rtlCol="0" anchor="ctr"/>
          <a:lstStyle/>
          <a:p>
            <a:pPr indent="0" marL="0">
              <a:buNone/>
            </a:pPr>
            <a:r>
              <a:rPr lang="en-US" sz="3200" dirty="0">
                <a:solidFill>
                  <a:srgbClr val="0B1B33"/>
                </a:solidFill>
                <a:latin typeface="Segoe UI Semibold" pitchFamily="34" charset="0"/>
                <a:ea typeface="Segoe UI Semibold" pitchFamily="34" charset="-122"/>
                <a:cs typeface="Segoe UI Semibold" pitchFamily="34" charset="-120"/>
              </a:rPr>
              <a:t>From a sensor reading to an instant alert</a:t>
            </a:r>
            <a:endParaRPr lang="en-US" sz="3200" dirty="0"/>
          </a:p>
        </p:txBody>
      </p:sp>
      <p:sp>
        <p:nvSpPr>
          <p:cNvPr id="6" name="Shape 3"/>
          <p:cNvSpPr/>
          <p:nvPr/>
        </p:nvSpPr>
        <p:spPr>
          <a:xfrm>
            <a:off x="548640" y="4681728"/>
            <a:ext cx="8046720" cy="0"/>
          </a:xfrm>
          <a:prstGeom prst="line">
            <a:avLst/>
          </a:prstGeom>
          <a:noFill/>
          <a:ln w="9525">
            <a:solidFill>
              <a:srgbClr val="DCE3EE"/>
            </a:solidFill>
            <a:prstDash val="solid"/>
          </a:ln>
        </p:spPr>
      </p:sp>
      <p:sp>
        <p:nvSpPr>
          <p:cNvPr id="7" name="Text 4"/>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8" name="Text 5"/>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64748B"/>
                </a:solidFill>
                <a:latin typeface="Segoe UI" pitchFamily="34" charset="0"/>
                <a:ea typeface="Segoe UI" pitchFamily="34" charset="-122"/>
                <a:cs typeface="Segoe UI" pitchFamily="34" charset="-120"/>
              </a:rPr>
              <a:t>04  ·  2:08–3:46</a:t>
            </a:r>
            <a:endParaRPr lang="en-US" sz="900" dirty="0"/>
          </a:p>
        </p:txBody>
      </p:sp>
      <p:sp>
        <p:nvSpPr>
          <p:cNvPr id="9" name="Shape 6"/>
          <p:cNvSpPr/>
          <p:nvPr/>
        </p:nvSpPr>
        <p:spPr>
          <a:xfrm>
            <a:off x="548640" y="1600200"/>
            <a:ext cx="1805940" cy="914400"/>
          </a:xfrm>
          <a:prstGeom prst="roundRect">
            <a:avLst>
              <a:gd name="adj" fmla="val 8000"/>
            </a:avLst>
          </a:prstGeom>
          <a:solidFill>
            <a:srgbClr val="0891B2"/>
          </a:solidFill>
          <a:ln w="9525">
            <a:solidFill>
              <a:srgbClr val="0891B2"/>
            </a:solidFill>
            <a:prstDash val="solid"/>
          </a:ln>
        </p:spPr>
      </p:sp>
      <p:sp>
        <p:nvSpPr>
          <p:cNvPr id="10" name="Text 7"/>
          <p:cNvSpPr txBox="1"/>
          <p:nvPr/>
        </p:nvSpPr>
        <p:spPr>
          <a:xfrm>
            <a:off x="548640" y="1664208"/>
            <a:ext cx="180594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Segoe UI Semibold" pitchFamily="34" charset="0"/>
                <a:ea typeface="Segoe UI Semibold" pitchFamily="34" charset="-122"/>
                <a:cs typeface="Segoe UI Semibold" pitchFamily="34" charset="-120"/>
              </a:rPr>
              <a:t>Reading</a:t>
            </a:r>
            <a:endParaRPr lang="en-US" sz="1500" dirty="0"/>
          </a:p>
        </p:txBody>
      </p:sp>
      <p:sp>
        <p:nvSpPr>
          <p:cNvPr id="11" name="Text 8"/>
          <p:cNvSpPr txBox="1"/>
          <p:nvPr/>
        </p:nvSpPr>
        <p:spPr>
          <a:xfrm>
            <a:off x="548640" y="2084832"/>
            <a:ext cx="1805940" cy="320040"/>
          </a:xfrm>
          <a:prstGeom prst="rect">
            <a:avLst/>
          </a:prstGeom>
          <a:noFill/>
          <a:ln/>
        </p:spPr>
        <p:txBody>
          <a:bodyPr wrap="square" lIns="0" tIns="0" rIns="0" bIns="0" rtlCol="0" anchor="ctr"/>
          <a:lstStyle/>
          <a:p>
            <a:pPr algn="ctr" indent="0" marL="0">
              <a:buNone/>
            </a:pPr>
            <a:r>
              <a:rPr lang="en-US" sz="1100" dirty="0">
                <a:solidFill>
                  <a:srgbClr val="E6F4F8"/>
                </a:solidFill>
                <a:latin typeface="Segoe UI" pitchFamily="34" charset="0"/>
                <a:ea typeface="Segoe UI" pitchFamily="34" charset="-122"/>
                <a:cs typeface="Segoe UI" pitchFamily="34" charset="-120"/>
              </a:rPr>
              <a:t>every few seconds</a:t>
            </a:r>
            <a:endParaRPr lang="en-US" sz="1100" dirty="0"/>
          </a:p>
        </p:txBody>
      </p:sp>
      <p:sp>
        <p:nvSpPr>
          <p:cNvPr id="12" name="Text 9"/>
          <p:cNvSpPr txBox="1"/>
          <p:nvPr/>
        </p:nvSpPr>
        <p:spPr>
          <a:xfrm>
            <a:off x="2354580" y="1783080"/>
            <a:ext cx="274320" cy="548640"/>
          </a:xfrm>
          <a:prstGeom prst="rect">
            <a:avLst/>
          </a:prstGeom>
          <a:noFill/>
          <a:ln/>
        </p:spPr>
        <p:txBody>
          <a:bodyPr wrap="square" lIns="0" tIns="0" rIns="0" bIns="0" rtlCol="0" anchor="ctr"/>
          <a:lstStyle/>
          <a:p>
            <a:pPr algn="ctr" indent="0" marL="0">
              <a:buNone/>
            </a:pPr>
            <a:r>
              <a:rPr lang="en-US" sz="2400" dirty="0">
                <a:solidFill>
                  <a:srgbClr val="0891B2"/>
                </a:solidFill>
                <a:latin typeface="Segoe UI Semibold" pitchFamily="34" charset="0"/>
                <a:ea typeface="Segoe UI Semibold" pitchFamily="34" charset="-122"/>
                <a:cs typeface="Segoe UI Semibold" pitchFamily="34" charset="-120"/>
              </a:rPr>
              <a:t>›</a:t>
            </a:r>
            <a:endParaRPr lang="en-US" sz="2400" dirty="0"/>
          </a:p>
        </p:txBody>
      </p:sp>
      <p:sp>
        <p:nvSpPr>
          <p:cNvPr id="13" name="Shape 10"/>
          <p:cNvSpPr/>
          <p:nvPr/>
        </p:nvSpPr>
        <p:spPr>
          <a:xfrm>
            <a:off x="2628900" y="1600200"/>
            <a:ext cx="1805940" cy="914400"/>
          </a:xfrm>
          <a:prstGeom prst="roundRect">
            <a:avLst>
              <a:gd name="adj" fmla="val 8000"/>
            </a:avLst>
          </a:prstGeom>
          <a:solidFill>
            <a:srgbClr val="FFFFFF"/>
          </a:solidFill>
          <a:ln w="9525">
            <a:solidFill>
              <a:srgbClr val="DCE3EE"/>
            </a:solidFill>
            <a:prstDash val="solid"/>
          </a:ln>
        </p:spPr>
      </p:sp>
      <p:sp>
        <p:nvSpPr>
          <p:cNvPr id="14" name="Text 11"/>
          <p:cNvSpPr txBox="1"/>
          <p:nvPr/>
        </p:nvSpPr>
        <p:spPr>
          <a:xfrm>
            <a:off x="2628900" y="1664208"/>
            <a:ext cx="1805940" cy="457200"/>
          </a:xfrm>
          <a:prstGeom prst="rect">
            <a:avLst/>
          </a:prstGeom>
          <a:noFill/>
          <a:ln/>
        </p:spPr>
        <p:txBody>
          <a:bodyPr wrap="square" lIns="0" tIns="0" rIns="0" bIns="0" rtlCol="0" anchor="ctr"/>
          <a:lstStyle/>
          <a:p>
            <a:pPr algn="ctr" indent="0" marL="0">
              <a:buNone/>
            </a:pPr>
            <a:r>
              <a:rPr lang="en-US" sz="1500" dirty="0">
                <a:solidFill>
                  <a:srgbClr val="0B1B33"/>
                </a:solidFill>
                <a:latin typeface="Segoe UI Semibold" pitchFamily="34" charset="0"/>
                <a:ea typeface="Segoe UI Semibold" pitchFamily="34" charset="-122"/>
                <a:cs typeface="Segoe UI Semibold" pitchFamily="34" charset="-120"/>
              </a:rPr>
              <a:t>Rule check</a:t>
            </a:r>
            <a:endParaRPr lang="en-US" sz="1500" dirty="0"/>
          </a:p>
        </p:txBody>
      </p:sp>
      <p:sp>
        <p:nvSpPr>
          <p:cNvPr id="15" name="Text 12"/>
          <p:cNvSpPr txBox="1"/>
          <p:nvPr/>
        </p:nvSpPr>
        <p:spPr>
          <a:xfrm>
            <a:off x="2628900" y="2084832"/>
            <a:ext cx="180594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Segoe UI" pitchFamily="34" charset="0"/>
                <a:ea typeface="Segoe UI" pitchFamily="34" charset="-122"/>
                <a:cs typeface="Segoe UI" pitchFamily="34" charset="-120"/>
              </a:rPr>
              <a:t>threshold</a:t>
            </a:r>
            <a:endParaRPr lang="en-US" sz="1100" dirty="0"/>
          </a:p>
        </p:txBody>
      </p:sp>
      <p:sp>
        <p:nvSpPr>
          <p:cNvPr id="16" name="Text 13"/>
          <p:cNvSpPr txBox="1"/>
          <p:nvPr/>
        </p:nvSpPr>
        <p:spPr>
          <a:xfrm>
            <a:off x="4434840" y="1783080"/>
            <a:ext cx="274320" cy="548640"/>
          </a:xfrm>
          <a:prstGeom prst="rect">
            <a:avLst/>
          </a:prstGeom>
          <a:noFill/>
          <a:ln/>
        </p:spPr>
        <p:txBody>
          <a:bodyPr wrap="square" lIns="0" tIns="0" rIns="0" bIns="0" rtlCol="0" anchor="ctr"/>
          <a:lstStyle/>
          <a:p>
            <a:pPr algn="ctr" indent="0" marL="0">
              <a:buNone/>
            </a:pPr>
            <a:r>
              <a:rPr lang="en-US" sz="2400" dirty="0">
                <a:solidFill>
                  <a:srgbClr val="0891B2"/>
                </a:solidFill>
                <a:latin typeface="Segoe UI Semibold" pitchFamily="34" charset="0"/>
                <a:ea typeface="Segoe UI Semibold" pitchFamily="34" charset="-122"/>
                <a:cs typeface="Segoe UI Semibold" pitchFamily="34" charset="-120"/>
              </a:rPr>
              <a:t>›</a:t>
            </a:r>
            <a:endParaRPr lang="en-US" sz="2400" dirty="0"/>
          </a:p>
        </p:txBody>
      </p:sp>
      <p:sp>
        <p:nvSpPr>
          <p:cNvPr id="17" name="Shape 14"/>
          <p:cNvSpPr/>
          <p:nvPr/>
        </p:nvSpPr>
        <p:spPr>
          <a:xfrm>
            <a:off x="4709160" y="1600200"/>
            <a:ext cx="1805940" cy="914400"/>
          </a:xfrm>
          <a:prstGeom prst="roundRect">
            <a:avLst>
              <a:gd name="adj" fmla="val 8000"/>
            </a:avLst>
          </a:prstGeom>
          <a:solidFill>
            <a:srgbClr val="FFFFFF"/>
          </a:solidFill>
          <a:ln w="9525">
            <a:solidFill>
              <a:srgbClr val="DCE3EE"/>
            </a:solidFill>
            <a:prstDash val="solid"/>
          </a:ln>
        </p:spPr>
      </p:sp>
      <p:sp>
        <p:nvSpPr>
          <p:cNvPr id="18" name="Text 15"/>
          <p:cNvSpPr txBox="1"/>
          <p:nvPr/>
        </p:nvSpPr>
        <p:spPr>
          <a:xfrm>
            <a:off x="4709160" y="1664208"/>
            <a:ext cx="1805940" cy="457200"/>
          </a:xfrm>
          <a:prstGeom prst="rect">
            <a:avLst/>
          </a:prstGeom>
          <a:noFill/>
          <a:ln/>
        </p:spPr>
        <p:txBody>
          <a:bodyPr wrap="square" lIns="0" tIns="0" rIns="0" bIns="0" rtlCol="0" anchor="ctr"/>
          <a:lstStyle/>
          <a:p>
            <a:pPr algn="ctr" indent="0" marL="0">
              <a:buNone/>
            </a:pPr>
            <a:r>
              <a:rPr lang="en-US" sz="1500" dirty="0">
                <a:solidFill>
                  <a:srgbClr val="0B1B33"/>
                </a:solidFill>
                <a:latin typeface="Segoe UI Semibold" pitchFamily="34" charset="0"/>
                <a:ea typeface="Segoe UI Semibold" pitchFamily="34" charset="-122"/>
                <a:cs typeface="Segoe UI Semibold" pitchFamily="34" charset="-120"/>
              </a:rPr>
              <a:t>Alert</a:t>
            </a:r>
            <a:endParaRPr lang="en-US" sz="1500" dirty="0"/>
          </a:p>
        </p:txBody>
      </p:sp>
      <p:sp>
        <p:nvSpPr>
          <p:cNvPr id="19" name="Text 16"/>
          <p:cNvSpPr txBox="1"/>
          <p:nvPr/>
        </p:nvSpPr>
        <p:spPr>
          <a:xfrm>
            <a:off x="4709160" y="2084832"/>
            <a:ext cx="180594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Segoe UI" pitchFamily="34" charset="0"/>
                <a:ea typeface="Segoe UI" pitchFamily="34" charset="-122"/>
                <a:cs typeface="Segoe UI" pitchFamily="34" charset="-120"/>
              </a:rPr>
              <a:t>one per asset</a:t>
            </a:r>
            <a:endParaRPr lang="en-US" sz="1100" dirty="0"/>
          </a:p>
        </p:txBody>
      </p:sp>
      <p:sp>
        <p:nvSpPr>
          <p:cNvPr id="20" name="Text 17"/>
          <p:cNvSpPr txBox="1"/>
          <p:nvPr/>
        </p:nvSpPr>
        <p:spPr>
          <a:xfrm>
            <a:off x="6515100" y="1783080"/>
            <a:ext cx="274320" cy="548640"/>
          </a:xfrm>
          <a:prstGeom prst="rect">
            <a:avLst/>
          </a:prstGeom>
          <a:noFill/>
          <a:ln/>
        </p:spPr>
        <p:txBody>
          <a:bodyPr wrap="square" lIns="0" tIns="0" rIns="0" bIns="0" rtlCol="0" anchor="ctr"/>
          <a:lstStyle/>
          <a:p>
            <a:pPr algn="ctr" indent="0" marL="0">
              <a:buNone/>
            </a:pPr>
            <a:r>
              <a:rPr lang="en-US" sz="2400" dirty="0">
                <a:solidFill>
                  <a:srgbClr val="0891B2"/>
                </a:solidFill>
                <a:latin typeface="Segoe UI Semibold" pitchFamily="34" charset="0"/>
                <a:ea typeface="Segoe UI Semibold" pitchFamily="34" charset="-122"/>
                <a:cs typeface="Segoe UI Semibold" pitchFamily="34" charset="-120"/>
              </a:rPr>
              <a:t>›</a:t>
            </a:r>
            <a:endParaRPr lang="en-US" sz="2400" dirty="0"/>
          </a:p>
        </p:txBody>
      </p:sp>
      <p:sp>
        <p:nvSpPr>
          <p:cNvPr id="21" name="Shape 18"/>
          <p:cNvSpPr/>
          <p:nvPr/>
        </p:nvSpPr>
        <p:spPr>
          <a:xfrm>
            <a:off x="6789420" y="1600200"/>
            <a:ext cx="1805940" cy="914400"/>
          </a:xfrm>
          <a:prstGeom prst="roundRect">
            <a:avLst>
              <a:gd name="adj" fmla="val 8000"/>
            </a:avLst>
          </a:prstGeom>
          <a:solidFill>
            <a:srgbClr val="FFFFFF"/>
          </a:solidFill>
          <a:ln w="9525">
            <a:solidFill>
              <a:srgbClr val="DCE3EE"/>
            </a:solidFill>
            <a:prstDash val="solid"/>
          </a:ln>
        </p:spPr>
      </p:sp>
      <p:sp>
        <p:nvSpPr>
          <p:cNvPr id="22" name="Text 19"/>
          <p:cNvSpPr txBox="1"/>
          <p:nvPr/>
        </p:nvSpPr>
        <p:spPr>
          <a:xfrm>
            <a:off x="6789420" y="1664208"/>
            <a:ext cx="1805940" cy="457200"/>
          </a:xfrm>
          <a:prstGeom prst="rect">
            <a:avLst/>
          </a:prstGeom>
          <a:noFill/>
          <a:ln/>
        </p:spPr>
        <p:txBody>
          <a:bodyPr wrap="square" lIns="0" tIns="0" rIns="0" bIns="0" rtlCol="0" anchor="ctr"/>
          <a:lstStyle/>
          <a:p>
            <a:pPr algn="ctr" indent="0" marL="0">
              <a:buNone/>
            </a:pPr>
            <a:r>
              <a:rPr lang="en-US" sz="1500" dirty="0">
                <a:solidFill>
                  <a:srgbClr val="0B1B33"/>
                </a:solidFill>
                <a:latin typeface="Segoe UI Semibold" pitchFamily="34" charset="0"/>
                <a:ea typeface="Segoe UI Semibold" pitchFamily="34" charset="-122"/>
                <a:cs typeface="Segoe UI Semibold" pitchFamily="34" charset="-120"/>
              </a:rPr>
              <a:t>RabbitMQ</a:t>
            </a:r>
            <a:endParaRPr lang="en-US" sz="1500" dirty="0"/>
          </a:p>
        </p:txBody>
      </p:sp>
      <p:sp>
        <p:nvSpPr>
          <p:cNvPr id="23" name="Text 20"/>
          <p:cNvSpPr txBox="1"/>
          <p:nvPr/>
        </p:nvSpPr>
        <p:spPr>
          <a:xfrm>
            <a:off x="6789420" y="2084832"/>
            <a:ext cx="180594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Segoe UI" pitchFamily="34" charset="0"/>
                <a:ea typeface="Segoe UI" pitchFamily="34" charset="-122"/>
                <a:cs typeface="Segoe UI" pitchFamily="34" charset="-120"/>
              </a:rPr>
              <a:t>event</a:t>
            </a:r>
            <a:endParaRPr lang="en-US" sz="1100" dirty="0"/>
          </a:p>
        </p:txBody>
      </p:sp>
      <p:sp>
        <p:nvSpPr>
          <p:cNvPr id="24" name="Shape 21"/>
          <p:cNvSpPr/>
          <p:nvPr/>
        </p:nvSpPr>
        <p:spPr>
          <a:xfrm>
            <a:off x="548640" y="2926080"/>
            <a:ext cx="457200" cy="0"/>
          </a:xfrm>
          <a:prstGeom prst="line">
            <a:avLst/>
          </a:prstGeom>
          <a:noFill/>
          <a:ln w="28575">
            <a:solidFill>
              <a:srgbClr val="0891B2"/>
            </a:solidFill>
            <a:prstDash val="solid"/>
          </a:ln>
        </p:spPr>
      </p:sp>
      <p:sp>
        <p:nvSpPr>
          <p:cNvPr id="25" name="Text 22"/>
          <p:cNvSpPr txBox="1"/>
          <p:nvPr/>
        </p:nvSpPr>
        <p:spPr>
          <a:xfrm>
            <a:off x="548640" y="3017520"/>
            <a:ext cx="2499360" cy="640080"/>
          </a:xfrm>
          <a:prstGeom prst="rect">
            <a:avLst/>
          </a:prstGeom>
          <a:noFill/>
          <a:ln/>
        </p:spPr>
        <p:txBody>
          <a:bodyPr wrap="square" lIns="0" tIns="0" rIns="0" bIns="0" rtlCol="0" anchor="ctr"/>
          <a:lstStyle/>
          <a:p>
            <a:pPr indent="0" marL="0">
              <a:buNone/>
            </a:pPr>
            <a:r>
              <a:rPr lang="en-US" sz="3200" dirty="0">
                <a:solidFill>
                  <a:srgbClr val="0891B2"/>
                </a:solidFill>
                <a:latin typeface="Segoe UI Semibold" pitchFamily="34" charset="0"/>
                <a:ea typeface="Segoe UI Semibold" pitchFamily="34" charset="-122"/>
                <a:cs typeface="Segoe UI Semibold" pitchFamily="34" charset="-120"/>
              </a:rPr>
              <a:t>16,000+</a:t>
            </a:r>
            <a:endParaRPr lang="en-US" sz="3200" dirty="0"/>
          </a:p>
        </p:txBody>
      </p:sp>
      <p:sp>
        <p:nvSpPr>
          <p:cNvPr id="26" name="Text 23"/>
          <p:cNvSpPr txBox="1"/>
          <p:nvPr/>
        </p:nvSpPr>
        <p:spPr>
          <a:xfrm>
            <a:off x="548640" y="3657600"/>
            <a:ext cx="2499360" cy="32004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readings stored</a:t>
            </a:r>
            <a:endParaRPr lang="en-US" sz="1200" dirty="0"/>
          </a:p>
        </p:txBody>
      </p:sp>
      <p:sp>
        <p:nvSpPr>
          <p:cNvPr id="27" name="Shape 24"/>
          <p:cNvSpPr/>
          <p:nvPr/>
        </p:nvSpPr>
        <p:spPr>
          <a:xfrm>
            <a:off x="3322320" y="2926080"/>
            <a:ext cx="457200" cy="0"/>
          </a:xfrm>
          <a:prstGeom prst="line">
            <a:avLst/>
          </a:prstGeom>
          <a:noFill/>
          <a:ln w="28575">
            <a:solidFill>
              <a:srgbClr val="0891B2"/>
            </a:solidFill>
            <a:prstDash val="solid"/>
          </a:ln>
        </p:spPr>
      </p:sp>
      <p:sp>
        <p:nvSpPr>
          <p:cNvPr id="28" name="Text 25"/>
          <p:cNvSpPr txBox="1"/>
          <p:nvPr/>
        </p:nvSpPr>
        <p:spPr>
          <a:xfrm>
            <a:off x="3322320" y="3017520"/>
            <a:ext cx="2499360" cy="640080"/>
          </a:xfrm>
          <a:prstGeom prst="rect">
            <a:avLst/>
          </a:prstGeom>
          <a:noFill/>
          <a:ln/>
        </p:spPr>
        <p:txBody>
          <a:bodyPr wrap="square" lIns="0" tIns="0" rIns="0" bIns="0" rtlCol="0" anchor="ctr"/>
          <a:lstStyle/>
          <a:p>
            <a:pPr indent="0" marL="0">
              <a:buNone/>
            </a:pPr>
            <a:r>
              <a:rPr lang="en-US" sz="3200" dirty="0">
                <a:solidFill>
                  <a:srgbClr val="0891B2"/>
                </a:solidFill>
                <a:latin typeface="Segoe UI Semibold" pitchFamily="34" charset="0"/>
                <a:ea typeface="Segoe UI Semibold" pitchFamily="34" charset="-122"/>
                <a:cs typeface="Segoe UI Semibold" pitchFamily="34" charset="-120"/>
              </a:rPr>
              <a:t>7</a:t>
            </a:r>
            <a:endParaRPr lang="en-US" sz="3200" dirty="0"/>
          </a:p>
        </p:txBody>
      </p:sp>
      <p:sp>
        <p:nvSpPr>
          <p:cNvPr id="29" name="Text 26"/>
          <p:cNvSpPr txBox="1"/>
          <p:nvPr/>
        </p:nvSpPr>
        <p:spPr>
          <a:xfrm>
            <a:off x="3322320" y="3657600"/>
            <a:ext cx="2499360" cy="32004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alert rules</a:t>
            </a:r>
            <a:endParaRPr lang="en-US" sz="1200" dirty="0"/>
          </a:p>
        </p:txBody>
      </p:sp>
      <p:sp>
        <p:nvSpPr>
          <p:cNvPr id="30" name="Shape 27"/>
          <p:cNvSpPr/>
          <p:nvPr/>
        </p:nvSpPr>
        <p:spPr>
          <a:xfrm>
            <a:off x="6096000" y="2926080"/>
            <a:ext cx="457200" cy="0"/>
          </a:xfrm>
          <a:prstGeom prst="line">
            <a:avLst/>
          </a:prstGeom>
          <a:noFill/>
          <a:ln w="28575">
            <a:solidFill>
              <a:srgbClr val="0891B2"/>
            </a:solidFill>
            <a:prstDash val="solid"/>
          </a:ln>
        </p:spPr>
      </p:sp>
      <p:sp>
        <p:nvSpPr>
          <p:cNvPr id="31" name="Text 28"/>
          <p:cNvSpPr txBox="1"/>
          <p:nvPr/>
        </p:nvSpPr>
        <p:spPr>
          <a:xfrm>
            <a:off x="6096000" y="3017520"/>
            <a:ext cx="2499360" cy="640080"/>
          </a:xfrm>
          <a:prstGeom prst="rect">
            <a:avLst/>
          </a:prstGeom>
          <a:noFill/>
          <a:ln/>
        </p:spPr>
        <p:txBody>
          <a:bodyPr wrap="square" lIns="0" tIns="0" rIns="0" bIns="0" rtlCol="0" anchor="ctr"/>
          <a:lstStyle/>
          <a:p>
            <a:pPr indent="0" marL="0">
              <a:buNone/>
            </a:pPr>
            <a:r>
              <a:rPr lang="en-US" sz="3200" dirty="0">
                <a:solidFill>
                  <a:srgbClr val="0891B2"/>
                </a:solidFill>
                <a:latin typeface="Segoe UI Semibold" pitchFamily="34" charset="0"/>
                <a:ea typeface="Segoe UI Semibold" pitchFamily="34" charset="-122"/>
                <a:cs typeface="Segoe UI Semibold" pitchFamily="34" charset="-120"/>
              </a:rPr>
              <a:t>10 s</a:t>
            </a:r>
            <a:endParaRPr lang="en-US" sz="3200" dirty="0"/>
          </a:p>
        </p:txBody>
      </p:sp>
      <p:sp>
        <p:nvSpPr>
          <p:cNvPr id="32" name="Text 29"/>
          <p:cNvSpPr txBox="1"/>
          <p:nvPr/>
        </p:nvSpPr>
        <p:spPr>
          <a:xfrm>
            <a:off x="6096000" y="3657600"/>
            <a:ext cx="2499360" cy="32004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Redis cached dashboard</a:t>
            </a:r>
            <a:endParaRPr lang="en-US" sz="1200" dirty="0"/>
          </a:p>
        </p:txBody>
      </p:sp>
      <p:sp>
        <p:nvSpPr>
          <p:cNvPr id="33" name="Shape 30"/>
          <p:cNvSpPr/>
          <p:nvPr/>
        </p:nvSpPr>
        <p:spPr>
          <a:xfrm>
            <a:off x="548640" y="4297680"/>
            <a:ext cx="4206240" cy="329184"/>
          </a:xfrm>
          <a:prstGeom prst="roundRect">
            <a:avLst>
              <a:gd name="adj" fmla="val 50000"/>
            </a:avLst>
          </a:prstGeom>
          <a:solidFill>
            <a:srgbClr val="E6F4F8"/>
          </a:solidFill>
          <a:ln w="12700">
            <a:solidFill>
              <a:srgbClr val="E6F4F8"/>
            </a:solidFill>
            <a:prstDash val="solid"/>
          </a:ln>
        </p:spPr>
      </p:sp>
      <p:sp>
        <p:nvSpPr>
          <p:cNvPr id="34" name="Text 31"/>
          <p:cNvSpPr txBox="1"/>
          <p:nvPr/>
        </p:nvSpPr>
        <p:spPr>
          <a:xfrm>
            <a:off x="731520" y="4297680"/>
            <a:ext cx="3931920" cy="329184"/>
          </a:xfrm>
          <a:prstGeom prst="rect">
            <a:avLst/>
          </a:prstGeom>
          <a:noFill/>
          <a:ln/>
        </p:spPr>
        <p:txBody>
          <a:bodyPr wrap="square" lIns="0" tIns="0" rIns="0" bIns="0" rtlCol="0" anchor="ctr"/>
          <a:lstStyle/>
          <a:p>
            <a:pPr indent="0" marL="0">
              <a:buNone/>
            </a:pPr>
            <a:r>
              <a:rPr lang="en-US" sz="1100" b="1" dirty="0">
                <a:solidFill>
                  <a:srgbClr val="0891B2"/>
                </a:solidFill>
                <a:latin typeface="Segoe UI" pitchFamily="34" charset="0"/>
                <a:ea typeface="Segoe UI" pitchFamily="34" charset="-122"/>
                <a:cs typeface="Segoe UI" pitchFamily="34" charset="-120"/>
              </a:rPr>
              <a:t>LIVE  </a:t>
            </a:r>
            <a:pPr indent="0" marL="0">
              <a:buNone/>
            </a:pPr>
            <a:r>
              <a:rPr lang="en-US" sz="1100" dirty="0">
                <a:solidFill>
                  <a:srgbClr val="0B1B33"/>
                </a:solidFill>
                <a:latin typeface="Segoe UI" pitchFamily="34" charset="0"/>
                <a:ea typeface="Segoe UI" pitchFamily="34" charset="-122"/>
                <a:cs typeface="Segoe UI" pitchFamily="34" charset="-120"/>
              </a:rPr>
              <a:t>Live monitoring page (tiles and dashed threshold)</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B"/>
        </a:solidFill>
      </p:bgPr>
    </p:bg>
    <p:spTree>
      <p:nvGrpSpPr>
        <p:cNvPr id="1" name=""/>
        <p:cNvGrpSpPr/>
        <p:nvPr/>
      </p:nvGrpSpPr>
      <p:grpSpPr>
        <a:xfrm>
          <a:off x="0" y="0"/>
          <a:ext cx="0" cy="0"/>
          <a:chOff x="0" y="0"/>
          <a:chExt cx="0" cy="0"/>
        </a:xfrm>
      </p:grpSpPr>
      <p:sp>
        <p:nvSpPr>
          <p:cNvPr id="3" name="Shape 0"/>
          <p:cNvSpPr/>
          <p:nvPr/>
        </p:nvSpPr>
        <p:spPr>
          <a:xfrm>
            <a:off x="548640" y="429768"/>
            <a:ext cx="82296" cy="82296"/>
          </a:xfrm>
          <a:prstGeom prst="rect">
            <a:avLst/>
          </a:prstGeom>
          <a:solidFill>
            <a:srgbClr val="0891B2"/>
          </a:solidFill>
          <a:ln w="12700">
            <a:solidFill>
              <a:srgbClr val="0891B2"/>
            </a:solidFill>
            <a:prstDash val="solid"/>
          </a:ln>
        </p:spPr>
      </p:sp>
      <p:sp>
        <p:nvSpPr>
          <p:cNvPr id="4" name="Text 1"/>
          <p:cNvSpPr txBox="1"/>
          <p:nvPr/>
        </p:nvSpPr>
        <p:spPr>
          <a:xfrm>
            <a:off x="749808" y="365760"/>
            <a:ext cx="7315200" cy="219456"/>
          </a:xfrm>
          <a:prstGeom prst="rect">
            <a:avLst/>
          </a:prstGeom>
          <a:noFill/>
          <a:ln/>
        </p:spPr>
        <p:txBody>
          <a:bodyPr wrap="square" lIns="0" tIns="0" rIns="0" bIns="0" rtlCol="0" anchor="ctr"/>
          <a:lstStyle/>
          <a:p>
            <a:pPr indent="0" marL="0">
              <a:buNone/>
            </a:pPr>
            <a:r>
              <a:rPr lang="en-US" sz="1050" spc="400" kern="0" dirty="0">
                <a:solidFill>
                  <a:srgbClr val="0891B2"/>
                </a:solidFill>
                <a:latin typeface="Segoe UI Semibold" pitchFamily="34" charset="0"/>
                <a:ea typeface="Segoe UI Semibold" pitchFamily="34" charset="-122"/>
                <a:cs typeface="Segoe UI Semibold" pitchFamily="34" charset="-120"/>
              </a:rPr>
              <a:t>05 · THURUNU · MAINTENANCE SERVICE</a:t>
            </a:r>
            <a:endParaRPr lang="en-US" sz="1050" dirty="0"/>
          </a:p>
        </p:txBody>
      </p:sp>
      <p:sp>
        <p:nvSpPr>
          <p:cNvPr id="5" name="Text 2"/>
          <p:cNvSpPr txBox="1"/>
          <p:nvPr/>
        </p:nvSpPr>
        <p:spPr>
          <a:xfrm>
            <a:off x="548640" y="713232"/>
            <a:ext cx="8046720" cy="640080"/>
          </a:xfrm>
          <a:prstGeom prst="rect">
            <a:avLst/>
          </a:prstGeom>
          <a:noFill/>
          <a:ln/>
        </p:spPr>
        <p:txBody>
          <a:bodyPr wrap="square" lIns="0" tIns="0" rIns="0" bIns="0" rtlCol="0" anchor="ctr"/>
          <a:lstStyle/>
          <a:p>
            <a:pPr indent="0" marL="0">
              <a:buNone/>
            </a:pPr>
            <a:r>
              <a:rPr lang="en-US" sz="3200" dirty="0">
                <a:solidFill>
                  <a:srgbClr val="0B1B33"/>
                </a:solidFill>
                <a:latin typeface="Segoe UI Semibold" pitchFamily="34" charset="0"/>
                <a:ea typeface="Segoe UI Semibold" pitchFamily="34" charset="-122"/>
                <a:cs typeface="Segoe UI Semibold" pitchFamily="34" charset="-120"/>
              </a:rPr>
              <a:t>Faults become tracked work automatically</a:t>
            </a:r>
            <a:endParaRPr lang="en-US" sz="3200" dirty="0"/>
          </a:p>
        </p:txBody>
      </p:sp>
      <p:sp>
        <p:nvSpPr>
          <p:cNvPr id="6" name="Shape 3"/>
          <p:cNvSpPr/>
          <p:nvPr/>
        </p:nvSpPr>
        <p:spPr>
          <a:xfrm>
            <a:off x="548640" y="4681728"/>
            <a:ext cx="8046720" cy="0"/>
          </a:xfrm>
          <a:prstGeom prst="line">
            <a:avLst/>
          </a:prstGeom>
          <a:noFill/>
          <a:ln w="9525">
            <a:solidFill>
              <a:srgbClr val="DCE3EE"/>
            </a:solidFill>
            <a:prstDash val="solid"/>
          </a:ln>
        </p:spPr>
      </p:sp>
      <p:sp>
        <p:nvSpPr>
          <p:cNvPr id="7" name="Text 4"/>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8" name="Text 5"/>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64748B"/>
                </a:solidFill>
                <a:latin typeface="Segoe UI" pitchFamily="34" charset="0"/>
                <a:ea typeface="Segoe UI" pitchFamily="34" charset="-122"/>
                <a:cs typeface="Segoe UI" pitchFamily="34" charset="-120"/>
              </a:rPr>
              <a:t>05  ·  3:46–5:24</a:t>
            </a:r>
            <a:endParaRPr lang="en-US" sz="900" dirty="0"/>
          </a:p>
        </p:txBody>
      </p:sp>
      <p:sp>
        <p:nvSpPr>
          <p:cNvPr id="9" name="Shape 6"/>
          <p:cNvSpPr/>
          <p:nvPr/>
        </p:nvSpPr>
        <p:spPr>
          <a:xfrm>
            <a:off x="548640" y="1600200"/>
            <a:ext cx="1805940" cy="914400"/>
          </a:xfrm>
          <a:prstGeom prst="roundRect">
            <a:avLst>
              <a:gd name="adj" fmla="val 8000"/>
            </a:avLst>
          </a:prstGeom>
          <a:solidFill>
            <a:srgbClr val="0891B2"/>
          </a:solidFill>
          <a:ln w="9525">
            <a:solidFill>
              <a:srgbClr val="0891B2"/>
            </a:solidFill>
            <a:prstDash val="solid"/>
          </a:ln>
        </p:spPr>
      </p:sp>
      <p:sp>
        <p:nvSpPr>
          <p:cNvPr id="10" name="Text 7"/>
          <p:cNvSpPr txBox="1"/>
          <p:nvPr/>
        </p:nvSpPr>
        <p:spPr>
          <a:xfrm>
            <a:off x="548640" y="1664208"/>
            <a:ext cx="180594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Segoe UI Semibold" pitchFamily="34" charset="0"/>
                <a:ea typeface="Segoe UI Semibold" pitchFamily="34" charset="-122"/>
                <a:cs typeface="Segoe UI Semibold" pitchFamily="34" charset="-120"/>
              </a:rPr>
              <a:t>Alert event</a:t>
            </a:r>
            <a:endParaRPr lang="en-US" sz="1500" dirty="0"/>
          </a:p>
        </p:txBody>
      </p:sp>
      <p:sp>
        <p:nvSpPr>
          <p:cNvPr id="11" name="Text 8"/>
          <p:cNvSpPr txBox="1"/>
          <p:nvPr/>
        </p:nvSpPr>
        <p:spPr>
          <a:xfrm>
            <a:off x="548640" y="2084832"/>
            <a:ext cx="1805940" cy="320040"/>
          </a:xfrm>
          <a:prstGeom prst="rect">
            <a:avLst/>
          </a:prstGeom>
          <a:noFill/>
          <a:ln/>
        </p:spPr>
        <p:txBody>
          <a:bodyPr wrap="square" lIns="0" tIns="0" rIns="0" bIns="0" rtlCol="0" anchor="ctr"/>
          <a:lstStyle/>
          <a:p>
            <a:pPr algn="ctr" indent="0" marL="0">
              <a:buNone/>
            </a:pPr>
            <a:r>
              <a:rPr lang="en-US" sz="1100" dirty="0">
                <a:solidFill>
                  <a:srgbClr val="E6F4F8"/>
                </a:solidFill>
                <a:latin typeface="Segoe UI" pitchFamily="34" charset="0"/>
                <a:ea typeface="Segoe UI" pitchFamily="34" charset="-122"/>
                <a:cs typeface="Segoe UI" pitchFamily="34" charset="-120"/>
              </a:rPr>
              <a:t>high or critical</a:t>
            </a:r>
            <a:endParaRPr lang="en-US" sz="1100" dirty="0"/>
          </a:p>
        </p:txBody>
      </p:sp>
      <p:sp>
        <p:nvSpPr>
          <p:cNvPr id="12" name="Text 9"/>
          <p:cNvSpPr txBox="1"/>
          <p:nvPr/>
        </p:nvSpPr>
        <p:spPr>
          <a:xfrm>
            <a:off x="2354580" y="1783080"/>
            <a:ext cx="274320" cy="548640"/>
          </a:xfrm>
          <a:prstGeom prst="rect">
            <a:avLst/>
          </a:prstGeom>
          <a:noFill/>
          <a:ln/>
        </p:spPr>
        <p:txBody>
          <a:bodyPr wrap="square" lIns="0" tIns="0" rIns="0" bIns="0" rtlCol="0" anchor="ctr"/>
          <a:lstStyle/>
          <a:p>
            <a:pPr algn="ctr" indent="0" marL="0">
              <a:buNone/>
            </a:pPr>
            <a:r>
              <a:rPr lang="en-US" sz="2400" dirty="0">
                <a:solidFill>
                  <a:srgbClr val="0891B2"/>
                </a:solidFill>
                <a:latin typeface="Segoe UI Semibold" pitchFamily="34" charset="0"/>
                <a:ea typeface="Segoe UI Semibold" pitchFamily="34" charset="-122"/>
                <a:cs typeface="Segoe UI Semibold" pitchFamily="34" charset="-120"/>
              </a:rPr>
              <a:t>›</a:t>
            </a:r>
            <a:endParaRPr lang="en-US" sz="2400" dirty="0"/>
          </a:p>
        </p:txBody>
      </p:sp>
      <p:sp>
        <p:nvSpPr>
          <p:cNvPr id="13" name="Shape 10"/>
          <p:cNvSpPr/>
          <p:nvPr/>
        </p:nvSpPr>
        <p:spPr>
          <a:xfrm>
            <a:off x="2628900" y="1600200"/>
            <a:ext cx="1805940" cy="914400"/>
          </a:xfrm>
          <a:prstGeom prst="roundRect">
            <a:avLst>
              <a:gd name="adj" fmla="val 8000"/>
            </a:avLst>
          </a:prstGeom>
          <a:solidFill>
            <a:srgbClr val="FFFFFF"/>
          </a:solidFill>
          <a:ln w="9525">
            <a:solidFill>
              <a:srgbClr val="DCE3EE"/>
            </a:solidFill>
            <a:prstDash val="solid"/>
          </a:ln>
        </p:spPr>
      </p:sp>
      <p:sp>
        <p:nvSpPr>
          <p:cNvPr id="14" name="Text 11"/>
          <p:cNvSpPr txBox="1"/>
          <p:nvPr/>
        </p:nvSpPr>
        <p:spPr>
          <a:xfrm>
            <a:off x="2628900" y="1664208"/>
            <a:ext cx="1805940" cy="457200"/>
          </a:xfrm>
          <a:prstGeom prst="rect">
            <a:avLst/>
          </a:prstGeom>
          <a:noFill/>
          <a:ln/>
        </p:spPr>
        <p:txBody>
          <a:bodyPr wrap="square" lIns="0" tIns="0" rIns="0" bIns="0" rtlCol="0" anchor="ctr"/>
          <a:lstStyle/>
          <a:p>
            <a:pPr algn="ctr" indent="0" marL="0">
              <a:buNone/>
            </a:pPr>
            <a:r>
              <a:rPr lang="en-US" sz="1500" dirty="0">
                <a:solidFill>
                  <a:srgbClr val="0B1B33"/>
                </a:solidFill>
                <a:latin typeface="Segoe UI Semibold" pitchFamily="34" charset="0"/>
                <a:ea typeface="Segoe UI Semibold" pitchFamily="34" charset="-122"/>
                <a:cs typeface="Segoe UI Semibold" pitchFamily="34" charset="-120"/>
              </a:rPr>
              <a:t>Work order</a:t>
            </a:r>
            <a:endParaRPr lang="en-US" sz="1500" dirty="0"/>
          </a:p>
        </p:txBody>
      </p:sp>
      <p:sp>
        <p:nvSpPr>
          <p:cNvPr id="15" name="Text 12"/>
          <p:cNvSpPr txBox="1"/>
          <p:nvPr/>
        </p:nvSpPr>
        <p:spPr>
          <a:xfrm>
            <a:off x="2628900" y="2084832"/>
            <a:ext cx="180594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Segoe UI" pitchFamily="34" charset="0"/>
                <a:ea typeface="Segoe UI" pitchFamily="34" charset="-122"/>
                <a:cs typeface="Segoe UI" pitchFamily="34" charset="-120"/>
              </a:rPr>
              <a:t>created</a:t>
            </a:r>
            <a:endParaRPr lang="en-US" sz="1100" dirty="0"/>
          </a:p>
        </p:txBody>
      </p:sp>
      <p:sp>
        <p:nvSpPr>
          <p:cNvPr id="16" name="Text 13"/>
          <p:cNvSpPr txBox="1"/>
          <p:nvPr/>
        </p:nvSpPr>
        <p:spPr>
          <a:xfrm>
            <a:off x="4434840" y="1783080"/>
            <a:ext cx="274320" cy="548640"/>
          </a:xfrm>
          <a:prstGeom prst="rect">
            <a:avLst/>
          </a:prstGeom>
          <a:noFill/>
          <a:ln/>
        </p:spPr>
        <p:txBody>
          <a:bodyPr wrap="square" lIns="0" tIns="0" rIns="0" bIns="0" rtlCol="0" anchor="ctr"/>
          <a:lstStyle/>
          <a:p>
            <a:pPr algn="ctr" indent="0" marL="0">
              <a:buNone/>
            </a:pPr>
            <a:r>
              <a:rPr lang="en-US" sz="2400" dirty="0">
                <a:solidFill>
                  <a:srgbClr val="0891B2"/>
                </a:solidFill>
                <a:latin typeface="Segoe UI Semibold" pitchFamily="34" charset="0"/>
                <a:ea typeface="Segoe UI Semibold" pitchFamily="34" charset="-122"/>
                <a:cs typeface="Segoe UI Semibold" pitchFamily="34" charset="-120"/>
              </a:rPr>
              <a:t>›</a:t>
            </a:r>
            <a:endParaRPr lang="en-US" sz="2400" dirty="0"/>
          </a:p>
        </p:txBody>
      </p:sp>
      <p:sp>
        <p:nvSpPr>
          <p:cNvPr id="17" name="Shape 14"/>
          <p:cNvSpPr/>
          <p:nvPr/>
        </p:nvSpPr>
        <p:spPr>
          <a:xfrm>
            <a:off x="4709160" y="1600200"/>
            <a:ext cx="1805940" cy="914400"/>
          </a:xfrm>
          <a:prstGeom prst="roundRect">
            <a:avLst>
              <a:gd name="adj" fmla="val 8000"/>
            </a:avLst>
          </a:prstGeom>
          <a:solidFill>
            <a:srgbClr val="FFFFFF"/>
          </a:solidFill>
          <a:ln w="9525">
            <a:solidFill>
              <a:srgbClr val="DCE3EE"/>
            </a:solidFill>
            <a:prstDash val="solid"/>
          </a:ln>
        </p:spPr>
      </p:sp>
      <p:sp>
        <p:nvSpPr>
          <p:cNvPr id="18" name="Text 15"/>
          <p:cNvSpPr txBox="1"/>
          <p:nvPr/>
        </p:nvSpPr>
        <p:spPr>
          <a:xfrm>
            <a:off x="4709160" y="1664208"/>
            <a:ext cx="1805940" cy="457200"/>
          </a:xfrm>
          <a:prstGeom prst="rect">
            <a:avLst/>
          </a:prstGeom>
          <a:noFill/>
          <a:ln/>
        </p:spPr>
        <p:txBody>
          <a:bodyPr wrap="square" lIns="0" tIns="0" rIns="0" bIns="0" rtlCol="0" anchor="ctr"/>
          <a:lstStyle/>
          <a:p>
            <a:pPr algn="ctr" indent="0" marL="0">
              <a:buNone/>
            </a:pPr>
            <a:r>
              <a:rPr lang="en-US" sz="1500" dirty="0">
                <a:solidFill>
                  <a:srgbClr val="0B1B33"/>
                </a:solidFill>
                <a:latin typeface="Segoe UI Semibold" pitchFamily="34" charset="0"/>
                <a:ea typeface="Segoe UI Semibold" pitchFamily="34" charset="-122"/>
                <a:cs typeface="Segoe UI Semibold" pitchFamily="34" charset="-120"/>
              </a:rPr>
              <a:t>Technician</a:t>
            </a:r>
            <a:endParaRPr lang="en-US" sz="1500" dirty="0"/>
          </a:p>
        </p:txBody>
      </p:sp>
      <p:sp>
        <p:nvSpPr>
          <p:cNvPr id="19" name="Text 16"/>
          <p:cNvSpPr txBox="1"/>
          <p:nvPr/>
        </p:nvSpPr>
        <p:spPr>
          <a:xfrm>
            <a:off x="4709160" y="2084832"/>
            <a:ext cx="180594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Segoe UI" pitchFamily="34" charset="0"/>
                <a:ea typeface="Segoe UI" pitchFamily="34" charset="-122"/>
                <a:cs typeface="Segoe UI" pitchFamily="34" charset="-120"/>
              </a:rPr>
              <a:t>assigned</a:t>
            </a:r>
            <a:endParaRPr lang="en-US" sz="1100" dirty="0"/>
          </a:p>
        </p:txBody>
      </p:sp>
      <p:sp>
        <p:nvSpPr>
          <p:cNvPr id="20" name="Text 17"/>
          <p:cNvSpPr txBox="1"/>
          <p:nvPr/>
        </p:nvSpPr>
        <p:spPr>
          <a:xfrm>
            <a:off x="6515100" y="1783080"/>
            <a:ext cx="274320" cy="548640"/>
          </a:xfrm>
          <a:prstGeom prst="rect">
            <a:avLst/>
          </a:prstGeom>
          <a:noFill/>
          <a:ln/>
        </p:spPr>
        <p:txBody>
          <a:bodyPr wrap="square" lIns="0" tIns="0" rIns="0" bIns="0" rtlCol="0" anchor="ctr"/>
          <a:lstStyle/>
          <a:p>
            <a:pPr algn="ctr" indent="0" marL="0">
              <a:buNone/>
            </a:pPr>
            <a:r>
              <a:rPr lang="en-US" sz="2400" dirty="0">
                <a:solidFill>
                  <a:srgbClr val="0891B2"/>
                </a:solidFill>
                <a:latin typeface="Segoe UI Semibold" pitchFamily="34" charset="0"/>
                <a:ea typeface="Segoe UI Semibold" pitchFamily="34" charset="-122"/>
                <a:cs typeface="Segoe UI Semibold" pitchFamily="34" charset="-120"/>
              </a:rPr>
              <a:t>›</a:t>
            </a:r>
            <a:endParaRPr lang="en-US" sz="2400" dirty="0"/>
          </a:p>
        </p:txBody>
      </p:sp>
      <p:sp>
        <p:nvSpPr>
          <p:cNvPr id="21" name="Shape 18"/>
          <p:cNvSpPr/>
          <p:nvPr/>
        </p:nvSpPr>
        <p:spPr>
          <a:xfrm>
            <a:off x="6789420" y="1600200"/>
            <a:ext cx="1805940" cy="914400"/>
          </a:xfrm>
          <a:prstGeom prst="roundRect">
            <a:avLst>
              <a:gd name="adj" fmla="val 8000"/>
            </a:avLst>
          </a:prstGeom>
          <a:solidFill>
            <a:srgbClr val="FFFFFF"/>
          </a:solidFill>
          <a:ln w="9525">
            <a:solidFill>
              <a:srgbClr val="DCE3EE"/>
            </a:solidFill>
            <a:prstDash val="solid"/>
          </a:ln>
        </p:spPr>
      </p:sp>
      <p:sp>
        <p:nvSpPr>
          <p:cNvPr id="22" name="Text 19"/>
          <p:cNvSpPr txBox="1"/>
          <p:nvPr/>
        </p:nvSpPr>
        <p:spPr>
          <a:xfrm>
            <a:off x="6789420" y="1664208"/>
            <a:ext cx="1805940" cy="457200"/>
          </a:xfrm>
          <a:prstGeom prst="rect">
            <a:avLst/>
          </a:prstGeom>
          <a:noFill/>
          <a:ln/>
        </p:spPr>
        <p:txBody>
          <a:bodyPr wrap="square" lIns="0" tIns="0" rIns="0" bIns="0" rtlCol="0" anchor="ctr"/>
          <a:lstStyle/>
          <a:p>
            <a:pPr algn="ctr" indent="0" marL="0">
              <a:buNone/>
            </a:pPr>
            <a:r>
              <a:rPr lang="en-US" sz="1500" dirty="0">
                <a:solidFill>
                  <a:srgbClr val="0B1B33"/>
                </a:solidFill>
                <a:latin typeface="Segoe UI Semibold" pitchFamily="34" charset="0"/>
                <a:ea typeface="Segoe UI Semibold" pitchFamily="34" charset="-122"/>
                <a:cs typeface="Segoe UI Semibold" pitchFamily="34" charset="-120"/>
              </a:rPr>
              <a:t>Completed</a:t>
            </a:r>
            <a:endParaRPr lang="en-US" sz="1500" dirty="0"/>
          </a:p>
        </p:txBody>
      </p:sp>
      <p:sp>
        <p:nvSpPr>
          <p:cNvPr id="23" name="Text 20"/>
          <p:cNvSpPr txBox="1"/>
          <p:nvPr/>
        </p:nvSpPr>
        <p:spPr>
          <a:xfrm>
            <a:off x="6789420" y="2084832"/>
            <a:ext cx="180594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Segoe UI" pitchFamily="34" charset="0"/>
                <a:ea typeface="Segoe UI" pitchFamily="34" charset="-122"/>
                <a:cs typeface="Segoe UI" pitchFamily="34" charset="-120"/>
              </a:rPr>
              <a:t>in history</a:t>
            </a:r>
            <a:endParaRPr lang="en-US" sz="1100" dirty="0"/>
          </a:p>
        </p:txBody>
      </p:sp>
      <p:sp>
        <p:nvSpPr>
          <p:cNvPr id="24" name="Shape 21"/>
          <p:cNvSpPr/>
          <p:nvPr/>
        </p:nvSpPr>
        <p:spPr>
          <a:xfrm>
            <a:off x="548640" y="2926080"/>
            <a:ext cx="457200" cy="0"/>
          </a:xfrm>
          <a:prstGeom prst="line">
            <a:avLst/>
          </a:prstGeom>
          <a:noFill/>
          <a:ln w="28575">
            <a:solidFill>
              <a:srgbClr val="0891B2"/>
            </a:solidFill>
            <a:prstDash val="solid"/>
          </a:ln>
        </p:spPr>
      </p:sp>
      <p:sp>
        <p:nvSpPr>
          <p:cNvPr id="25" name="Text 22"/>
          <p:cNvSpPr txBox="1"/>
          <p:nvPr/>
        </p:nvSpPr>
        <p:spPr>
          <a:xfrm>
            <a:off x="548640" y="3017520"/>
            <a:ext cx="2499360" cy="640080"/>
          </a:xfrm>
          <a:prstGeom prst="rect">
            <a:avLst/>
          </a:prstGeom>
          <a:noFill/>
          <a:ln/>
        </p:spPr>
        <p:txBody>
          <a:bodyPr wrap="square" lIns="0" tIns="0" rIns="0" bIns="0" rtlCol="0" anchor="ctr"/>
          <a:lstStyle/>
          <a:p>
            <a:pPr indent="0" marL="0">
              <a:buNone/>
            </a:pPr>
            <a:r>
              <a:rPr lang="en-US" sz="3200" dirty="0">
                <a:solidFill>
                  <a:srgbClr val="0891B2"/>
                </a:solidFill>
                <a:latin typeface="Segoe UI Semibold" pitchFamily="34" charset="0"/>
                <a:ea typeface="Segoe UI Semibold" pitchFamily="34" charset="-122"/>
                <a:cs typeface="Segoe UI Semibold" pitchFamily="34" charset="-120"/>
              </a:rPr>
              <a:t>0 clicks</a:t>
            </a:r>
            <a:endParaRPr lang="en-US" sz="3200" dirty="0"/>
          </a:p>
        </p:txBody>
      </p:sp>
      <p:sp>
        <p:nvSpPr>
          <p:cNvPr id="26" name="Text 23"/>
          <p:cNvSpPr txBox="1"/>
          <p:nvPr/>
        </p:nvSpPr>
        <p:spPr>
          <a:xfrm>
            <a:off x="548640" y="3657600"/>
            <a:ext cx="2499360" cy="32004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to open a corrective order</a:t>
            </a:r>
            <a:endParaRPr lang="en-US" sz="1200" dirty="0"/>
          </a:p>
        </p:txBody>
      </p:sp>
      <p:sp>
        <p:nvSpPr>
          <p:cNvPr id="27" name="Shape 24"/>
          <p:cNvSpPr/>
          <p:nvPr/>
        </p:nvSpPr>
        <p:spPr>
          <a:xfrm>
            <a:off x="3322320" y="2926080"/>
            <a:ext cx="457200" cy="0"/>
          </a:xfrm>
          <a:prstGeom prst="line">
            <a:avLst/>
          </a:prstGeom>
          <a:noFill/>
          <a:ln w="28575">
            <a:solidFill>
              <a:srgbClr val="0891B2"/>
            </a:solidFill>
            <a:prstDash val="solid"/>
          </a:ln>
        </p:spPr>
      </p:sp>
      <p:sp>
        <p:nvSpPr>
          <p:cNvPr id="28" name="Text 25"/>
          <p:cNvSpPr txBox="1"/>
          <p:nvPr/>
        </p:nvSpPr>
        <p:spPr>
          <a:xfrm>
            <a:off x="3322320" y="3017520"/>
            <a:ext cx="2499360" cy="640080"/>
          </a:xfrm>
          <a:prstGeom prst="rect">
            <a:avLst/>
          </a:prstGeom>
          <a:noFill/>
          <a:ln/>
        </p:spPr>
        <p:txBody>
          <a:bodyPr wrap="square" lIns="0" tIns="0" rIns="0" bIns="0" rtlCol="0" anchor="ctr"/>
          <a:lstStyle/>
          <a:p>
            <a:pPr indent="0" marL="0">
              <a:buNone/>
            </a:pPr>
            <a:r>
              <a:rPr lang="en-US" sz="3200" dirty="0">
                <a:solidFill>
                  <a:srgbClr val="0891B2"/>
                </a:solidFill>
                <a:latin typeface="Segoe UI Semibold" pitchFamily="34" charset="0"/>
                <a:ea typeface="Segoe UI Semibold" pitchFamily="34" charset="-122"/>
                <a:cs typeface="Segoe UI Semibold" pitchFamily="34" charset="-120"/>
              </a:rPr>
              <a:t>4</a:t>
            </a:r>
            <a:endParaRPr lang="en-US" sz="3200" dirty="0"/>
          </a:p>
        </p:txBody>
      </p:sp>
      <p:sp>
        <p:nvSpPr>
          <p:cNvPr id="29" name="Text 26"/>
          <p:cNvSpPr txBox="1"/>
          <p:nvPr/>
        </p:nvSpPr>
        <p:spPr>
          <a:xfrm>
            <a:off x="3322320" y="3657600"/>
            <a:ext cx="2499360" cy="32004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technicians</a:t>
            </a:r>
            <a:endParaRPr lang="en-US" sz="1200" dirty="0"/>
          </a:p>
        </p:txBody>
      </p:sp>
      <p:sp>
        <p:nvSpPr>
          <p:cNvPr id="30" name="Shape 27"/>
          <p:cNvSpPr/>
          <p:nvPr/>
        </p:nvSpPr>
        <p:spPr>
          <a:xfrm>
            <a:off x="6096000" y="2926080"/>
            <a:ext cx="457200" cy="0"/>
          </a:xfrm>
          <a:prstGeom prst="line">
            <a:avLst/>
          </a:prstGeom>
          <a:noFill/>
          <a:ln w="28575">
            <a:solidFill>
              <a:srgbClr val="0891B2"/>
            </a:solidFill>
            <a:prstDash val="solid"/>
          </a:ln>
        </p:spPr>
      </p:sp>
      <p:sp>
        <p:nvSpPr>
          <p:cNvPr id="31" name="Text 28"/>
          <p:cNvSpPr txBox="1"/>
          <p:nvPr/>
        </p:nvSpPr>
        <p:spPr>
          <a:xfrm>
            <a:off x="6096000" y="3017520"/>
            <a:ext cx="2499360" cy="640080"/>
          </a:xfrm>
          <a:prstGeom prst="rect">
            <a:avLst/>
          </a:prstGeom>
          <a:noFill/>
          <a:ln/>
        </p:spPr>
        <p:txBody>
          <a:bodyPr wrap="square" lIns="0" tIns="0" rIns="0" bIns="0" rtlCol="0" anchor="ctr"/>
          <a:lstStyle/>
          <a:p>
            <a:pPr indent="0" marL="0">
              <a:buNone/>
            </a:pPr>
            <a:r>
              <a:rPr lang="en-US" sz="3200" dirty="0">
                <a:solidFill>
                  <a:srgbClr val="0891B2"/>
                </a:solidFill>
                <a:latin typeface="Segoe UI Semibold" pitchFamily="34" charset="0"/>
                <a:ea typeface="Segoe UI Semibold" pitchFamily="34" charset="-122"/>
                <a:cs typeface="Segoe UI Semibold" pitchFamily="34" charset="-120"/>
              </a:rPr>
              <a:t>1</a:t>
            </a:r>
            <a:endParaRPr lang="en-US" sz="3200" dirty="0"/>
          </a:p>
        </p:txBody>
      </p:sp>
      <p:sp>
        <p:nvSpPr>
          <p:cNvPr id="32" name="Text 29"/>
          <p:cNvSpPr txBox="1"/>
          <p:nvPr/>
        </p:nvSpPr>
        <p:spPr>
          <a:xfrm>
            <a:off x="6096000" y="3657600"/>
            <a:ext cx="2499360" cy="32004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active order per asset</a:t>
            </a:r>
            <a:endParaRPr lang="en-US" sz="1200" dirty="0"/>
          </a:p>
        </p:txBody>
      </p:sp>
      <p:sp>
        <p:nvSpPr>
          <p:cNvPr id="33" name="Shape 30"/>
          <p:cNvSpPr/>
          <p:nvPr/>
        </p:nvSpPr>
        <p:spPr>
          <a:xfrm>
            <a:off x="548640" y="4297680"/>
            <a:ext cx="4206240" cy="329184"/>
          </a:xfrm>
          <a:prstGeom prst="roundRect">
            <a:avLst>
              <a:gd name="adj" fmla="val 50000"/>
            </a:avLst>
          </a:prstGeom>
          <a:solidFill>
            <a:srgbClr val="E6F4F8"/>
          </a:solidFill>
          <a:ln w="12700">
            <a:solidFill>
              <a:srgbClr val="E6F4F8"/>
            </a:solidFill>
            <a:prstDash val="solid"/>
          </a:ln>
        </p:spPr>
      </p:sp>
      <p:sp>
        <p:nvSpPr>
          <p:cNvPr id="34" name="Text 31"/>
          <p:cNvSpPr txBox="1"/>
          <p:nvPr/>
        </p:nvSpPr>
        <p:spPr>
          <a:xfrm>
            <a:off x="731520" y="4297680"/>
            <a:ext cx="3931920" cy="329184"/>
          </a:xfrm>
          <a:prstGeom prst="rect">
            <a:avLst/>
          </a:prstGeom>
          <a:noFill/>
          <a:ln/>
        </p:spPr>
        <p:txBody>
          <a:bodyPr wrap="square" lIns="0" tIns="0" rIns="0" bIns="0" rtlCol="0" anchor="ctr"/>
          <a:lstStyle/>
          <a:p>
            <a:pPr indent="0" marL="0">
              <a:buNone/>
            </a:pPr>
            <a:r>
              <a:rPr lang="en-US" sz="1100" b="1" dirty="0">
                <a:solidFill>
                  <a:srgbClr val="0891B2"/>
                </a:solidFill>
                <a:latin typeface="Segoe UI" pitchFamily="34" charset="0"/>
                <a:ea typeface="Segoe UI" pitchFamily="34" charset="-122"/>
                <a:cs typeface="Segoe UI" pitchFamily="34" charset="-120"/>
              </a:rPr>
              <a:t>LIVE  </a:t>
            </a:r>
            <a:pPr indent="0" marL="0">
              <a:buNone/>
            </a:pPr>
            <a:r>
              <a:rPr lang="en-US" sz="1100" dirty="0">
                <a:solidFill>
                  <a:srgbClr val="0B1B33"/>
                </a:solidFill>
                <a:latin typeface="Segoe UI" pitchFamily="34" charset="0"/>
                <a:ea typeface="Segoe UI" pitchFamily="34" charset="-122"/>
                <a:cs typeface="Segoe UI" pitchFamily="34" charset="-120"/>
              </a:rPr>
              <a:t>Maintenance board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B"/>
        </a:solidFill>
      </p:bgPr>
    </p:bg>
    <p:spTree>
      <p:nvGrpSpPr>
        <p:cNvPr id="1" name=""/>
        <p:cNvGrpSpPr/>
        <p:nvPr/>
      </p:nvGrpSpPr>
      <p:grpSpPr>
        <a:xfrm>
          <a:off x="0" y="0"/>
          <a:ext cx="0" cy="0"/>
          <a:chOff x="0" y="0"/>
          <a:chExt cx="0" cy="0"/>
        </a:xfrm>
      </p:grpSpPr>
      <p:sp>
        <p:nvSpPr>
          <p:cNvPr id="3" name="Shape 0"/>
          <p:cNvSpPr/>
          <p:nvPr/>
        </p:nvSpPr>
        <p:spPr>
          <a:xfrm>
            <a:off x="548640" y="429768"/>
            <a:ext cx="82296" cy="82296"/>
          </a:xfrm>
          <a:prstGeom prst="rect">
            <a:avLst/>
          </a:prstGeom>
          <a:solidFill>
            <a:srgbClr val="0891B2"/>
          </a:solidFill>
          <a:ln w="12700">
            <a:solidFill>
              <a:srgbClr val="0891B2"/>
            </a:solidFill>
            <a:prstDash val="solid"/>
          </a:ln>
        </p:spPr>
      </p:sp>
      <p:sp>
        <p:nvSpPr>
          <p:cNvPr id="4" name="Text 1"/>
          <p:cNvSpPr txBox="1"/>
          <p:nvPr/>
        </p:nvSpPr>
        <p:spPr>
          <a:xfrm>
            <a:off x="749808" y="365760"/>
            <a:ext cx="7315200" cy="219456"/>
          </a:xfrm>
          <a:prstGeom prst="rect">
            <a:avLst/>
          </a:prstGeom>
          <a:noFill/>
          <a:ln/>
        </p:spPr>
        <p:txBody>
          <a:bodyPr wrap="square" lIns="0" tIns="0" rIns="0" bIns="0" rtlCol="0" anchor="ctr"/>
          <a:lstStyle/>
          <a:p>
            <a:pPr indent="0" marL="0">
              <a:buNone/>
            </a:pPr>
            <a:r>
              <a:rPr lang="en-US" sz="1050" spc="400" kern="0" dirty="0">
                <a:solidFill>
                  <a:srgbClr val="0891B2"/>
                </a:solidFill>
                <a:latin typeface="Segoe UI Semibold" pitchFamily="34" charset="0"/>
                <a:ea typeface="Segoe UI Semibold" pitchFamily="34" charset="-122"/>
                <a:cs typeface="Segoe UI Semibold" pitchFamily="34" charset="-120"/>
              </a:rPr>
              <a:t>06 · YASIRU · NOTIFICATION SERVICE</a:t>
            </a:r>
            <a:endParaRPr lang="en-US" sz="1050" dirty="0"/>
          </a:p>
        </p:txBody>
      </p:sp>
      <p:sp>
        <p:nvSpPr>
          <p:cNvPr id="5" name="Text 2"/>
          <p:cNvSpPr txBox="1"/>
          <p:nvPr/>
        </p:nvSpPr>
        <p:spPr>
          <a:xfrm>
            <a:off x="548640" y="713232"/>
            <a:ext cx="8046720" cy="640080"/>
          </a:xfrm>
          <a:prstGeom prst="rect">
            <a:avLst/>
          </a:prstGeom>
          <a:noFill/>
          <a:ln/>
        </p:spPr>
        <p:txBody>
          <a:bodyPr wrap="square" lIns="0" tIns="0" rIns="0" bIns="0" rtlCol="0" anchor="ctr"/>
          <a:lstStyle/>
          <a:p>
            <a:pPr indent="0" marL="0">
              <a:buNone/>
            </a:pPr>
            <a:r>
              <a:rPr lang="en-US" sz="3200" dirty="0">
                <a:solidFill>
                  <a:srgbClr val="0B1B33"/>
                </a:solidFill>
                <a:latin typeface="Segoe UI Semibold" pitchFamily="34" charset="0"/>
                <a:ea typeface="Segoe UI Semibold" pitchFamily="34" charset="-122"/>
                <a:cs typeface="Segoe UI Semibold" pitchFamily="34" charset="-120"/>
              </a:rPr>
              <a:t>Every alert delivered and recorded</a:t>
            </a:r>
            <a:endParaRPr lang="en-US" sz="3200" dirty="0"/>
          </a:p>
        </p:txBody>
      </p:sp>
      <p:sp>
        <p:nvSpPr>
          <p:cNvPr id="6" name="Shape 3"/>
          <p:cNvSpPr/>
          <p:nvPr/>
        </p:nvSpPr>
        <p:spPr>
          <a:xfrm>
            <a:off x="548640" y="4681728"/>
            <a:ext cx="8046720" cy="0"/>
          </a:xfrm>
          <a:prstGeom prst="line">
            <a:avLst/>
          </a:prstGeom>
          <a:noFill/>
          <a:ln w="9525">
            <a:solidFill>
              <a:srgbClr val="DCE3EE"/>
            </a:solidFill>
            <a:prstDash val="solid"/>
          </a:ln>
        </p:spPr>
      </p:sp>
      <p:sp>
        <p:nvSpPr>
          <p:cNvPr id="7" name="Text 4"/>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8" name="Text 5"/>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64748B"/>
                </a:solidFill>
                <a:latin typeface="Segoe UI" pitchFamily="34" charset="0"/>
                <a:ea typeface="Segoe UI" pitchFamily="34" charset="-122"/>
                <a:cs typeface="Segoe UI" pitchFamily="34" charset="-120"/>
              </a:rPr>
              <a:t>06  ·  5:24–7:02</a:t>
            </a:r>
            <a:endParaRPr lang="en-US" sz="900" dirty="0"/>
          </a:p>
        </p:txBody>
      </p:sp>
      <p:sp>
        <p:nvSpPr>
          <p:cNvPr id="9" name="Shape 6"/>
          <p:cNvSpPr/>
          <p:nvPr/>
        </p:nvSpPr>
        <p:spPr>
          <a:xfrm>
            <a:off x="548640" y="1600200"/>
            <a:ext cx="1805940" cy="914400"/>
          </a:xfrm>
          <a:prstGeom prst="roundRect">
            <a:avLst>
              <a:gd name="adj" fmla="val 8000"/>
            </a:avLst>
          </a:prstGeom>
          <a:solidFill>
            <a:srgbClr val="0891B2"/>
          </a:solidFill>
          <a:ln w="9525">
            <a:solidFill>
              <a:srgbClr val="0891B2"/>
            </a:solidFill>
            <a:prstDash val="solid"/>
          </a:ln>
        </p:spPr>
      </p:sp>
      <p:sp>
        <p:nvSpPr>
          <p:cNvPr id="10" name="Text 7"/>
          <p:cNvSpPr txBox="1"/>
          <p:nvPr/>
        </p:nvSpPr>
        <p:spPr>
          <a:xfrm>
            <a:off x="548640" y="1664208"/>
            <a:ext cx="180594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Segoe UI Semibold" pitchFamily="34" charset="0"/>
                <a:ea typeface="Segoe UI Semibold" pitchFamily="34" charset="-122"/>
                <a:cs typeface="Segoe UI Semibold" pitchFamily="34" charset="-120"/>
              </a:rPr>
              <a:t>Queue</a:t>
            </a:r>
            <a:endParaRPr lang="en-US" sz="1500" dirty="0"/>
          </a:p>
        </p:txBody>
      </p:sp>
      <p:sp>
        <p:nvSpPr>
          <p:cNvPr id="11" name="Text 8"/>
          <p:cNvSpPr txBox="1"/>
          <p:nvPr/>
        </p:nvSpPr>
        <p:spPr>
          <a:xfrm>
            <a:off x="548640" y="2084832"/>
            <a:ext cx="1805940" cy="320040"/>
          </a:xfrm>
          <a:prstGeom prst="rect">
            <a:avLst/>
          </a:prstGeom>
          <a:noFill/>
          <a:ln/>
        </p:spPr>
        <p:txBody>
          <a:bodyPr wrap="square" lIns="0" tIns="0" rIns="0" bIns="0" rtlCol="0" anchor="ctr"/>
          <a:lstStyle/>
          <a:p>
            <a:pPr algn="ctr" indent="0" marL="0">
              <a:buNone/>
            </a:pPr>
            <a:r>
              <a:rPr lang="en-US" sz="1100" dirty="0">
                <a:solidFill>
                  <a:srgbClr val="E6F4F8"/>
                </a:solidFill>
                <a:latin typeface="Segoe UI" pitchFamily="34" charset="0"/>
                <a:ea typeface="Segoe UI" pitchFamily="34" charset="-122"/>
                <a:cs typeface="Segoe UI" pitchFamily="34" charset="-120"/>
              </a:rPr>
              <a:t>durable</a:t>
            </a:r>
            <a:endParaRPr lang="en-US" sz="1100" dirty="0"/>
          </a:p>
        </p:txBody>
      </p:sp>
      <p:sp>
        <p:nvSpPr>
          <p:cNvPr id="12" name="Text 9"/>
          <p:cNvSpPr txBox="1"/>
          <p:nvPr/>
        </p:nvSpPr>
        <p:spPr>
          <a:xfrm>
            <a:off x="2354580" y="1783080"/>
            <a:ext cx="274320" cy="548640"/>
          </a:xfrm>
          <a:prstGeom prst="rect">
            <a:avLst/>
          </a:prstGeom>
          <a:noFill/>
          <a:ln/>
        </p:spPr>
        <p:txBody>
          <a:bodyPr wrap="square" lIns="0" tIns="0" rIns="0" bIns="0" rtlCol="0" anchor="ctr"/>
          <a:lstStyle/>
          <a:p>
            <a:pPr algn="ctr" indent="0" marL="0">
              <a:buNone/>
            </a:pPr>
            <a:r>
              <a:rPr lang="en-US" sz="2400" dirty="0">
                <a:solidFill>
                  <a:srgbClr val="0891B2"/>
                </a:solidFill>
                <a:latin typeface="Segoe UI Semibold" pitchFamily="34" charset="0"/>
                <a:ea typeface="Segoe UI Semibold" pitchFamily="34" charset="-122"/>
                <a:cs typeface="Segoe UI Semibold" pitchFamily="34" charset="-120"/>
              </a:rPr>
              <a:t>›</a:t>
            </a:r>
            <a:endParaRPr lang="en-US" sz="2400" dirty="0"/>
          </a:p>
        </p:txBody>
      </p:sp>
      <p:sp>
        <p:nvSpPr>
          <p:cNvPr id="13" name="Shape 10"/>
          <p:cNvSpPr/>
          <p:nvPr/>
        </p:nvSpPr>
        <p:spPr>
          <a:xfrm>
            <a:off x="2628900" y="1600200"/>
            <a:ext cx="1805940" cy="914400"/>
          </a:xfrm>
          <a:prstGeom prst="roundRect">
            <a:avLst>
              <a:gd name="adj" fmla="val 8000"/>
            </a:avLst>
          </a:prstGeom>
          <a:solidFill>
            <a:srgbClr val="FFFFFF"/>
          </a:solidFill>
          <a:ln w="9525">
            <a:solidFill>
              <a:srgbClr val="DCE3EE"/>
            </a:solidFill>
            <a:prstDash val="solid"/>
          </a:ln>
        </p:spPr>
      </p:sp>
      <p:sp>
        <p:nvSpPr>
          <p:cNvPr id="14" name="Text 11"/>
          <p:cNvSpPr txBox="1"/>
          <p:nvPr/>
        </p:nvSpPr>
        <p:spPr>
          <a:xfrm>
            <a:off x="2628900" y="1664208"/>
            <a:ext cx="1805940" cy="457200"/>
          </a:xfrm>
          <a:prstGeom prst="rect">
            <a:avLst/>
          </a:prstGeom>
          <a:noFill/>
          <a:ln/>
        </p:spPr>
        <p:txBody>
          <a:bodyPr wrap="square" lIns="0" tIns="0" rIns="0" bIns="0" rtlCol="0" anchor="ctr"/>
          <a:lstStyle/>
          <a:p>
            <a:pPr algn="ctr" indent="0" marL="0">
              <a:buNone/>
            </a:pPr>
            <a:r>
              <a:rPr lang="en-US" sz="1500" dirty="0">
                <a:solidFill>
                  <a:srgbClr val="0B1B33"/>
                </a:solidFill>
                <a:latin typeface="Segoe UI Semibold" pitchFamily="34" charset="0"/>
                <a:ea typeface="Segoe UI Semibold" pitchFamily="34" charset="-122"/>
                <a:cs typeface="Segoe UI Semibold" pitchFamily="34" charset="-120"/>
              </a:rPr>
              <a:t>Consumer</a:t>
            </a:r>
            <a:endParaRPr lang="en-US" sz="1500" dirty="0"/>
          </a:p>
        </p:txBody>
      </p:sp>
      <p:sp>
        <p:nvSpPr>
          <p:cNvPr id="15" name="Text 12"/>
          <p:cNvSpPr txBox="1"/>
          <p:nvPr/>
        </p:nvSpPr>
        <p:spPr>
          <a:xfrm>
            <a:off x="2628900" y="2084832"/>
            <a:ext cx="180594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Segoe UI" pitchFamily="34" charset="0"/>
                <a:ea typeface="Segoe UI" pitchFamily="34" charset="-122"/>
                <a:cs typeface="Segoe UI" pitchFamily="34" charset="-120"/>
              </a:rPr>
              <a:t>schema check</a:t>
            </a:r>
            <a:endParaRPr lang="en-US" sz="1100" dirty="0"/>
          </a:p>
        </p:txBody>
      </p:sp>
      <p:sp>
        <p:nvSpPr>
          <p:cNvPr id="16" name="Text 13"/>
          <p:cNvSpPr txBox="1"/>
          <p:nvPr/>
        </p:nvSpPr>
        <p:spPr>
          <a:xfrm>
            <a:off x="4434840" y="1783080"/>
            <a:ext cx="274320" cy="548640"/>
          </a:xfrm>
          <a:prstGeom prst="rect">
            <a:avLst/>
          </a:prstGeom>
          <a:noFill/>
          <a:ln/>
        </p:spPr>
        <p:txBody>
          <a:bodyPr wrap="square" lIns="0" tIns="0" rIns="0" bIns="0" rtlCol="0" anchor="ctr"/>
          <a:lstStyle/>
          <a:p>
            <a:pPr algn="ctr" indent="0" marL="0">
              <a:buNone/>
            </a:pPr>
            <a:r>
              <a:rPr lang="en-US" sz="2400" dirty="0">
                <a:solidFill>
                  <a:srgbClr val="0891B2"/>
                </a:solidFill>
                <a:latin typeface="Segoe UI Semibold" pitchFamily="34" charset="0"/>
                <a:ea typeface="Segoe UI Semibold" pitchFamily="34" charset="-122"/>
                <a:cs typeface="Segoe UI Semibold" pitchFamily="34" charset="-120"/>
              </a:rPr>
              <a:t>›</a:t>
            </a:r>
            <a:endParaRPr lang="en-US" sz="2400" dirty="0"/>
          </a:p>
        </p:txBody>
      </p:sp>
      <p:sp>
        <p:nvSpPr>
          <p:cNvPr id="17" name="Shape 14"/>
          <p:cNvSpPr/>
          <p:nvPr/>
        </p:nvSpPr>
        <p:spPr>
          <a:xfrm>
            <a:off x="4709160" y="1600200"/>
            <a:ext cx="1805940" cy="914400"/>
          </a:xfrm>
          <a:prstGeom prst="roundRect">
            <a:avLst>
              <a:gd name="adj" fmla="val 8000"/>
            </a:avLst>
          </a:prstGeom>
          <a:solidFill>
            <a:srgbClr val="FFFFFF"/>
          </a:solidFill>
          <a:ln w="9525">
            <a:solidFill>
              <a:srgbClr val="DCE3EE"/>
            </a:solidFill>
            <a:prstDash val="solid"/>
          </a:ln>
        </p:spPr>
      </p:sp>
      <p:sp>
        <p:nvSpPr>
          <p:cNvPr id="18" name="Text 15"/>
          <p:cNvSpPr txBox="1"/>
          <p:nvPr/>
        </p:nvSpPr>
        <p:spPr>
          <a:xfrm>
            <a:off x="4709160" y="1664208"/>
            <a:ext cx="1805940" cy="457200"/>
          </a:xfrm>
          <a:prstGeom prst="rect">
            <a:avLst/>
          </a:prstGeom>
          <a:noFill/>
          <a:ln/>
        </p:spPr>
        <p:txBody>
          <a:bodyPr wrap="square" lIns="0" tIns="0" rIns="0" bIns="0" rtlCol="0" anchor="ctr"/>
          <a:lstStyle/>
          <a:p>
            <a:pPr algn="ctr" indent="0" marL="0">
              <a:buNone/>
            </a:pPr>
            <a:r>
              <a:rPr lang="en-US" sz="1500" dirty="0">
                <a:solidFill>
                  <a:srgbClr val="0B1B33"/>
                </a:solidFill>
                <a:latin typeface="Segoe UI Semibold" pitchFamily="34" charset="0"/>
                <a:ea typeface="Segoe UI Semibold" pitchFamily="34" charset="-122"/>
                <a:cs typeface="Segoe UI Semibold" pitchFamily="34" charset="-120"/>
              </a:rPr>
              <a:t>Channels</a:t>
            </a:r>
            <a:endParaRPr lang="en-US" sz="1500" dirty="0"/>
          </a:p>
        </p:txBody>
      </p:sp>
      <p:sp>
        <p:nvSpPr>
          <p:cNvPr id="19" name="Text 16"/>
          <p:cNvSpPr txBox="1"/>
          <p:nvPr/>
        </p:nvSpPr>
        <p:spPr>
          <a:xfrm>
            <a:off x="4709160" y="2084832"/>
            <a:ext cx="180594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Segoe UI" pitchFamily="34" charset="0"/>
                <a:ea typeface="Segoe UI" pitchFamily="34" charset="-122"/>
                <a:cs typeface="Segoe UI" pitchFamily="34" charset="-120"/>
              </a:rPr>
              <a:t>email · push</a:t>
            </a:r>
            <a:endParaRPr lang="en-US" sz="1100" dirty="0"/>
          </a:p>
        </p:txBody>
      </p:sp>
      <p:sp>
        <p:nvSpPr>
          <p:cNvPr id="20" name="Text 17"/>
          <p:cNvSpPr txBox="1"/>
          <p:nvPr/>
        </p:nvSpPr>
        <p:spPr>
          <a:xfrm>
            <a:off x="6515100" y="1783080"/>
            <a:ext cx="274320" cy="548640"/>
          </a:xfrm>
          <a:prstGeom prst="rect">
            <a:avLst/>
          </a:prstGeom>
          <a:noFill/>
          <a:ln/>
        </p:spPr>
        <p:txBody>
          <a:bodyPr wrap="square" lIns="0" tIns="0" rIns="0" bIns="0" rtlCol="0" anchor="ctr"/>
          <a:lstStyle/>
          <a:p>
            <a:pPr algn="ctr" indent="0" marL="0">
              <a:buNone/>
            </a:pPr>
            <a:r>
              <a:rPr lang="en-US" sz="2400" dirty="0">
                <a:solidFill>
                  <a:srgbClr val="0891B2"/>
                </a:solidFill>
                <a:latin typeface="Segoe UI Semibold" pitchFamily="34" charset="0"/>
                <a:ea typeface="Segoe UI Semibold" pitchFamily="34" charset="-122"/>
                <a:cs typeface="Segoe UI Semibold" pitchFamily="34" charset="-120"/>
              </a:rPr>
              <a:t>›</a:t>
            </a:r>
            <a:endParaRPr lang="en-US" sz="2400" dirty="0"/>
          </a:p>
        </p:txBody>
      </p:sp>
      <p:sp>
        <p:nvSpPr>
          <p:cNvPr id="21" name="Shape 18"/>
          <p:cNvSpPr/>
          <p:nvPr/>
        </p:nvSpPr>
        <p:spPr>
          <a:xfrm>
            <a:off x="6789420" y="1600200"/>
            <a:ext cx="1805940" cy="914400"/>
          </a:xfrm>
          <a:prstGeom prst="roundRect">
            <a:avLst>
              <a:gd name="adj" fmla="val 8000"/>
            </a:avLst>
          </a:prstGeom>
          <a:solidFill>
            <a:srgbClr val="FFFFFF"/>
          </a:solidFill>
          <a:ln w="9525">
            <a:solidFill>
              <a:srgbClr val="DCE3EE"/>
            </a:solidFill>
            <a:prstDash val="solid"/>
          </a:ln>
        </p:spPr>
      </p:sp>
      <p:sp>
        <p:nvSpPr>
          <p:cNvPr id="22" name="Text 19"/>
          <p:cNvSpPr txBox="1"/>
          <p:nvPr/>
        </p:nvSpPr>
        <p:spPr>
          <a:xfrm>
            <a:off x="6789420" y="1664208"/>
            <a:ext cx="1805940" cy="457200"/>
          </a:xfrm>
          <a:prstGeom prst="rect">
            <a:avLst/>
          </a:prstGeom>
          <a:noFill/>
          <a:ln/>
        </p:spPr>
        <p:txBody>
          <a:bodyPr wrap="square" lIns="0" tIns="0" rIns="0" bIns="0" rtlCol="0" anchor="ctr"/>
          <a:lstStyle/>
          <a:p>
            <a:pPr algn="ctr" indent="0" marL="0">
              <a:buNone/>
            </a:pPr>
            <a:r>
              <a:rPr lang="en-US" sz="1500" dirty="0">
                <a:solidFill>
                  <a:srgbClr val="0B1B33"/>
                </a:solidFill>
                <a:latin typeface="Segoe UI Semibold" pitchFamily="34" charset="0"/>
                <a:ea typeface="Segoe UI Semibold" pitchFamily="34" charset="-122"/>
                <a:cs typeface="Segoe UI Semibold" pitchFamily="34" charset="-120"/>
              </a:rPr>
              <a:t>History</a:t>
            </a:r>
            <a:endParaRPr lang="en-US" sz="1500" dirty="0"/>
          </a:p>
        </p:txBody>
      </p:sp>
      <p:sp>
        <p:nvSpPr>
          <p:cNvPr id="23" name="Text 20"/>
          <p:cNvSpPr txBox="1"/>
          <p:nvPr/>
        </p:nvSpPr>
        <p:spPr>
          <a:xfrm>
            <a:off x="6789420" y="2084832"/>
            <a:ext cx="180594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Segoe UI" pitchFamily="34" charset="0"/>
                <a:ea typeface="Segoe UI" pitchFamily="34" charset="-122"/>
                <a:cs typeface="Segoe UI" pitchFamily="34" charset="-120"/>
              </a:rPr>
              <a:t>stored</a:t>
            </a:r>
            <a:endParaRPr lang="en-US" sz="1100" dirty="0"/>
          </a:p>
        </p:txBody>
      </p:sp>
      <p:sp>
        <p:nvSpPr>
          <p:cNvPr id="24" name="Shape 21"/>
          <p:cNvSpPr/>
          <p:nvPr/>
        </p:nvSpPr>
        <p:spPr>
          <a:xfrm>
            <a:off x="548640" y="2926080"/>
            <a:ext cx="457200" cy="0"/>
          </a:xfrm>
          <a:prstGeom prst="line">
            <a:avLst/>
          </a:prstGeom>
          <a:noFill/>
          <a:ln w="28575">
            <a:solidFill>
              <a:srgbClr val="0891B2"/>
            </a:solidFill>
            <a:prstDash val="solid"/>
          </a:ln>
        </p:spPr>
      </p:sp>
      <p:sp>
        <p:nvSpPr>
          <p:cNvPr id="25" name="Text 22"/>
          <p:cNvSpPr txBox="1"/>
          <p:nvPr/>
        </p:nvSpPr>
        <p:spPr>
          <a:xfrm>
            <a:off x="548640" y="3017520"/>
            <a:ext cx="2499360" cy="640080"/>
          </a:xfrm>
          <a:prstGeom prst="rect">
            <a:avLst/>
          </a:prstGeom>
          <a:noFill/>
          <a:ln/>
        </p:spPr>
        <p:txBody>
          <a:bodyPr wrap="square" lIns="0" tIns="0" rIns="0" bIns="0" rtlCol="0" anchor="ctr"/>
          <a:lstStyle/>
          <a:p>
            <a:pPr indent="0" marL="0">
              <a:buNone/>
            </a:pPr>
            <a:r>
              <a:rPr lang="en-US" sz="3200" dirty="0">
                <a:solidFill>
                  <a:srgbClr val="0891B2"/>
                </a:solidFill>
                <a:latin typeface="Segoe UI Semibold" pitchFamily="34" charset="0"/>
                <a:ea typeface="Segoe UI Semibold" pitchFamily="34" charset="-122"/>
                <a:cs typeface="Segoe UI Semibold" pitchFamily="34" charset="-120"/>
              </a:rPr>
              <a:t>Instant</a:t>
            </a:r>
            <a:endParaRPr lang="en-US" sz="3200" dirty="0"/>
          </a:p>
        </p:txBody>
      </p:sp>
      <p:sp>
        <p:nvSpPr>
          <p:cNvPr id="26" name="Text 23"/>
          <p:cNvSpPr txBox="1"/>
          <p:nvPr/>
        </p:nvSpPr>
        <p:spPr>
          <a:xfrm>
            <a:off x="548640" y="3657600"/>
            <a:ext cx="2499360" cy="32004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in-app push</a:t>
            </a:r>
            <a:endParaRPr lang="en-US" sz="1200" dirty="0"/>
          </a:p>
        </p:txBody>
      </p:sp>
      <p:sp>
        <p:nvSpPr>
          <p:cNvPr id="27" name="Shape 24"/>
          <p:cNvSpPr/>
          <p:nvPr/>
        </p:nvSpPr>
        <p:spPr>
          <a:xfrm>
            <a:off x="3322320" y="2926080"/>
            <a:ext cx="457200" cy="0"/>
          </a:xfrm>
          <a:prstGeom prst="line">
            <a:avLst/>
          </a:prstGeom>
          <a:noFill/>
          <a:ln w="28575">
            <a:solidFill>
              <a:srgbClr val="0891B2"/>
            </a:solidFill>
            <a:prstDash val="solid"/>
          </a:ln>
        </p:spPr>
      </p:sp>
      <p:sp>
        <p:nvSpPr>
          <p:cNvPr id="28" name="Text 25"/>
          <p:cNvSpPr txBox="1"/>
          <p:nvPr/>
        </p:nvSpPr>
        <p:spPr>
          <a:xfrm>
            <a:off x="3322320" y="3017520"/>
            <a:ext cx="2499360" cy="640080"/>
          </a:xfrm>
          <a:prstGeom prst="rect">
            <a:avLst/>
          </a:prstGeom>
          <a:noFill/>
          <a:ln/>
        </p:spPr>
        <p:txBody>
          <a:bodyPr wrap="square" lIns="0" tIns="0" rIns="0" bIns="0" rtlCol="0" anchor="ctr"/>
          <a:lstStyle/>
          <a:p>
            <a:pPr indent="0" marL="0">
              <a:buNone/>
            </a:pPr>
            <a:r>
              <a:rPr lang="en-US" sz="3200" dirty="0">
                <a:solidFill>
                  <a:srgbClr val="0891B2"/>
                </a:solidFill>
                <a:latin typeface="Segoe UI Semibold" pitchFamily="34" charset="0"/>
                <a:ea typeface="Segoe UI Semibold" pitchFamily="34" charset="-122"/>
                <a:cs typeface="Segoe UI Semibold" pitchFamily="34" charset="-120"/>
              </a:rPr>
              <a:t>3</a:t>
            </a:r>
            <a:endParaRPr lang="en-US" sz="3200" dirty="0"/>
          </a:p>
        </p:txBody>
      </p:sp>
      <p:sp>
        <p:nvSpPr>
          <p:cNvPr id="29" name="Text 26"/>
          <p:cNvSpPr txBox="1"/>
          <p:nvPr/>
        </p:nvSpPr>
        <p:spPr>
          <a:xfrm>
            <a:off x="3322320" y="3657600"/>
            <a:ext cx="2499360" cy="32004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automatic retries</a:t>
            </a:r>
            <a:endParaRPr lang="en-US" sz="1200" dirty="0"/>
          </a:p>
        </p:txBody>
      </p:sp>
      <p:sp>
        <p:nvSpPr>
          <p:cNvPr id="30" name="Shape 27"/>
          <p:cNvSpPr/>
          <p:nvPr/>
        </p:nvSpPr>
        <p:spPr>
          <a:xfrm>
            <a:off x="6096000" y="2926080"/>
            <a:ext cx="457200" cy="0"/>
          </a:xfrm>
          <a:prstGeom prst="line">
            <a:avLst/>
          </a:prstGeom>
          <a:noFill/>
          <a:ln w="28575">
            <a:solidFill>
              <a:srgbClr val="0891B2"/>
            </a:solidFill>
            <a:prstDash val="solid"/>
          </a:ln>
        </p:spPr>
      </p:sp>
      <p:sp>
        <p:nvSpPr>
          <p:cNvPr id="31" name="Text 28"/>
          <p:cNvSpPr txBox="1"/>
          <p:nvPr/>
        </p:nvSpPr>
        <p:spPr>
          <a:xfrm>
            <a:off x="6096000" y="3017520"/>
            <a:ext cx="2499360" cy="640080"/>
          </a:xfrm>
          <a:prstGeom prst="rect">
            <a:avLst/>
          </a:prstGeom>
          <a:noFill/>
          <a:ln/>
        </p:spPr>
        <p:txBody>
          <a:bodyPr wrap="square" lIns="0" tIns="0" rIns="0" bIns="0" rtlCol="0" anchor="ctr"/>
          <a:lstStyle/>
          <a:p>
            <a:pPr indent="0" marL="0">
              <a:buNone/>
            </a:pPr>
            <a:r>
              <a:rPr lang="en-US" sz="3200" dirty="0">
                <a:solidFill>
                  <a:srgbClr val="0891B2"/>
                </a:solidFill>
                <a:latin typeface="Segoe UI Semibold" pitchFamily="34" charset="0"/>
                <a:ea typeface="Segoe UI Semibold" pitchFamily="34" charset="-122"/>
                <a:cs typeface="Segoe UI Semibold" pitchFamily="34" charset="-120"/>
              </a:rPr>
              <a:t>100%</a:t>
            </a:r>
            <a:endParaRPr lang="en-US" sz="3200" dirty="0"/>
          </a:p>
        </p:txBody>
      </p:sp>
      <p:sp>
        <p:nvSpPr>
          <p:cNvPr id="32" name="Text 29"/>
          <p:cNvSpPr txBox="1"/>
          <p:nvPr/>
        </p:nvSpPr>
        <p:spPr>
          <a:xfrm>
            <a:off x="6096000" y="3657600"/>
            <a:ext cx="2499360" cy="32004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deliveries recorded</a:t>
            </a:r>
            <a:endParaRPr lang="en-US" sz="1200" dirty="0"/>
          </a:p>
        </p:txBody>
      </p:sp>
      <p:sp>
        <p:nvSpPr>
          <p:cNvPr id="33" name="Shape 30"/>
          <p:cNvSpPr/>
          <p:nvPr/>
        </p:nvSpPr>
        <p:spPr>
          <a:xfrm>
            <a:off x="548640" y="4297680"/>
            <a:ext cx="4206240" cy="329184"/>
          </a:xfrm>
          <a:prstGeom prst="roundRect">
            <a:avLst>
              <a:gd name="adj" fmla="val 50000"/>
            </a:avLst>
          </a:prstGeom>
          <a:solidFill>
            <a:srgbClr val="E6F4F8"/>
          </a:solidFill>
          <a:ln w="12700">
            <a:solidFill>
              <a:srgbClr val="E6F4F8"/>
            </a:solidFill>
            <a:prstDash val="solid"/>
          </a:ln>
        </p:spPr>
      </p:sp>
      <p:sp>
        <p:nvSpPr>
          <p:cNvPr id="34" name="Text 31"/>
          <p:cNvSpPr txBox="1"/>
          <p:nvPr/>
        </p:nvSpPr>
        <p:spPr>
          <a:xfrm>
            <a:off x="731520" y="4297680"/>
            <a:ext cx="3931920" cy="329184"/>
          </a:xfrm>
          <a:prstGeom prst="rect">
            <a:avLst/>
          </a:prstGeom>
          <a:noFill/>
          <a:ln/>
        </p:spPr>
        <p:txBody>
          <a:bodyPr wrap="square" lIns="0" tIns="0" rIns="0" bIns="0" rtlCol="0" anchor="ctr"/>
          <a:lstStyle/>
          <a:p>
            <a:pPr indent="0" marL="0">
              <a:buNone/>
            </a:pPr>
            <a:r>
              <a:rPr lang="en-US" sz="1100" b="1" dirty="0">
                <a:solidFill>
                  <a:srgbClr val="0891B2"/>
                </a:solidFill>
                <a:latin typeface="Segoe UI" pitchFamily="34" charset="0"/>
                <a:ea typeface="Segoe UI" pitchFamily="34" charset="-122"/>
                <a:cs typeface="Segoe UI" pitchFamily="34" charset="-120"/>
              </a:rPr>
              <a:t>LIVE  </a:t>
            </a:r>
            <a:pPr indent="0" marL="0">
              <a:buNone/>
            </a:pPr>
            <a:r>
              <a:rPr lang="en-US" sz="1100" dirty="0">
                <a:solidFill>
                  <a:srgbClr val="0B1B33"/>
                </a:solidFill>
                <a:latin typeface="Segoe UI" pitchFamily="34" charset="0"/>
                <a:ea typeface="Segoe UI" pitchFamily="34" charset="-122"/>
                <a:cs typeface="Segoe UI" pitchFamily="34" charset="-120"/>
              </a:rPr>
              <a:t>Notifications page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3" name="Shape 0"/>
          <p:cNvSpPr/>
          <p:nvPr/>
        </p:nvSpPr>
        <p:spPr>
          <a:xfrm>
            <a:off x="548640" y="429768"/>
            <a:ext cx="82296" cy="82296"/>
          </a:xfrm>
          <a:prstGeom prst="rect">
            <a:avLst/>
          </a:prstGeom>
          <a:solidFill>
            <a:srgbClr val="0891B2"/>
          </a:solidFill>
          <a:ln w="12700">
            <a:solidFill>
              <a:srgbClr val="0891B2"/>
            </a:solidFill>
            <a:prstDash val="solid"/>
          </a:ln>
        </p:spPr>
      </p:sp>
      <p:sp>
        <p:nvSpPr>
          <p:cNvPr id="4" name="Text 1"/>
          <p:cNvSpPr txBox="1"/>
          <p:nvPr/>
        </p:nvSpPr>
        <p:spPr>
          <a:xfrm>
            <a:off x="749808" y="365760"/>
            <a:ext cx="7315200" cy="219456"/>
          </a:xfrm>
          <a:prstGeom prst="rect">
            <a:avLst/>
          </a:prstGeom>
          <a:noFill/>
          <a:ln/>
        </p:spPr>
        <p:txBody>
          <a:bodyPr wrap="square" lIns="0" tIns="0" rIns="0" bIns="0" rtlCol="0" anchor="ctr"/>
          <a:lstStyle/>
          <a:p>
            <a:pPr indent="0" marL="0">
              <a:buNone/>
            </a:pPr>
            <a:r>
              <a:rPr lang="en-US" sz="1050" spc="400" kern="0" dirty="0">
                <a:solidFill>
                  <a:srgbClr val="0891B2"/>
                </a:solidFill>
                <a:latin typeface="Segoe UI Semibold" pitchFamily="34" charset="0"/>
                <a:ea typeface="Segoe UI Semibold" pitchFamily="34" charset="-122"/>
                <a:cs typeface="Segoe UI Semibold" pitchFamily="34" charset="-120"/>
              </a:rPr>
              <a:t>07 · SACHINTHANA · ANALYTICS SERVICE</a:t>
            </a:r>
            <a:endParaRPr lang="en-US" sz="1050" dirty="0"/>
          </a:p>
        </p:txBody>
      </p:sp>
      <p:sp>
        <p:nvSpPr>
          <p:cNvPr id="5" name="Text 2"/>
          <p:cNvSpPr txBox="1"/>
          <p:nvPr/>
        </p:nvSpPr>
        <p:spPr>
          <a:xfrm>
            <a:off x="548640" y="713232"/>
            <a:ext cx="8046720" cy="640080"/>
          </a:xfrm>
          <a:prstGeom prst="rect">
            <a:avLst/>
          </a:prstGeom>
          <a:noFill/>
          <a:ln/>
        </p:spPr>
        <p:txBody>
          <a:bodyPr wrap="square" lIns="0" tIns="0" rIns="0" bIns="0" rtlCol="0" anchor="ctr"/>
          <a:lstStyle/>
          <a:p>
            <a:pPr indent="0" marL="0">
              <a:buNone/>
            </a:pPr>
            <a:r>
              <a:rPr lang="en-US" sz="3200" dirty="0">
                <a:solidFill>
                  <a:srgbClr val="0B1B33"/>
                </a:solidFill>
                <a:latin typeface="Segoe UI Semibold" pitchFamily="34" charset="0"/>
                <a:ea typeface="Segoe UI Semibold" pitchFamily="34" charset="-122"/>
                <a:cs typeface="Segoe UI Semibold" pitchFamily="34" charset="-120"/>
              </a:rPr>
              <a:t>Trustworthy energy figures and reports</a:t>
            </a:r>
            <a:endParaRPr lang="en-US" sz="3200" dirty="0"/>
          </a:p>
        </p:txBody>
      </p:sp>
      <p:sp>
        <p:nvSpPr>
          <p:cNvPr id="6" name="Shape 3"/>
          <p:cNvSpPr/>
          <p:nvPr/>
        </p:nvSpPr>
        <p:spPr>
          <a:xfrm>
            <a:off x="548640" y="4681728"/>
            <a:ext cx="8046720" cy="0"/>
          </a:xfrm>
          <a:prstGeom prst="line">
            <a:avLst/>
          </a:prstGeom>
          <a:noFill/>
          <a:ln w="9525">
            <a:solidFill>
              <a:srgbClr val="DCE3EE"/>
            </a:solidFill>
            <a:prstDash val="solid"/>
          </a:ln>
        </p:spPr>
      </p:sp>
      <p:sp>
        <p:nvSpPr>
          <p:cNvPr id="7" name="Text 4"/>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8" name="Text 5"/>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64748B"/>
                </a:solidFill>
                <a:latin typeface="Segoe UI" pitchFamily="34" charset="0"/>
                <a:ea typeface="Segoe UI" pitchFamily="34" charset="-122"/>
                <a:cs typeface="Segoe UI" pitchFamily="34" charset="-120"/>
              </a:rPr>
              <a:t>07  ·  7:02–8:40</a:t>
            </a:r>
            <a:endParaRPr lang="en-US" sz="900" dirty="0"/>
          </a:p>
        </p:txBody>
      </p:sp>
      <p:sp>
        <p:nvSpPr>
          <p:cNvPr id="9" name="Shape 6"/>
          <p:cNvSpPr/>
          <p:nvPr/>
        </p:nvSpPr>
        <p:spPr>
          <a:xfrm>
            <a:off x="548640" y="1600200"/>
            <a:ext cx="1805940" cy="914400"/>
          </a:xfrm>
          <a:prstGeom prst="roundRect">
            <a:avLst>
              <a:gd name="adj" fmla="val 8000"/>
            </a:avLst>
          </a:prstGeom>
          <a:solidFill>
            <a:srgbClr val="0891B2"/>
          </a:solidFill>
          <a:ln w="9525">
            <a:solidFill>
              <a:srgbClr val="0891B2"/>
            </a:solidFill>
            <a:prstDash val="solid"/>
          </a:ln>
        </p:spPr>
      </p:sp>
      <p:sp>
        <p:nvSpPr>
          <p:cNvPr id="10" name="Text 7"/>
          <p:cNvSpPr txBox="1"/>
          <p:nvPr/>
        </p:nvSpPr>
        <p:spPr>
          <a:xfrm>
            <a:off x="548640" y="1664208"/>
            <a:ext cx="180594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Segoe UI Semibold" pitchFamily="34" charset="0"/>
                <a:ea typeface="Segoe UI Semibold" pitchFamily="34" charset="-122"/>
                <a:cs typeface="Segoe UI Semibold" pitchFamily="34" charset="-120"/>
              </a:rPr>
              <a:t>Source APIs</a:t>
            </a:r>
            <a:endParaRPr lang="en-US" sz="1500" dirty="0"/>
          </a:p>
        </p:txBody>
      </p:sp>
      <p:sp>
        <p:nvSpPr>
          <p:cNvPr id="11" name="Text 8"/>
          <p:cNvSpPr txBox="1"/>
          <p:nvPr/>
        </p:nvSpPr>
        <p:spPr>
          <a:xfrm>
            <a:off x="548640" y="2084832"/>
            <a:ext cx="1805940" cy="320040"/>
          </a:xfrm>
          <a:prstGeom prst="rect">
            <a:avLst/>
          </a:prstGeom>
          <a:noFill/>
          <a:ln/>
        </p:spPr>
        <p:txBody>
          <a:bodyPr wrap="square" lIns="0" tIns="0" rIns="0" bIns="0" rtlCol="0" anchor="ctr"/>
          <a:lstStyle/>
          <a:p>
            <a:pPr algn="ctr" indent="0" marL="0">
              <a:buNone/>
            </a:pPr>
            <a:r>
              <a:rPr lang="en-US" sz="1100" dirty="0">
                <a:solidFill>
                  <a:srgbClr val="E6F4F8"/>
                </a:solidFill>
                <a:latin typeface="Segoe UI" pitchFamily="34" charset="0"/>
                <a:ea typeface="Segoe UI" pitchFamily="34" charset="-122"/>
                <a:cs typeface="Segoe UI" pitchFamily="34" charset="-120"/>
              </a:rPr>
              <a:t>REST only</a:t>
            </a:r>
            <a:endParaRPr lang="en-US" sz="1100" dirty="0"/>
          </a:p>
        </p:txBody>
      </p:sp>
      <p:sp>
        <p:nvSpPr>
          <p:cNvPr id="12" name="Text 9"/>
          <p:cNvSpPr txBox="1"/>
          <p:nvPr/>
        </p:nvSpPr>
        <p:spPr>
          <a:xfrm>
            <a:off x="2354580" y="1783080"/>
            <a:ext cx="274320" cy="548640"/>
          </a:xfrm>
          <a:prstGeom prst="rect">
            <a:avLst/>
          </a:prstGeom>
          <a:noFill/>
          <a:ln/>
        </p:spPr>
        <p:txBody>
          <a:bodyPr wrap="square" lIns="0" tIns="0" rIns="0" bIns="0" rtlCol="0" anchor="ctr"/>
          <a:lstStyle/>
          <a:p>
            <a:pPr algn="ctr" indent="0" marL="0">
              <a:buNone/>
            </a:pPr>
            <a:r>
              <a:rPr lang="en-US" sz="2400" dirty="0">
                <a:solidFill>
                  <a:srgbClr val="0891B2"/>
                </a:solidFill>
                <a:latin typeface="Segoe UI Semibold" pitchFamily="34" charset="0"/>
                <a:ea typeface="Segoe UI Semibold" pitchFamily="34" charset="-122"/>
                <a:cs typeface="Segoe UI Semibold" pitchFamily="34" charset="-120"/>
              </a:rPr>
              <a:t>›</a:t>
            </a:r>
            <a:endParaRPr lang="en-US" sz="2400" dirty="0"/>
          </a:p>
        </p:txBody>
      </p:sp>
      <p:sp>
        <p:nvSpPr>
          <p:cNvPr id="13" name="Shape 10"/>
          <p:cNvSpPr/>
          <p:nvPr/>
        </p:nvSpPr>
        <p:spPr>
          <a:xfrm>
            <a:off x="2628900" y="1600200"/>
            <a:ext cx="1805940" cy="914400"/>
          </a:xfrm>
          <a:prstGeom prst="roundRect">
            <a:avLst>
              <a:gd name="adj" fmla="val 8000"/>
            </a:avLst>
          </a:prstGeom>
          <a:solidFill>
            <a:srgbClr val="FFFFFF"/>
          </a:solidFill>
          <a:ln w="9525">
            <a:solidFill>
              <a:srgbClr val="DCE3EE"/>
            </a:solidFill>
            <a:prstDash val="solid"/>
          </a:ln>
        </p:spPr>
      </p:sp>
      <p:sp>
        <p:nvSpPr>
          <p:cNvPr id="14" name="Text 11"/>
          <p:cNvSpPr txBox="1"/>
          <p:nvPr/>
        </p:nvSpPr>
        <p:spPr>
          <a:xfrm>
            <a:off x="2628900" y="1664208"/>
            <a:ext cx="1805940" cy="457200"/>
          </a:xfrm>
          <a:prstGeom prst="rect">
            <a:avLst/>
          </a:prstGeom>
          <a:noFill/>
          <a:ln/>
        </p:spPr>
        <p:txBody>
          <a:bodyPr wrap="square" lIns="0" tIns="0" rIns="0" bIns="0" rtlCol="0" anchor="ctr"/>
          <a:lstStyle/>
          <a:p>
            <a:pPr algn="ctr" indent="0" marL="0">
              <a:buNone/>
            </a:pPr>
            <a:r>
              <a:rPr lang="en-US" sz="1500" dirty="0">
                <a:solidFill>
                  <a:srgbClr val="0B1B33"/>
                </a:solidFill>
                <a:latin typeface="Segoe UI Semibold" pitchFamily="34" charset="0"/>
                <a:ea typeface="Segoe UI Semibold" pitchFamily="34" charset="-122"/>
                <a:cs typeface="Segoe UI Semibold" pitchFamily="34" charset="-120"/>
              </a:rPr>
              <a:t>Calculation</a:t>
            </a:r>
            <a:endParaRPr lang="en-US" sz="1500" dirty="0"/>
          </a:p>
        </p:txBody>
      </p:sp>
      <p:sp>
        <p:nvSpPr>
          <p:cNvPr id="15" name="Text 12"/>
          <p:cNvSpPr txBox="1"/>
          <p:nvPr/>
        </p:nvSpPr>
        <p:spPr>
          <a:xfrm>
            <a:off x="2628900" y="2084832"/>
            <a:ext cx="180594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Segoe UI" pitchFamily="34" charset="0"/>
                <a:ea typeface="Segoe UI" pitchFamily="34" charset="-122"/>
                <a:cs typeface="Segoe UI" pitchFamily="34" charset="-120"/>
              </a:rPr>
              <a:t>power to kWh</a:t>
            </a:r>
            <a:endParaRPr lang="en-US" sz="1100" dirty="0"/>
          </a:p>
        </p:txBody>
      </p:sp>
      <p:sp>
        <p:nvSpPr>
          <p:cNvPr id="16" name="Text 13"/>
          <p:cNvSpPr txBox="1"/>
          <p:nvPr/>
        </p:nvSpPr>
        <p:spPr>
          <a:xfrm>
            <a:off x="4434840" y="1783080"/>
            <a:ext cx="274320" cy="548640"/>
          </a:xfrm>
          <a:prstGeom prst="rect">
            <a:avLst/>
          </a:prstGeom>
          <a:noFill/>
          <a:ln/>
        </p:spPr>
        <p:txBody>
          <a:bodyPr wrap="square" lIns="0" tIns="0" rIns="0" bIns="0" rtlCol="0" anchor="ctr"/>
          <a:lstStyle/>
          <a:p>
            <a:pPr algn="ctr" indent="0" marL="0">
              <a:buNone/>
            </a:pPr>
            <a:r>
              <a:rPr lang="en-US" sz="2400" dirty="0">
                <a:solidFill>
                  <a:srgbClr val="0891B2"/>
                </a:solidFill>
                <a:latin typeface="Segoe UI Semibold" pitchFamily="34" charset="0"/>
                <a:ea typeface="Segoe UI Semibold" pitchFamily="34" charset="-122"/>
                <a:cs typeface="Segoe UI Semibold" pitchFamily="34" charset="-120"/>
              </a:rPr>
              <a:t>›</a:t>
            </a:r>
            <a:endParaRPr lang="en-US" sz="2400" dirty="0"/>
          </a:p>
        </p:txBody>
      </p:sp>
      <p:sp>
        <p:nvSpPr>
          <p:cNvPr id="17" name="Shape 14"/>
          <p:cNvSpPr/>
          <p:nvPr/>
        </p:nvSpPr>
        <p:spPr>
          <a:xfrm>
            <a:off x="4709160" y="1600200"/>
            <a:ext cx="1805940" cy="914400"/>
          </a:xfrm>
          <a:prstGeom prst="roundRect">
            <a:avLst>
              <a:gd name="adj" fmla="val 8000"/>
            </a:avLst>
          </a:prstGeom>
          <a:solidFill>
            <a:srgbClr val="FFFFFF"/>
          </a:solidFill>
          <a:ln w="9525">
            <a:solidFill>
              <a:srgbClr val="DCE3EE"/>
            </a:solidFill>
            <a:prstDash val="solid"/>
          </a:ln>
        </p:spPr>
      </p:sp>
      <p:sp>
        <p:nvSpPr>
          <p:cNvPr id="18" name="Text 15"/>
          <p:cNvSpPr txBox="1"/>
          <p:nvPr/>
        </p:nvSpPr>
        <p:spPr>
          <a:xfrm>
            <a:off x="4709160" y="1664208"/>
            <a:ext cx="1805940" cy="457200"/>
          </a:xfrm>
          <a:prstGeom prst="rect">
            <a:avLst/>
          </a:prstGeom>
          <a:noFill/>
          <a:ln/>
        </p:spPr>
        <p:txBody>
          <a:bodyPr wrap="square" lIns="0" tIns="0" rIns="0" bIns="0" rtlCol="0" anchor="ctr"/>
          <a:lstStyle/>
          <a:p>
            <a:pPr algn="ctr" indent="0" marL="0">
              <a:buNone/>
            </a:pPr>
            <a:r>
              <a:rPr lang="en-US" sz="1500" dirty="0">
                <a:solidFill>
                  <a:srgbClr val="0B1B33"/>
                </a:solidFill>
                <a:latin typeface="Segoe UI Semibold" pitchFamily="34" charset="0"/>
                <a:ea typeface="Segoe UI Semibold" pitchFamily="34" charset="-122"/>
                <a:cs typeface="Segoe UI Semibold" pitchFamily="34" charset="-120"/>
              </a:rPr>
              <a:t>Reports</a:t>
            </a:r>
            <a:endParaRPr lang="en-US" sz="1500" dirty="0"/>
          </a:p>
        </p:txBody>
      </p:sp>
      <p:sp>
        <p:nvSpPr>
          <p:cNvPr id="19" name="Text 16"/>
          <p:cNvSpPr txBox="1"/>
          <p:nvPr/>
        </p:nvSpPr>
        <p:spPr>
          <a:xfrm>
            <a:off x="4709160" y="2084832"/>
            <a:ext cx="180594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Segoe UI" pitchFamily="34" charset="0"/>
                <a:ea typeface="Segoe UI" pitchFamily="34" charset="-122"/>
                <a:cs typeface="Segoe UI" pitchFamily="34" charset="-120"/>
              </a:rPr>
              <a:t>stored</a:t>
            </a:r>
            <a:endParaRPr lang="en-US" sz="1100" dirty="0"/>
          </a:p>
        </p:txBody>
      </p:sp>
      <p:sp>
        <p:nvSpPr>
          <p:cNvPr id="20" name="Text 17"/>
          <p:cNvSpPr txBox="1"/>
          <p:nvPr/>
        </p:nvSpPr>
        <p:spPr>
          <a:xfrm>
            <a:off x="6515100" y="1783080"/>
            <a:ext cx="274320" cy="548640"/>
          </a:xfrm>
          <a:prstGeom prst="rect">
            <a:avLst/>
          </a:prstGeom>
          <a:noFill/>
          <a:ln/>
        </p:spPr>
        <p:txBody>
          <a:bodyPr wrap="square" lIns="0" tIns="0" rIns="0" bIns="0" rtlCol="0" anchor="ctr"/>
          <a:lstStyle/>
          <a:p>
            <a:pPr algn="ctr" indent="0" marL="0">
              <a:buNone/>
            </a:pPr>
            <a:r>
              <a:rPr lang="en-US" sz="2400" dirty="0">
                <a:solidFill>
                  <a:srgbClr val="0891B2"/>
                </a:solidFill>
                <a:latin typeface="Segoe UI Semibold" pitchFamily="34" charset="0"/>
                <a:ea typeface="Segoe UI Semibold" pitchFamily="34" charset="-122"/>
                <a:cs typeface="Segoe UI Semibold" pitchFamily="34" charset="-120"/>
              </a:rPr>
              <a:t>›</a:t>
            </a:r>
            <a:endParaRPr lang="en-US" sz="2400" dirty="0"/>
          </a:p>
        </p:txBody>
      </p:sp>
      <p:sp>
        <p:nvSpPr>
          <p:cNvPr id="21" name="Shape 18"/>
          <p:cNvSpPr/>
          <p:nvPr/>
        </p:nvSpPr>
        <p:spPr>
          <a:xfrm>
            <a:off x="6789420" y="1600200"/>
            <a:ext cx="1805940" cy="914400"/>
          </a:xfrm>
          <a:prstGeom prst="roundRect">
            <a:avLst>
              <a:gd name="adj" fmla="val 8000"/>
            </a:avLst>
          </a:prstGeom>
          <a:solidFill>
            <a:srgbClr val="FFFFFF"/>
          </a:solidFill>
          <a:ln w="9525">
            <a:solidFill>
              <a:srgbClr val="DCE3EE"/>
            </a:solidFill>
            <a:prstDash val="solid"/>
          </a:ln>
        </p:spPr>
      </p:sp>
      <p:sp>
        <p:nvSpPr>
          <p:cNvPr id="22" name="Text 19"/>
          <p:cNvSpPr txBox="1"/>
          <p:nvPr/>
        </p:nvSpPr>
        <p:spPr>
          <a:xfrm>
            <a:off x="6789420" y="1664208"/>
            <a:ext cx="1805940" cy="457200"/>
          </a:xfrm>
          <a:prstGeom prst="rect">
            <a:avLst/>
          </a:prstGeom>
          <a:noFill/>
          <a:ln/>
        </p:spPr>
        <p:txBody>
          <a:bodyPr wrap="square" lIns="0" tIns="0" rIns="0" bIns="0" rtlCol="0" anchor="ctr"/>
          <a:lstStyle/>
          <a:p>
            <a:pPr algn="ctr" indent="0" marL="0">
              <a:buNone/>
            </a:pPr>
            <a:r>
              <a:rPr lang="en-US" sz="1500" dirty="0">
                <a:solidFill>
                  <a:srgbClr val="0B1B33"/>
                </a:solidFill>
                <a:latin typeface="Segoe UI Semibold" pitchFamily="34" charset="0"/>
                <a:ea typeface="Segoe UI Semibold" pitchFamily="34" charset="-122"/>
                <a:cs typeface="Segoe UI Semibold" pitchFamily="34" charset="-120"/>
              </a:rPr>
              <a:t>CSV</a:t>
            </a:r>
            <a:endParaRPr lang="en-US" sz="1500" dirty="0"/>
          </a:p>
        </p:txBody>
      </p:sp>
      <p:sp>
        <p:nvSpPr>
          <p:cNvPr id="23" name="Text 20"/>
          <p:cNvSpPr txBox="1"/>
          <p:nvPr/>
        </p:nvSpPr>
        <p:spPr>
          <a:xfrm>
            <a:off x="6789420" y="2084832"/>
            <a:ext cx="180594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Segoe UI" pitchFamily="34" charset="0"/>
                <a:ea typeface="Segoe UI" pitchFamily="34" charset="-122"/>
                <a:cs typeface="Segoe UI" pitchFamily="34" charset="-120"/>
              </a:rPr>
              <a:t>export</a:t>
            </a:r>
            <a:endParaRPr lang="en-US" sz="1100" dirty="0"/>
          </a:p>
        </p:txBody>
      </p:sp>
      <p:sp>
        <p:nvSpPr>
          <p:cNvPr id="24" name="Shape 21"/>
          <p:cNvSpPr/>
          <p:nvPr/>
        </p:nvSpPr>
        <p:spPr>
          <a:xfrm>
            <a:off x="548640" y="2926080"/>
            <a:ext cx="457200" cy="0"/>
          </a:xfrm>
          <a:prstGeom prst="line">
            <a:avLst/>
          </a:prstGeom>
          <a:noFill/>
          <a:ln w="28575">
            <a:solidFill>
              <a:srgbClr val="0891B2"/>
            </a:solidFill>
            <a:prstDash val="solid"/>
          </a:ln>
        </p:spPr>
      </p:sp>
      <p:sp>
        <p:nvSpPr>
          <p:cNvPr id="25" name="Text 22"/>
          <p:cNvSpPr txBox="1"/>
          <p:nvPr/>
        </p:nvSpPr>
        <p:spPr>
          <a:xfrm>
            <a:off x="548640" y="3017520"/>
            <a:ext cx="2499360" cy="640080"/>
          </a:xfrm>
          <a:prstGeom prst="rect">
            <a:avLst/>
          </a:prstGeom>
          <a:noFill/>
          <a:ln/>
        </p:spPr>
        <p:txBody>
          <a:bodyPr wrap="square" lIns="0" tIns="0" rIns="0" bIns="0" rtlCol="0" anchor="ctr"/>
          <a:lstStyle/>
          <a:p>
            <a:pPr indent="0" marL="0">
              <a:buNone/>
            </a:pPr>
            <a:r>
              <a:rPr lang="en-US" sz="3200" dirty="0">
                <a:solidFill>
                  <a:srgbClr val="0891B2"/>
                </a:solidFill>
                <a:latin typeface="Segoe UI Semibold" pitchFamily="34" charset="0"/>
                <a:ea typeface="Segoe UI Semibold" pitchFamily="34" charset="-122"/>
                <a:cs typeface="Segoe UI Semibold" pitchFamily="34" charset="-120"/>
              </a:rPr>
              <a:t>kWh</a:t>
            </a:r>
            <a:endParaRPr lang="en-US" sz="3200" dirty="0"/>
          </a:p>
        </p:txBody>
      </p:sp>
      <p:sp>
        <p:nvSpPr>
          <p:cNvPr id="26" name="Text 23"/>
          <p:cNvSpPr txBox="1"/>
          <p:nvPr/>
        </p:nvSpPr>
        <p:spPr>
          <a:xfrm>
            <a:off x="548640" y="3657600"/>
            <a:ext cx="2499360" cy="32004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integrated from power</a:t>
            </a:r>
            <a:endParaRPr lang="en-US" sz="1200" dirty="0"/>
          </a:p>
        </p:txBody>
      </p:sp>
      <p:sp>
        <p:nvSpPr>
          <p:cNvPr id="27" name="Shape 24"/>
          <p:cNvSpPr/>
          <p:nvPr/>
        </p:nvSpPr>
        <p:spPr>
          <a:xfrm>
            <a:off x="3322320" y="2926080"/>
            <a:ext cx="457200" cy="0"/>
          </a:xfrm>
          <a:prstGeom prst="line">
            <a:avLst/>
          </a:prstGeom>
          <a:noFill/>
          <a:ln w="28575">
            <a:solidFill>
              <a:srgbClr val="0891B2"/>
            </a:solidFill>
            <a:prstDash val="solid"/>
          </a:ln>
        </p:spPr>
      </p:sp>
      <p:sp>
        <p:nvSpPr>
          <p:cNvPr id="28" name="Text 25"/>
          <p:cNvSpPr txBox="1"/>
          <p:nvPr/>
        </p:nvSpPr>
        <p:spPr>
          <a:xfrm>
            <a:off x="3322320" y="3017520"/>
            <a:ext cx="2499360" cy="640080"/>
          </a:xfrm>
          <a:prstGeom prst="rect">
            <a:avLst/>
          </a:prstGeom>
          <a:noFill/>
          <a:ln/>
        </p:spPr>
        <p:txBody>
          <a:bodyPr wrap="square" lIns="0" tIns="0" rIns="0" bIns="0" rtlCol="0" anchor="ctr"/>
          <a:lstStyle/>
          <a:p>
            <a:pPr indent="0" marL="0">
              <a:buNone/>
            </a:pPr>
            <a:r>
              <a:rPr lang="en-US" sz="3200" dirty="0">
                <a:solidFill>
                  <a:srgbClr val="0891B2"/>
                </a:solidFill>
                <a:latin typeface="Segoe UI Semibold" pitchFamily="34" charset="0"/>
                <a:ea typeface="Segoe UI Semibold" pitchFamily="34" charset="-122"/>
                <a:cs typeface="Segoe UI Semibold" pitchFamily="34" charset="-120"/>
              </a:rPr>
              <a:t>6</a:t>
            </a:r>
            <a:endParaRPr lang="en-US" sz="3200" dirty="0"/>
          </a:p>
        </p:txBody>
      </p:sp>
      <p:sp>
        <p:nvSpPr>
          <p:cNvPr id="29" name="Text 26"/>
          <p:cNvSpPr txBox="1"/>
          <p:nvPr/>
        </p:nvSpPr>
        <p:spPr>
          <a:xfrm>
            <a:off x="3322320" y="3657600"/>
            <a:ext cx="2499360" cy="32004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KPIs with targets</a:t>
            </a:r>
            <a:endParaRPr lang="en-US" sz="1200" dirty="0"/>
          </a:p>
        </p:txBody>
      </p:sp>
      <p:sp>
        <p:nvSpPr>
          <p:cNvPr id="30" name="Shape 27"/>
          <p:cNvSpPr/>
          <p:nvPr/>
        </p:nvSpPr>
        <p:spPr>
          <a:xfrm>
            <a:off x="6096000" y="2926080"/>
            <a:ext cx="457200" cy="0"/>
          </a:xfrm>
          <a:prstGeom prst="line">
            <a:avLst/>
          </a:prstGeom>
          <a:noFill/>
          <a:ln w="28575">
            <a:solidFill>
              <a:srgbClr val="0891B2"/>
            </a:solidFill>
            <a:prstDash val="solid"/>
          </a:ln>
        </p:spPr>
      </p:sp>
      <p:sp>
        <p:nvSpPr>
          <p:cNvPr id="31" name="Text 28"/>
          <p:cNvSpPr txBox="1"/>
          <p:nvPr/>
        </p:nvSpPr>
        <p:spPr>
          <a:xfrm>
            <a:off x="6096000" y="3017520"/>
            <a:ext cx="2499360" cy="640080"/>
          </a:xfrm>
          <a:prstGeom prst="rect">
            <a:avLst/>
          </a:prstGeom>
          <a:noFill/>
          <a:ln/>
        </p:spPr>
        <p:txBody>
          <a:bodyPr wrap="square" lIns="0" tIns="0" rIns="0" bIns="0" rtlCol="0" anchor="ctr"/>
          <a:lstStyle/>
          <a:p>
            <a:pPr indent="0" marL="0">
              <a:buNone/>
            </a:pPr>
            <a:r>
              <a:rPr lang="en-US" sz="3200" dirty="0">
                <a:solidFill>
                  <a:srgbClr val="0891B2"/>
                </a:solidFill>
                <a:latin typeface="Segoe UI Semibold" pitchFamily="34" charset="0"/>
                <a:ea typeface="Segoe UI Semibold" pitchFamily="34" charset="-122"/>
                <a:cs typeface="Segoe UI Semibold" pitchFamily="34" charset="-120"/>
              </a:rPr>
              <a:t>5 + 5</a:t>
            </a:r>
            <a:endParaRPr lang="en-US" sz="3200" dirty="0"/>
          </a:p>
        </p:txBody>
      </p:sp>
      <p:sp>
        <p:nvSpPr>
          <p:cNvPr id="32" name="Text 29"/>
          <p:cNvSpPr txBox="1"/>
          <p:nvPr/>
        </p:nvSpPr>
        <p:spPr>
          <a:xfrm>
            <a:off x="6096000" y="3657600"/>
            <a:ext cx="2499360" cy="320040"/>
          </a:xfrm>
          <a:prstGeom prst="rect">
            <a:avLst/>
          </a:prstGeom>
          <a:noFill/>
          <a:ln/>
        </p:spPr>
        <p:txBody>
          <a:bodyPr wrap="square" lIns="0" tIns="0" rIns="0" bIns="0" rtlCol="0" anchor="t"/>
          <a:lstStyle/>
          <a:p>
            <a:pPr indent="0" marL="0">
              <a:buNone/>
            </a:pPr>
            <a:r>
              <a:rPr lang="en-US" sz="1200" dirty="0">
                <a:solidFill>
                  <a:srgbClr val="64748B"/>
                </a:solidFill>
                <a:latin typeface="Segoe UI" pitchFamily="34" charset="0"/>
                <a:ea typeface="Segoe UI" pitchFamily="34" charset="-122"/>
                <a:cs typeface="Segoe UI" pitchFamily="34" charset="-120"/>
              </a:rPr>
              <a:t>energy and performance reports</a:t>
            </a:r>
            <a:endParaRPr lang="en-US" sz="1200" dirty="0"/>
          </a:p>
        </p:txBody>
      </p:sp>
      <p:sp>
        <p:nvSpPr>
          <p:cNvPr id="33" name="Shape 30"/>
          <p:cNvSpPr/>
          <p:nvPr/>
        </p:nvSpPr>
        <p:spPr>
          <a:xfrm>
            <a:off x="548640" y="4297680"/>
            <a:ext cx="4206240" cy="329184"/>
          </a:xfrm>
          <a:prstGeom prst="roundRect">
            <a:avLst>
              <a:gd name="adj" fmla="val 50000"/>
            </a:avLst>
          </a:prstGeom>
          <a:solidFill>
            <a:srgbClr val="E6F4F8"/>
          </a:solidFill>
          <a:ln w="12700">
            <a:solidFill>
              <a:srgbClr val="E6F4F8"/>
            </a:solidFill>
            <a:prstDash val="solid"/>
          </a:ln>
        </p:spPr>
      </p:sp>
      <p:sp>
        <p:nvSpPr>
          <p:cNvPr id="34" name="Text 31"/>
          <p:cNvSpPr txBox="1"/>
          <p:nvPr/>
        </p:nvSpPr>
        <p:spPr>
          <a:xfrm>
            <a:off x="731520" y="4297680"/>
            <a:ext cx="3931920" cy="329184"/>
          </a:xfrm>
          <a:prstGeom prst="rect">
            <a:avLst/>
          </a:prstGeom>
          <a:noFill/>
          <a:ln/>
        </p:spPr>
        <p:txBody>
          <a:bodyPr wrap="square" lIns="0" tIns="0" rIns="0" bIns="0" rtlCol="0" anchor="ctr"/>
          <a:lstStyle/>
          <a:p>
            <a:pPr indent="0" marL="0">
              <a:buNone/>
            </a:pPr>
            <a:r>
              <a:rPr lang="en-US" sz="1100" b="1" dirty="0">
                <a:solidFill>
                  <a:srgbClr val="0891B2"/>
                </a:solidFill>
                <a:latin typeface="Segoe UI" pitchFamily="34" charset="0"/>
                <a:ea typeface="Segoe UI" pitchFamily="34" charset="-122"/>
                <a:cs typeface="Segoe UI" pitchFamily="34" charset="-120"/>
              </a:rPr>
              <a:t>LIVE  </a:t>
            </a:r>
            <a:pPr indent="0" marL="0">
              <a:buNone/>
            </a:pPr>
            <a:r>
              <a:rPr lang="en-US" sz="1100" dirty="0">
                <a:solidFill>
                  <a:srgbClr val="0B1B33"/>
                </a:solidFill>
                <a:latin typeface="Segoe UI" pitchFamily="34" charset="0"/>
                <a:ea typeface="Segoe UI" pitchFamily="34" charset="-122"/>
                <a:cs typeface="Segoe UI" pitchFamily="34" charset="-120"/>
              </a:rPr>
              <a:t>Analytics page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B"/>
        </a:solidFill>
      </p:bgPr>
    </p:bg>
    <p:spTree>
      <p:nvGrpSpPr>
        <p:cNvPr id="1" name=""/>
        <p:cNvGrpSpPr/>
        <p:nvPr/>
      </p:nvGrpSpPr>
      <p:grpSpPr>
        <a:xfrm>
          <a:off x="0" y="0"/>
          <a:ext cx="0" cy="0"/>
          <a:chOff x="0" y="0"/>
          <a:chExt cx="0" cy="0"/>
        </a:xfrm>
      </p:grpSpPr>
      <p:sp>
        <p:nvSpPr>
          <p:cNvPr id="3" name="Shape 0"/>
          <p:cNvSpPr/>
          <p:nvPr/>
        </p:nvSpPr>
        <p:spPr>
          <a:xfrm>
            <a:off x="548640" y="429768"/>
            <a:ext cx="82296" cy="82296"/>
          </a:xfrm>
          <a:prstGeom prst="rect">
            <a:avLst/>
          </a:prstGeom>
          <a:solidFill>
            <a:srgbClr val="0891B2"/>
          </a:solidFill>
          <a:ln w="12700">
            <a:solidFill>
              <a:srgbClr val="0891B2"/>
            </a:solidFill>
            <a:prstDash val="solid"/>
          </a:ln>
        </p:spPr>
      </p:sp>
      <p:sp>
        <p:nvSpPr>
          <p:cNvPr id="4" name="Text 1"/>
          <p:cNvSpPr txBox="1"/>
          <p:nvPr/>
        </p:nvSpPr>
        <p:spPr>
          <a:xfrm>
            <a:off x="749808" y="365760"/>
            <a:ext cx="7315200" cy="219456"/>
          </a:xfrm>
          <a:prstGeom prst="rect">
            <a:avLst/>
          </a:prstGeom>
          <a:noFill/>
          <a:ln/>
        </p:spPr>
        <p:txBody>
          <a:bodyPr wrap="square" lIns="0" tIns="0" rIns="0" bIns="0" rtlCol="0" anchor="ctr"/>
          <a:lstStyle/>
          <a:p>
            <a:pPr indent="0" marL="0">
              <a:buNone/>
            </a:pPr>
            <a:r>
              <a:rPr lang="en-US" sz="1050" spc="400" kern="0" dirty="0">
                <a:solidFill>
                  <a:srgbClr val="0891B2"/>
                </a:solidFill>
                <a:latin typeface="Segoe UI Semibold" pitchFamily="34" charset="0"/>
                <a:ea typeface="Segoe UI Semibold" pitchFamily="34" charset="-122"/>
                <a:cs typeface="Segoe UI Semibold" pitchFamily="34" charset="-120"/>
              </a:rPr>
              <a:t>08 · NEMAL · SECURITY</a:t>
            </a:r>
            <a:endParaRPr lang="en-US" sz="1050" dirty="0"/>
          </a:p>
        </p:txBody>
      </p:sp>
      <p:sp>
        <p:nvSpPr>
          <p:cNvPr id="5" name="Text 2"/>
          <p:cNvSpPr txBox="1"/>
          <p:nvPr/>
        </p:nvSpPr>
        <p:spPr>
          <a:xfrm>
            <a:off x="548640" y="713232"/>
            <a:ext cx="8046720" cy="640080"/>
          </a:xfrm>
          <a:prstGeom prst="rect">
            <a:avLst/>
          </a:prstGeom>
          <a:noFill/>
          <a:ln/>
        </p:spPr>
        <p:txBody>
          <a:bodyPr wrap="square" lIns="0" tIns="0" rIns="0" bIns="0" rtlCol="0" anchor="ctr"/>
          <a:lstStyle/>
          <a:p>
            <a:pPr indent="0" marL="0">
              <a:buNone/>
            </a:pPr>
            <a:r>
              <a:rPr lang="en-US" sz="3200" dirty="0">
                <a:solidFill>
                  <a:srgbClr val="0B1B33"/>
                </a:solidFill>
                <a:latin typeface="Segoe UI Semibold" pitchFamily="34" charset="0"/>
                <a:ea typeface="Segoe UI Semibold" pitchFamily="34" charset="-122"/>
                <a:cs typeface="Segoe UI Semibold" pitchFamily="34" charset="-120"/>
              </a:rPr>
              <a:t>Five roles, enforced at the gateway</a:t>
            </a:r>
            <a:endParaRPr lang="en-US" sz="3200" dirty="0"/>
          </a:p>
        </p:txBody>
      </p:sp>
      <p:sp>
        <p:nvSpPr>
          <p:cNvPr id="6" name="Shape 3"/>
          <p:cNvSpPr/>
          <p:nvPr/>
        </p:nvSpPr>
        <p:spPr>
          <a:xfrm>
            <a:off x="548640" y="4681728"/>
            <a:ext cx="8046720" cy="0"/>
          </a:xfrm>
          <a:prstGeom prst="line">
            <a:avLst/>
          </a:prstGeom>
          <a:noFill/>
          <a:ln w="9525">
            <a:solidFill>
              <a:srgbClr val="DCE3EE"/>
            </a:solidFill>
            <a:prstDash val="solid"/>
          </a:ln>
        </p:spPr>
      </p:sp>
      <p:sp>
        <p:nvSpPr>
          <p:cNvPr id="7" name="Text 4"/>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8" name="Text 5"/>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64748B"/>
                </a:solidFill>
                <a:latin typeface="Segoe UI" pitchFamily="34" charset="0"/>
                <a:ea typeface="Segoe UI" pitchFamily="34" charset="-122"/>
                <a:cs typeface="Segoe UI" pitchFamily="34" charset="-120"/>
              </a:rPr>
              <a:t>08  ·  8:40–9:23</a:t>
            </a:r>
            <a:endParaRPr lang="en-US" sz="900" dirty="0"/>
          </a:p>
        </p:txBody>
      </p:sp>
      <p:sp>
        <p:nvSpPr>
          <p:cNvPr id="9" name="Shape 6"/>
          <p:cNvSpPr/>
          <p:nvPr/>
        </p:nvSpPr>
        <p:spPr>
          <a:xfrm>
            <a:off x="548640" y="1554480"/>
            <a:ext cx="8046720" cy="384048"/>
          </a:xfrm>
          <a:prstGeom prst="roundRect">
            <a:avLst>
              <a:gd name="adj" fmla="val 14286"/>
            </a:avLst>
          </a:prstGeom>
          <a:solidFill>
            <a:srgbClr val="FFFFFF"/>
          </a:solidFill>
          <a:ln w="9525">
            <a:solidFill>
              <a:srgbClr val="DCE3EE"/>
            </a:solidFill>
            <a:prstDash val="solid"/>
          </a:ln>
        </p:spPr>
      </p:sp>
      <p:sp>
        <p:nvSpPr>
          <p:cNvPr id="10" name="Text 7"/>
          <p:cNvSpPr txBox="1"/>
          <p:nvPr/>
        </p:nvSpPr>
        <p:spPr>
          <a:xfrm>
            <a:off x="731520" y="1554480"/>
            <a:ext cx="2743200" cy="384048"/>
          </a:xfrm>
          <a:prstGeom prst="rect">
            <a:avLst/>
          </a:prstGeom>
          <a:noFill/>
          <a:ln/>
        </p:spPr>
        <p:txBody>
          <a:bodyPr wrap="square" lIns="0" tIns="0" rIns="0" bIns="0" rtlCol="0" anchor="ctr"/>
          <a:lstStyle/>
          <a:p>
            <a:pPr indent="0" marL="0">
              <a:buNone/>
            </a:pPr>
            <a:r>
              <a:rPr lang="en-US" sz="1300" dirty="0">
                <a:solidFill>
                  <a:srgbClr val="0891B2"/>
                </a:solidFill>
                <a:latin typeface="Segoe UI Semibold" pitchFamily="34" charset="0"/>
                <a:ea typeface="Segoe UI Semibold" pitchFamily="34" charset="-122"/>
                <a:cs typeface="Segoe UI Semibold" pitchFamily="34" charset="-120"/>
              </a:rPr>
              <a:t>Administrator</a:t>
            </a:r>
            <a:endParaRPr lang="en-US" sz="1300" dirty="0"/>
          </a:p>
        </p:txBody>
      </p:sp>
      <p:sp>
        <p:nvSpPr>
          <p:cNvPr id="11" name="Text 8"/>
          <p:cNvSpPr txBox="1"/>
          <p:nvPr/>
        </p:nvSpPr>
        <p:spPr>
          <a:xfrm>
            <a:off x="3566160" y="1554480"/>
            <a:ext cx="4937760" cy="384048"/>
          </a:xfrm>
          <a:prstGeom prst="rect">
            <a:avLst/>
          </a:prstGeom>
          <a:noFill/>
          <a:ln/>
        </p:spPr>
        <p:txBody>
          <a:bodyPr wrap="square" lIns="0" tIns="0" rIns="0" bIns="0" rtlCol="0" anchor="ctr"/>
          <a:lstStyle/>
          <a:p>
            <a:pPr indent="0" marL="0">
              <a:buNone/>
            </a:pPr>
            <a:r>
              <a:rPr lang="en-US" sz="1300" dirty="0">
                <a:solidFill>
                  <a:srgbClr val="0B1B33"/>
                </a:solidFill>
                <a:latin typeface="Segoe UI" pitchFamily="34" charset="0"/>
                <a:ea typeface="Segoe UI" pitchFamily="34" charset="-122"/>
                <a:cs typeface="Segoe UI" pitchFamily="34" charset="-120"/>
              </a:rPr>
              <a:t>Everything, users and audit log</a:t>
            </a:r>
            <a:endParaRPr lang="en-US" sz="1300" dirty="0"/>
          </a:p>
        </p:txBody>
      </p:sp>
      <p:sp>
        <p:nvSpPr>
          <p:cNvPr id="12" name="Shape 9"/>
          <p:cNvSpPr/>
          <p:nvPr/>
        </p:nvSpPr>
        <p:spPr>
          <a:xfrm>
            <a:off x="548640" y="2011680"/>
            <a:ext cx="8046720" cy="384048"/>
          </a:xfrm>
          <a:prstGeom prst="roundRect">
            <a:avLst>
              <a:gd name="adj" fmla="val 14286"/>
            </a:avLst>
          </a:prstGeom>
          <a:solidFill>
            <a:srgbClr val="FFFFFF"/>
          </a:solidFill>
          <a:ln w="9525">
            <a:solidFill>
              <a:srgbClr val="DCE3EE"/>
            </a:solidFill>
            <a:prstDash val="solid"/>
          </a:ln>
        </p:spPr>
      </p:sp>
      <p:sp>
        <p:nvSpPr>
          <p:cNvPr id="13" name="Text 10"/>
          <p:cNvSpPr txBox="1"/>
          <p:nvPr/>
        </p:nvSpPr>
        <p:spPr>
          <a:xfrm>
            <a:off x="731520" y="2011680"/>
            <a:ext cx="2743200" cy="384048"/>
          </a:xfrm>
          <a:prstGeom prst="rect">
            <a:avLst/>
          </a:prstGeom>
          <a:noFill/>
          <a:ln/>
        </p:spPr>
        <p:txBody>
          <a:bodyPr wrap="square" lIns="0" tIns="0" rIns="0" bIns="0" rtlCol="0" anchor="ctr"/>
          <a:lstStyle/>
          <a:p>
            <a:pPr indent="0" marL="0">
              <a:buNone/>
            </a:pPr>
            <a:r>
              <a:rPr lang="en-US" sz="1300" dirty="0">
                <a:solidFill>
                  <a:srgbClr val="0891B2"/>
                </a:solidFill>
                <a:latin typeface="Segoe UI Semibold" pitchFamily="34" charset="0"/>
                <a:ea typeface="Segoe UI Semibold" pitchFamily="34" charset="-122"/>
                <a:cs typeface="Segoe UI Semibold" pitchFamily="34" charset="-120"/>
              </a:rPr>
              <a:t>Operations Manager</a:t>
            </a:r>
            <a:endParaRPr lang="en-US" sz="1300" dirty="0"/>
          </a:p>
        </p:txBody>
      </p:sp>
      <p:sp>
        <p:nvSpPr>
          <p:cNvPr id="14" name="Text 11"/>
          <p:cNvSpPr txBox="1"/>
          <p:nvPr/>
        </p:nvSpPr>
        <p:spPr>
          <a:xfrm>
            <a:off x="3566160" y="2011680"/>
            <a:ext cx="4937760" cy="384048"/>
          </a:xfrm>
          <a:prstGeom prst="rect">
            <a:avLst/>
          </a:prstGeom>
          <a:noFill/>
          <a:ln/>
        </p:spPr>
        <p:txBody>
          <a:bodyPr wrap="square" lIns="0" tIns="0" rIns="0" bIns="0" rtlCol="0" anchor="ctr"/>
          <a:lstStyle/>
          <a:p>
            <a:pPr indent="0" marL="0">
              <a:buNone/>
            </a:pPr>
            <a:r>
              <a:rPr lang="en-US" sz="1300" dirty="0">
                <a:solidFill>
                  <a:srgbClr val="0B1B33"/>
                </a:solidFill>
                <a:latin typeface="Segoe UI" pitchFamily="34" charset="0"/>
                <a:ea typeface="Segoe UI" pitchFamily="34" charset="-122"/>
                <a:cs typeface="Segoe UI" pitchFamily="34" charset="-120"/>
              </a:rPr>
              <a:t>Assets, rules, work orders, reports</a:t>
            </a:r>
            <a:endParaRPr lang="en-US" sz="1300" dirty="0"/>
          </a:p>
        </p:txBody>
      </p:sp>
      <p:sp>
        <p:nvSpPr>
          <p:cNvPr id="15" name="Shape 12"/>
          <p:cNvSpPr/>
          <p:nvPr/>
        </p:nvSpPr>
        <p:spPr>
          <a:xfrm>
            <a:off x="548640" y="2468880"/>
            <a:ext cx="8046720" cy="384048"/>
          </a:xfrm>
          <a:prstGeom prst="roundRect">
            <a:avLst>
              <a:gd name="adj" fmla="val 14286"/>
            </a:avLst>
          </a:prstGeom>
          <a:solidFill>
            <a:srgbClr val="FFFFFF"/>
          </a:solidFill>
          <a:ln w="9525">
            <a:solidFill>
              <a:srgbClr val="DCE3EE"/>
            </a:solidFill>
            <a:prstDash val="solid"/>
          </a:ln>
        </p:spPr>
      </p:sp>
      <p:sp>
        <p:nvSpPr>
          <p:cNvPr id="16" name="Text 13"/>
          <p:cNvSpPr txBox="1"/>
          <p:nvPr/>
        </p:nvSpPr>
        <p:spPr>
          <a:xfrm>
            <a:off x="731520" y="2468880"/>
            <a:ext cx="2743200" cy="384048"/>
          </a:xfrm>
          <a:prstGeom prst="rect">
            <a:avLst/>
          </a:prstGeom>
          <a:noFill/>
          <a:ln/>
        </p:spPr>
        <p:txBody>
          <a:bodyPr wrap="square" lIns="0" tIns="0" rIns="0" bIns="0" rtlCol="0" anchor="ctr"/>
          <a:lstStyle/>
          <a:p>
            <a:pPr indent="0" marL="0">
              <a:buNone/>
            </a:pPr>
            <a:r>
              <a:rPr lang="en-US" sz="1300" dirty="0">
                <a:solidFill>
                  <a:srgbClr val="0891B2"/>
                </a:solidFill>
                <a:latin typeface="Segoe UI Semibold" pitchFamily="34" charset="0"/>
                <a:ea typeface="Segoe UI Semibold" pitchFamily="34" charset="-122"/>
                <a:cs typeface="Segoe UI Semibold" pitchFamily="34" charset="-120"/>
              </a:rPr>
              <a:t>Plant Operator</a:t>
            </a:r>
            <a:endParaRPr lang="en-US" sz="1300" dirty="0"/>
          </a:p>
        </p:txBody>
      </p:sp>
      <p:sp>
        <p:nvSpPr>
          <p:cNvPr id="17" name="Text 14"/>
          <p:cNvSpPr txBox="1"/>
          <p:nvPr/>
        </p:nvSpPr>
        <p:spPr>
          <a:xfrm>
            <a:off x="3566160" y="2468880"/>
            <a:ext cx="4937760" cy="384048"/>
          </a:xfrm>
          <a:prstGeom prst="rect">
            <a:avLst/>
          </a:prstGeom>
          <a:noFill/>
          <a:ln/>
        </p:spPr>
        <p:txBody>
          <a:bodyPr wrap="square" lIns="0" tIns="0" rIns="0" bIns="0" rtlCol="0" anchor="ctr"/>
          <a:lstStyle/>
          <a:p>
            <a:pPr indent="0" marL="0">
              <a:buNone/>
            </a:pPr>
            <a:r>
              <a:rPr lang="en-US" sz="1300" dirty="0">
                <a:solidFill>
                  <a:srgbClr val="0B1B33"/>
                </a:solidFill>
                <a:latin typeface="Segoe UI" pitchFamily="34" charset="0"/>
                <a:ea typeface="Segoe UI" pitchFamily="34" charset="-122"/>
                <a:cs typeface="Segoe UI" pitchFamily="34" charset="-120"/>
              </a:rPr>
              <a:t>Monitor and handle alerts</a:t>
            </a:r>
            <a:endParaRPr lang="en-US" sz="1300" dirty="0"/>
          </a:p>
        </p:txBody>
      </p:sp>
      <p:sp>
        <p:nvSpPr>
          <p:cNvPr id="18" name="Shape 15"/>
          <p:cNvSpPr/>
          <p:nvPr/>
        </p:nvSpPr>
        <p:spPr>
          <a:xfrm>
            <a:off x="548640" y="2926080"/>
            <a:ext cx="8046720" cy="384048"/>
          </a:xfrm>
          <a:prstGeom prst="roundRect">
            <a:avLst>
              <a:gd name="adj" fmla="val 14286"/>
            </a:avLst>
          </a:prstGeom>
          <a:solidFill>
            <a:srgbClr val="FFFFFF"/>
          </a:solidFill>
          <a:ln w="9525">
            <a:solidFill>
              <a:srgbClr val="DCE3EE"/>
            </a:solidFill>
            <a:prstDash val="solid"/>
          </a:ln>
        </p:spPr>
      </p:sp>
      <p:sp>
        <p:nvSpPr>
          <p:cNvPr id="19" name="Text 16"/>
          <p:cNvSpPr txBox="1"/>
          <p:nvPr/>
        </p:nvSpPr>
        <p:spPr>
          <a:xfrm>
            <a:off x="731520" y="2926080"/>
            <a:ext cx="2743200" cy="384048"/>
          </a:xfrm>
          <a:prstGeom prst="rect">
            <a:avLst/>
          </a:prstGeom>
          <a:noFill/>
          <a:ln/>
        </p:spPr>
        <p:txBody>
          <a:bodyPr wrap="square" lIns="0" tIns="0" rIns="0" bIns="0" rtlCol="0" anchor="ctr"/>
          <a:lstStyle/>
          <a:p>
            <a:pPr indent="0" marL="0">
              <a:buNone/>
            </a:pPr>
            <a:r>
              <a:rPr lang="en-US" sz="1300" dirty="0">
                <a:solidFill>
                  <a:srgbClr val="0891B2"/>
                </a:solidFill>
                <a:latin typeface="Segoe UI Semibold" pitchFamily="34" charset="0"/>
                <a:ea typeface="Segoe UI Semibold" pitchFamily="34" charset="-122"/>
                <a:cs typeface="Segoe UI Semibold" pitchFamily="34" charset="-120"/>
              </a:rPr>
              <a:t>Maintenance Engineer</a:t>
            </a:r>
            <a:endParaRPr lang="en-US" sz="1300" dirty="0"/>
          </a:p>
        </p:txBody>
      </p:sp>
      <p:sp>
        <p:nvSpPr>
          <p:cNvPr id="20" name="Text 17"/>
          <p:cNvSpPr txBox="1"/>
          <p:nvPr/>
        </p:nvSpPr>
        <p:spPr>
          <a:xfrm>
            <a:off x="3566160" y="2926080"/>
            <a:ext cx="4937760" cy="384048"/>
          </a:xfrm>
          <a:prstGeom prst="rect">
            <a:avLst/>
          </a:prstGeom>
          <a:noFill/>
          <a:ln/>
        </p:spPr>
        <p:txBody>
          <a:bodyPr wrap="square" lIns="0" tIns="0" rIns="0" bIns="0" rtlCol="0" anchor="ctr"/>
          <a:lstStyle/>
          <a:p>
            <a:pPr indent="0" marL="0">
              <a:buNone/>
            </a:pPr>
            <a:r>
              <a:rPr lang="en-US" sz="1300" dirty="0">
                <a:solidFill>
                  <a:srgbClr val="0B1B33"/>
                </a:solidFill>
                <a:latin typeface="Segoe UI" pitchFamily="34" charset="0"/>
                <a:ea typeface="Segoe UI" pitchFamily="34" charset="-122"/>
                <a:cs typeface="Segoe UI" pitchFamily="34" charset="-120"/>
              </a:rPr>
              <a:t>Assign and complete work orders</a:t>
            </a:r>
            <a:endParaRPr lang="en-US" sz="1300" dirty="0"/>
          </a:p>
        </p:txBody>
      </p:sp>
      <p:sp>
        <p:nvSpPr>
          <p:cNvPr id="21" name="Shape 18"/>
          <p:cNvSpPr/>
          <p:nvPr/>
        </p:nvSpPr>
        <p:spPr>
          <a:xfrm>
            <a:off x="548640" y="3383280"/>
            <a:ext cx="8046720" cy="384048"/>
          </a:xfrm>
          <a:prstGeom prst="roundRect">
            <a:avLst>
              <a:gd name="adj" fmla="val 14286"/>
            </a:avLst>
          </a:prstGeom>
          <a:solidFill>
            <a:srgbClr val="FFFFFF"/>
          </a:solidFill>
          <a:ln w="9525">
            <a:solidFill>
              <a:srgbClr val="DCE3EE"/>
            </a:solidFill>
            <a:prstDash val="solid"/>
          </a:ln>
        </p:spPr>
      </p:sp>
      <p:sp>
        <p:nvSpPr>
          <p:cNvPr id="22" name="Text 19"/>
          <p:cNvSpPr txBox="1"/>
          <p:nvPr/>
        </p:nvSpPr>
        <p:spPr>
          <a:xfrm>
            <a:off x="731520" y="3383280"/>
            <a:ext cx="2743200" cy="384048"/>
          </a:xfrm>
          <a:prstGeom prst="rect">
            <a:avLst/>
          </a:prstGeom>
          <a:noFill/>
          <a:ln/>
        </p:spPr>
        <p:txBody>
          <a:bodyPr wrap="square" lIns="0" tIns="0" rIns="0" bIns="0" rtlCol="0" anchor="ctr"/>
          <a:lstStyle/>
          <a:p>
            <a:pPr indent="0" marL="0">
              <a:buNone/>
            </a:pPr>
            <a:r>
              <a:rPr lang="en-US" sz="1300" dirty="0">
                <a:solidFill>
                  <a:srgbClr val="0891B2"/>
                </a:solidFill>
                <a:latin typeface="Segoe UI Semibold" pitchFamily="34" charset="0"/>
                <a:ea typeface="Segoe UI Semibold" pitchFamily="34" charset="-122"/>
                <a:cs typeface="Segoe UI Semibold" pitchFamily="34" charset="-120"/>
              </a:rPr>
              <a:t>Executive</a:t>
            </a:r>
            <a:endParaRPr lang="en-US" sz="1300" dirty="0"/>
          </a:p>
        </p:txBody>
      </p:sp>
      <p:sp>
        <p:nvSpPr>
          <p:cNvPr id="23" name="Text 20"/>
          <p:cNvSpPr txBox="1"/>
          <p:nvPr/>
        </p:nvSpPr>
        <p:spPr>
          <a:xfrm>
            <a:off x="3566160" y="3383280"/>
            <a:ext cx="4937760" cy="384048"/>
          </a:xfrm>
          <a:prstGeom prst="rect">
            <a:avLst/>
          </a:prstGeom>
          <a:noFill/>
          <a:ln/>
        </p:spPr>
        <p:txBody>
          <a:bodyPr wrap="square" lIns="0" tIns="0" rIns="0" bIns="0" rtlCol="0" anchor="ctr"/>
          <a:lstStyle/>
          <a:p>
            <a:pPr indent="0" marL="0">
              <a:buNone/>
            </a:pPr>
            <a:r>
              <a:rPr lang="en-US" sz="1300" dirty="0">
                <a:solidFill>
                  <a:srgbClr val="0B1B33"/>
                </a:solidFill>
                <a:latin typeface="Segoe UI" pitchFamily="34" charset="0"/>
                <a:ea typeface="Segoe UI" pitchFamily="34" charset="-122"/>
                <a:cs typeface="Segoe UI" pitchFamily="34" charset="-120"/>
              </a:rPr>
              <a:t>Read-only dashboards and reports</a:t>
            </a:r>
            <a:endParaRPr lang="en-US" sz="1300" dirty="0"/>
          </a:p>
        </p:txBody>
      </p:sp>
      <p:sp>
        <p:nvSpPr>
          <p:cNvPr id="24" name="Shape 21"/>
          <p:cNvSpPr/>
          <p:nvPr/>
        </p:nvSpPr>
        <p:spPr>
          <a:xfrm>
            <a:off x="548640" y="4297680"/>
            <a:ext cx="4206240" cy="329184"/>
          </a:xfrm>
          <a:prstGeom prst="roundRect">
            <a:avLst>
              <a:gd name="adj" fmla="val 50000"/>
            </a:avLst>
          </a:prstGeom>
          <a:solidFill>
            <a:srgbClr val="E6F4F8"/>
          </a:solidFill>
          <a:ln w="12700">
            <a:solidFill>
              <a:srgbClr val="E6F4F8"/>
            </a:solidFill>
            <a:prstDash val="solid"/>
          </a:ln>
        </p:spPr>
      </p:sp>
      <p:sp>
        <p:nvSpPr>
          <p:cNvPr id="25" name="Text 22"/>
          <p:cNvSpPr txBox="1"/>
          <p:nvPr/>
        </p:nvSpPr>
        <p:spPr>
          <a:xfrm>
            <a:off x="731520" y="4297680"/>
            <a:ext cx="3931920" cy="329184"/>
          </a:xfrm>
          <a:prstGeom prst="rect">
            <a:avLst/>
          </a:prstGeom>
          <a:noFill/>
          <a:ln/>
        </p:spPr>
        <p:txBody>
          <a:bodyPr wrap="square" lIns="0" tIns="0" rIns="0" bIns="0" rtlCol="0" anchor="ctr"/>
          <a:lstStyle/>
          <a:p>
            <a:pPr indent="0" marL="0">
              <a:buNone/>
            </a:pPr>
            <a:r>
              <a:rPr lang="en-US" sz="1100" b="1" dirty="0">
                <a:solidFill>
                  <a:srgbClr val="0891B2"/>
                </a:solidFill>
                <a:latin typeface="Segoe UI" pitchFamily="34" charset="0"/>
                <a:ea typeface="Segoe UI" pitchFamily="34" charset="-122"/>
                <a:cs typeface="Segoe UI" pitchFamily="34" charset="-120"/>
              </a:rPr>
              <a:t>LIVE  </a:t>
            </a:r>
            <a:pPr indent="0" marL="0">
              <a:buNone/>
            </a:pPr>
            <a:r>
              <a:rPr lang="en-US" sz="1100" dirty="0">
                <a:solidFill>
                  <a:srgbClr val="0B1B33"/>
                </a:solidFill>
                <a:latin typeface="Segoe UI" pitchFamily="34" charset="0"/>
                <a:ea typeface="Segoe UI" pitchFamily="34" charset="-122"/>
                <a:cs typeface="Segoe UI" pitchFamily="34" charset="-120"/>
              </a:rPr>
              <a:t>executive sign-in, read-only</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3" name="Shape 0"/>
          <p:cNvSpPr/>
          <p:nvPr/>
        </p:nvSpPr>
        <p:spPr>
          <a:xfrm>
            <a:off x="548640" y="429768"/>
            <a:ext cx="82296" cy="82296"/>
          </a:xfrm>
          <a:prstGeom prst="rect">
            <a:avLst/>
          </a:prstGeom>
          <a:solidFill>
            <a:srgbClr val="0891B2"/>
          </a:solidFill>
          <a:ln w="12700">
            <a:solidFill>
              <a:srgbClr val="0891B2"/>
            </a:solidFill>
            <a:prstDash val="solid"/>
          </a:ln>
        </p:spPr>
      </p:sp>
      <p:sp>
        <p:nvSpPr>
          <p:cNvPr id="4" name="Text 1"/>
          <p:cNvSpPr txBox="1"/>
          <p:nvPr/>
        </p:nvSpPr>
        <p:spPr>
          <a:xfrm>
            <a:off x="749808" y="365760"/>
            <a:ext cx="7315200" cy="219456"/>
          </a:xfrm>
          <a:prstGeom prst="rect">
            <a:avLst/>
          </a:prstGeom>
          <a:noFill/>
          <a:ln/>
        </p:spPr>
        <p:txBody>
          <a:bodyPr wrap="square" lIns="0" tIns="0" rIns="0" bIns="0" rtlCol="0" anchor="ctr"/>
          <a:lstStyle/>
          <a:p>
            <a:pPr indent="0" marL="0">
              <a:buNone/>
            </a:pPr>
            <a:r>
              <a:rPr lang="en-US" sz="1050" spc="400" kern="0" dirty="0">
                <a:solidFill>
                  <a:srgbClr val="0891B2"/>
                </a:solidFill>
                <a:latin typeface="Segoe UI Semibold" pitchFamily="34" charset="0"/>
                <a:ea typeface="Segoe UI Semibold" pitchFamily="34" charset="-122"/>
                <a:cs typeface="Segoe UI Semibold" pitchFamily="34" charset="-120"/>
              </a:rPr>
              <a:t>09 · CHARITH · OPERATIONS AND QUALITY</a:t>
            </a:r>
            <a:endParaRPr lang="en-US" sz="1050" dirty="0"/>
          </a:p>
        </p:txBody>
      </p:sp>
      <p:sp>
        <p:nvSpPr>
          <p:cNvPr id="5" name="Text 2"/>
          <p:cNvSpPr txBox="1"/>
          <p:nvPr/>
        </p:nvSpPr>
        <p:spPr>
          <a:xfrm>
            <a:off x="548640" y="713232"/>
            <a:ext cx="8046720" cy="640080"/>
          </a:xfrm>
          <a:prstGeom prst="rect">
            <a:avLst/>
          </a:prstGeom>
          <a:noFill/>
          <a:ln/>
        </p:spPr>
        <p:txBody>
          <a:bodyPr wrap="square" lIns="0" tIns="0" rIns="0" bIns="0" rtlCol="0" anchor="ctr"/>
          <a:lstStyle/>
          <a:p>
            <a:pPr indent="0" marL="0">
              <a:buNone/>
            </a:pPr>
            <a:r>
              <a:rPr lang="en-US" sz="3200" dirty="0">
                <a:solidFill>
                  <a:srgbClr val="0B1B33"/>
                </a:solidFill>
                <a:latin typeface="Segoe UI Semibold" pitchFamily="34" charset="0"/>
                <a:ea typeface="Segoe UI Semibold" pitchFamily="34" charset="-122"/>
                <a:cs typeface="Segoe UI Semibold" pitchFamily="34" charset="-120"/>
              </a:rPr>
              <a:t>Observable, tested, one command to run</a:t>
            </a:r>
            <a:endParaRPr lang="en-US" sz="3200" dirty="0"/>
          </a:p>
        </p:txBody>
      </p:sp>
      <p:sp>
        <p:nvSpPr>
          <p:cNvPr id="6" name="Shape 3"/>
          <p:cNvSpPr/>
          <p:nvPr/>
        </p:nvSpPr>
        <p:spPr>
          <a:xfrm>
            <a:off x="548640" y="4681728"/>
            <a:ext cx="8046720" cy="0"/>
          </a:xfrm>
          <a:prstGeom prst="line">
            <a:avLst/>
          </a:prstGeom>
          <a:noFill/>
          <a:ln w="9525">
            <a:solidFill>
              <a:srgbClr val="DCE3EE"/>
            </a:solidFill>
            <a:prstDash val="solid"/>
          </a:ln>
        </p:spPr>
      </p:sp>
      <p:sp>
        <p:nvSpPr>
          <p:cNvPr id="7" name="Text 4"/>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8" name="Text 5"/>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64748B"/>
                </a:solidFill>
                <a:latin typeface="Segoe UI" pitchFamily="34" charset="0"/>
                <a:ea typeface="Segoe UI" pitchFamily="34" charset="-122"/>
                <a:cs typeface="Segoe UI" pitchFamily="34" charset="-120"/>
              </a:rPr>
              <a:t>09  ·  9:23–9:48</a:t>
            </a:r>
            <a:endParaRPr lang="en-US" sz="900" dirty="0"/>
          </a:p>
        </p:txBody>
      </p:sp>
      <p:sp>
        <p:nvSpPr>
          <p:cNvPr id="9" name="Shape 6"/>
          <p:cNvSpPr/>
          <p:nvPr/>
        </p:nvSpPr>
        <p:spPr>
          <a:xfrm>
            <a:off x="548640" y="1828800"/>
            <a:ext cx="457200" cy="0"/>
          </a:xfrm>
          <a:prstGeom prst="line">
            <a:avLst/>
          </a:prstGeom>
          <a:noFill/>
          <a:ln w="28575">
            <a:solidFill>
              <a:srgbClr val="0891B2"/>
            </a:solidFill>
            <a:prstDash val="solid"/>
          </a:ln>
        </p:spPr>
      </p:sp>
      <p:sp>
        <p:nvSpPr>
          <p:cNvPr id="10" name="Text 7"/>
          <p:cNvSpPr txBox="1"/>
          <p:nvPr/>
        </p:nvSpPr>
        <p:spPr>
          <a:xfrm>
            <a:off x="548640" y="1965960"/>
            <a:ext cx="1805940" cy="822960"/>
          </a:xfrm>
          <a:prstGeom prst="rect">
            <a:avLst/>
          </a:prstGeom>
          <a:noFill/>
          <a:ln/>
        </p:spPr>
        <p:txBody>
          <a:bodyPr wrap="square" lIns="0" tIns="0" rIns="0" bIns="0" rtlCol="0" anchor="ctr"/>
          <a:lstStyle/>
          <a:p>
            <a:pPr indent="0" marL="0">
              <a:buNone/>
            </a:pPr>
            <a:r>
              <a:rPr lang="en-US" sz="4600" dirty="0">
                <a:solidFill>
                  <a:srgbClr val="0891B2"/>
                </a:solidFill>
                <a:latin typeface="Segoe UI Semibold" pitchFamily="34" charset="0"/>
                <a:ea typeface="Segoe UI Semibold" pitchFamily="34" charset="-122"/>
                <a:cs typeface="Segoe UI Semibold" pitchFamily="34" charset="-120"/>
              </a:rPr>
              <a:t>60</a:t>
            </a:r>
            <a:endParaRPr lang="en-US" sz="4600" dirty="0"/>
          </a:p>
        </p:txBody>
      </p:sp>
      <p:sp>
        <p:nvSpPr>
          <p:cNvPr id="11" name="Text 8"/>
          <p:cNvSpPr txBox="1"/>
          <p:nvPr/>
        </p:nvSpPr>
        <p:spPr>
          <a:xfrm>
            <a:off x="548640" y="2834640"/>
            <a:ext cx="1805940" cy="320040"/>
          </a:xfrm>
          <a:prstGeom prst="rect">
            <a:avLst/>
          </a:prstGeom>
          <a:noFill/>
          <a:ln/>
        </p:spPr>
        <p:txBody>
          <a:bodyPr wrap="square" lIns="0" tIns="0" rIns="0" bIns="0" rtlCol="0" anchor="ctr"/>
          <a:lstStyle/>
          <a:p>
            <a:pPr indent="0" marL="0">
              <a:buNone/>
            </a:pPr>
            <a:r>
              <a:rPr lang="en-US" sz="1300" dirty="0">
                <a:solidFill>
                  <a:srgbClr val="64748B"/>
                </a:solidFill>
                <a:latin typeface="Segoe UI" pitchFamily="34" charset="0"/>
                <a:ea typeface="Segoe UI" pitchFamily="34" charset="-122"/>
                <a:cs typeface="Segoe UI" pitchFamily="34" charset="-120"/>
              </a:rPr>
              <a:t>test methods</a:t>
            </a:r>
            <a:endParaRPr lang="en-US" sz="1300" dirty="0"/>
          </a:p>
        </p:txBody>
      </p:sp>
      <p:sp>
        <p:nvSpPr>
          <p:cNvPr id="12" name="Shape 9"/>
          <p:cNvSpPr/>
          <p:nvPr/>
        </p:nvSpPr>
        <p:spPr>
          <a:xfrm>
            <a:off x="2628900" y="1828800"/>
            <a:ext cx="457200" cy="0"/>
          </a:xfrm>
          <a:prstGeom prst="line">
            <a:avLst/>
          </a:prstGeom>
          <a:noFill/>
          <a:ln w="28575">
            <a:solidFill>
              <a:srgbClr val="0891B2"/>
            </a:solidFill>
            <a:prstDash val="solid"/>
          </a:ln>
        </p:spPr>
      </p:sp>
      <p:sp>
        <p:nvSpPr>
          <p:cNvPr id="13" name="Text 10"/>
          <p:cNvSpPr txBox="1"/>
          <p:nvPr/>
        </p:nvSpPr>
        <p:spPr>
          <a:xfrm>
            <a:off x="2628900" y="1965960"/>
            <a:ext cx="1805940" cy="822960"/>
          </a:xfrm>
          <a:prstGeom prst="rect">
            <a:avLst/>
          </a:prstGeom>
          <a:noFill/>
          <a:ln/>
        </p:spPr>
        <p:txBody>
          <a:bodyPr wrap="square" lIns="0" tIns="0" rIns="0" bIns="0" rtlCol="0" anchor="ctr"/>
          <a:lstStyle/>
          <a:p>
            <a:pPr indent="0" marL="0">
              <a:buNone/>
            </a:pPr>
            <a:r>
              <a:rPr lang="en-US" sz="4600" dirty="0">
                <a:solidFill>
                  <a:srgbClr val="0891B2"/>
                </a:solidFill>
                <a:latin typeface="Segoe UI Semibold" pitchFamily="34" charset="0"/>
                <a:ea typeface="Segoe UI Semibold" pitchFamily="34" charset="-122"/>
                <a:cs typeface="Segoe UI Semibold" pitchFamily="34" charset="-120"/>
              </a:rPr>
              <a:t>7</a:t>
            </a:r>
            <a:endParaRPr lang="en-US" sz="4600" dirty="0"/>
          </a:p>
        </p:txBody>
      </p:sp>
      <p:sp>
        <p:nvSpPr>
          <p:cNvPr id="14" name="Text 11"/>
          <p:cNvSpPr txBox="1"/>
          <p:nvPr/>
        </p:nvSpPr>
        <p:spPr>
          <a:xfrm>
            <a:off x="2628900" y="2834640"/>
            <a:ext cx="1805940" cy="320040"/>
          </a:xfrm>
          <a:prstGeom prst="rect">
            <a:avLst/>
          </a:prstGeom>
          <a:noFill/>
          <a:ln/>
        </p:spPr>
        <p:txBody>
          <a:bodyPr wrap="square" lIns="0" tIns="0" rIns="0" bIns="0" rtlCol="0" anchor="ctr"/>
          <a:lstStyle/>
          <a:p>
            <a:pPr indent="0" marL="0">
              <a:buNone/>
            </a:pPr>
            <a:r>
              <a:rPr lang="en-US" sz="1300" dirty="0">
                <a:solidFill>
                  <a:srgbClr val="64748B"/>
                </a:solidFill>
                <a:latin typeface="Segoe UI" pitchFamily="34" charset="0"/>
                <a:ea typeface="Segoe UI" pitchFamily="34" charset="-122"/>
                <a:cs typeface="Segoe UI" pitchFamily="34" charset="-120"/>
              </a:rPr>
              <a:t>services monitored</a:t>
            </a:r>
            <a:endParaRPr lang="en-US" sz="1300" dirty="0"/>
          </a:p>
        </p:txBody>
      </p:sp>
      <p:sp>
        <p:nvSpPr>
          <p:cNvPr id="15" name="Shape 12"/>
          <p:cNvSpPr/>
          <p:nvPr/>
        </p:nvSpPr>
        <p:spPr>
          <a:xfrm>
            <a:off x="4709160" y="1828800"/>
            <a:ext cx="457200" cy="0"/>
          </a:xfrm>
          <a:prstGeom prst="line">
            <a:avLst/>
          </a:prstGeom>
          <a:noFill/>
          <a:ln w="28575">
            <a:solidFill>
              <a:srgbClr val="0891B2"/>
            </a:solidFill>
            <a:prstDash val="solid"/>
          </a:ln>
        </p:spPr>
      </p:sp>
      <p:sp>
        <p:nvSpPr>
          <p:cNvPr id="16" name="Text 13"/>
          <p:cNvSpPr txBox="1"/>
          <p:nvPr/>
        </p:nvSpPr>
        <p:spPr>
          <a:xfrm>
            <a:off x="4709160" y="1965960"/>
            <a:ext cx="1805940" cy="822960"/>
          </a:xfrm>
          <a:prstGeom prst="rect">
            <a:avLst/>
          </a:prstGeom>
          <a:noFill/>
          <a:ln/>
        </p:spPr>
        <p:txBody>
          <a:bodyPr wrap="square" lIns="0" tIns="0" rIns="0" bIns="0" rtlCol="0" anchor="ctr"/>
          <a:lstStyle/>
          <a:p>
            <a:pPr indent="0" marL="0">
              <a:buNone/>
            </a:pPr>
            <a:r>
              <a:rPr lang="en-US" sz="4600" dirty="0">
                <a:solidFill>
                  <a:srgbClr val="0891B2"/>
                </a:solidFill>
                <a:latin typeface="Segoe UI Semibold" pitchFamily="34" charset="0"/>
                <a:ea typeface="Segoe UI Semibold" pitchFamily="34" charset="-122"/>
                <a:cs typeface="Segoe UI Semibold" pitchFamily="34" charset="-120"/>
              </a:rPr>
              <a:t>19</a:t>
            </a:r>
            <a:endParaRPr lang="en-US" sz="4600" dirty="0"/>
          </a:p>
        </p:txBody>
      </p:sp>
      <p:sp>
        <p:nvSpPr>
          <p:cNvPr id="17" name="Text 14"/>
          <p:cNvSpPr txBox="1"/>
          <p:nvPr/>
        </p:nvSpPr>
        <p:spPr>
          <a:xfrm>
            <a:off x="4709160" y="2834640"/>
            <a:ext cx="1805940" cy="320040"/>
          </a:xfrm>
          <a:prstGeom prst="rect">
            <a:avLst/>
          </a:prstGeom>
          <a:noFill/>
          <a:ln/>
        </p:spPr>
        <p:txBody>
          <a:bodyPr wrap="square" lIns="0" tIns="0" rIns="0" bIns="0" rtlCol="0" anchor="ctr"/>
          <a:lstStyle/>
          <a:p>
            <a:pPr indent="0" marL="0">
              <a:buNone/>
            </a:pPr>
            <a:r>
              <a:rPr lang="en-US" sz="1300" dirty="0">
                <a:solidFill>
                  <a:srgbClr val="64748B"/>
                </a:solidFill>
                <a:latin typeface="Segoe UI" pitchFamily="34" charset="0"/>
                <a:ea typeface="Segoe UI" pitchFamily="34" charset="-122"/>
                <a:cs typeface="Segoe UI" pitchFamily="34" charset="-120"/>
              </a:rPr>
              <a:t>containers</a:t>
            </a:r>
            <a:endParaRPr lang="en-US" sz="1300" dirty="0"/>
          </a:p>
        </p:txBody>
      </p:sp>
      <p:sp>
        <p:nvSpPr>
          <p:cNvPr id="18" name="Shape 15"/>
          <p:cNvSpPr/>
          <p:nvPr/>
        </p:nvSpPr>
        <p:spPr>
          <a:xfrm>
            <a:off x="6789420" y="1828800"/>
            <a:ext cx="457200" cy="0"/>
          </a:xfrm>
          <a:prstGeom prst="line">
            <a:avLst/>
          </a:prstGeom>
          <a:noFill/>
          <a:ln w="28575">
            <a:solidFill>
              <a:srgbClr val="16A34A"/>
            </a:solidFill>
            <a:prstDash val="solid"/>
          </a:ln>
        </p:spPr>
      </p:sp>
      <p:sp>
        <p:nvSpPr>
          <p:cNvPr id="19" name="Text 16"/>
          <p:cNvSpPr txBox="1"/>
          <p:nvPr/>
        </p:nvSpPr>
        <p:spPr>
          <a:xfrm>
            <a:off x="6789420" y="1965960"/>
            <a:ext cx="1805940" cy="822960"/>
          </a:xfrm>
          <a:prstGeom prst="rect">
            <a:avLst/>
          </a:prstGeom>
          <a:noFill/>
          <a:ln/>
        </p:spPr>
        <p:txBody>
          <a:bodyPr wrap="square" lIns="0" tIns="0" rIns="0" bIns="0" rtlCol="0" anchor="ctr"/>
          <a:lstStyle/>
          <a:p>
            <a:pPr indent="0" marL="0">
              <a:buNone/>
            </a:pPr>
            <a:r>
              <a:rPr lang="en-US" sz="4600" dirty="0">
                <a:solidFill>
                  <a:srgbClr val="16A34A"/>
                </a:solidFill>
                <a:latin typeface="Segoe UI Semibold" pitchFamily="34" charset="0"/>
                <a:ea typeface="Segoe UI Semibold" pitchFamily="34" charset="-122"/>
                <a:cs typeface="Segoe UI Semibold" pitchFamily="34" charset="-120"/>
              </a:rPr>
              <a:t>1</a:t>
            </a:r>
            <a:endParaRPr lang="en-US" sz="4600" dirty="0"/>
          </a:p>
        </p:txBody>
      </p:sp>
      <p:sp>
        <p:nvSpPr>
          <p:cNvPr id="20" name="Text 17"/>
          <p:cNvSpPr txBox="1"/>
          <p:nvPr/>
        </p:nvSpPr>
        <p:spPr>
          <a:xfrm>
            <a:off x="6789420" y="2834640"/>
            <a:ext cx="1805940" cy="320040"/>
          </a:xfrm>
          <a:prstGeom prst="rect">
            <a:avLst/>
          </a:prstGeom>
          <a:noFill/>
          <a:ln/>
        </p:spPr>
        <p:txBody>
          <a:bodyPr wrap="square" lIns="0" tIns="0" rIns="0" bIns="0" rtlCol="0" anchor="ctr"/>
          <a:lstStyle/>
          <a:p>
            <a:pPr indent="0" marL="0">
              <a:buNone/>
            </a:pPr>
            <a:r>
              <a:rPr lang="en-US" sz="1300" dirty="0">
                <a:solidFill>
                  <a:srgbClr val="64748B"/>
                </a:solidFill>
                <a:latin typeface="Segoe UI" pitchFamily="34" charset="0"/>
                <a:ea typeface="Segoe UI" pitchFamily="34" charset="-122"/>
                <a:cs typeface="Segoe UI" pitchFamily="34" charset="-120"/>
              </a:rPr>
              <a:t>command to start</a:t>
            </a:r>
            <a:endParaRPr lang="en-US" sz="1300" dirty="0"/>
          </a:p>
        </p:txBody>
      </p:sp>
      <p:sp>
        <p:nvSpPr>
          <p:cNvPr id="21" name="Shape 18"/>
          <p:cNvSpPr/>
          <p:nvPr/>
        </p:nvSpPr>
        <p:spPr>
          <a:xfrm>
            <a:off x="548640" y="4297680"/>
            <a:ext cx="4206240" cy="329184"/>
          </a:xfrm>
          <a:prstGeom prst="roundRect">
            <a:avLst>
              <a:gd name="adj" fmla="val 50000"/>
            </a:avLst>
          </a:prstGeom>
          <a:solidFill>
            <a:srgbClr val="E6F4F8"/>
          </a:solidFill>
          <a:ln w="12700">
            <a:solidFill>
              <a:srgbClr val="E6F4F8"/>
            </a:solidFill>
            <a:prstDash val="solid"/>
          </a:ln>
        </p:spPr>
      </p:sp>
      <p:sp>
        <p:nvSpPr>
          <p:cNvPr id="22" name="Text 19"/>
          <p:cNvSpPr txBox="1"/>
          <p:nvPr/>
        </p:nvSpPr>
        <p:spPr>
          <a:xfrm>
            <a:off x="731520" y="4297680"/>
            <a:ext cx="3931920" cy="329184"/>
          </a:xfrm>
          <a:prstGeom prst="rect">
            <a:avLst/>
          </a:prstGeom>
          <a:noFill/>
          <a:ln/>
        </p:spPr>
        <p:txBody>
          <a:bodyPr wrap="square" lIns="0" tIns="0" rIns="0" bIns="0" rtlCol="0" anchor="ctr"/>
          <a:lstStyle/>
          <a:p>
            <a:pPr indent="0" marL="0">
              <a:buNone/>
            </a:pPr>
            <a:r>
              <a:rPr lang="en-US" sz="1100" b="1" dirty="0">
                <a:solidFill>
                  <a:srgbClr val="0891B2"/>
                </a:solidFill>
                <a:latin typeface="Segoe UI" pitchFamily="34" charset="0"/>
                <a:ea typeface="Segoe UI" pitchFamily="34" charset="-122"/>
                <a:cs typeface="Segoe UI" pitchFamily="34" charset="-120"/>
              </a:rPr>
              <a:t>LIVE  </a:t>
            </a:r>
            <a:pPr indent="0" marL="0">
              <a:buNone/>
            </a:pPr>
            <a:r>
              <a:rPr lang="en-US" sz="1100" dirty="0">
                <a:solidFill>
                  <a:srgbClr val="0B1B33"/>
                </a:solidFill>
                <a:latin typeface="Segoe UI" pitchFamily="34" charset="0"/>
                <a:ea typeface="Segoe UI" pitchFamily="34" charset="-122"/>
                <a:cs typeface="Segoe UI" pitchFamily="34" charset="-120"/>
              </a:rPr>
              <a:t>Grafana platform health</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220"/>
        </a:solidFill>
      </p:bgPr>
    </p:bg>
    <p:spTree>
      <p:nvGrpSpPr>
        <p:cNvPr id="1" name=""/>
        <p:cNvGrpSpPr/>
        <p:nvPr/>
      </p:nvGrpSpPr>
      <p:grpSpPr>
        <a:xfrm>
          <a:off x="0" y="0"/>
          <a:ext cx="0" cy="0"/>
          <a:chOff x="0" y="0"/>
          <a:chExt cx="0" cy="0"/>
        </a:xfrm>
      </p:grpSpPr>
      <p:sp>
        <p:nvSpPr>
          <p:cNvPr id="3" name="Shape 0"/>
          <p:cNvSpPr/>
          <p:nvPr/>
        </p:nvSpPr>
        <p:spPr>
          <a:xfrm>
            <a:off x="6035040" y="-731520"/>
            <a:ext cx="4754880" cy="4754880"/>
          </a:xfrm>
          <a:prstGeom prst="ellipse">
            <a:avLst/>
          </a:prstGeom>
          <a:ln w="12700">
            <a:solidFill>
              <a:srgbClr val="1E2A44"/>
            </a:solidFill>
            <a:prstDash val="solid"/>
          </a:ln>
        </p:spPr>
      </p:sp>
      <p:sp>
        <p:nvSpPr>
          <p:cNvPr id="4" name="Shape 1"/>
          <p:cNvSpPr/>
          <p:nvPr/>
        </p:nvSpPr>
        <p:spPr>
          <a:xfrm>
            <a:off x="6858000" y="91440"/>
            <a:ext cx="3108960" cy="3108960"/>
          </a:xfrm>
          <a:prstGeom prst="ellipse">
            <a:avLst/>
          </a:prstGeom>
          <a:ln w="12700">
            <a:solidFill>
              <a:srgbClr val="1E2A44"/>
            </a:solidFill>
            <a:prstDash val="solid"/>
          </a:ln>
        </p:spPr>
      </p:sp>
      <p:sp>
        <p:nvSpPr>
          <p:cNvPr id="5" name="Shape 2"/>
          <p:cNvSpPr/>
          <p:nvPr/>
        </p:nvSpPr>
        <p:spPr>
          <a:xfrm>
            <a:off x="7680960" y="914400"/>
            <a:ext cx="1463040" cy="1463040"/>
          </a:xfrm>
          <a:prstGeom prst="ellipse">
            <a:avLst/>
          </a:prstGeom>
          <a:ln w="15875">
            <a:solidFill>
              <a:srgbClr val="22D3EE"/>
            </a:solidFill>
            <a:prstDash val="solid"/>
          </a:ln>
        </p:spPr>
      </p:sp>
      <p:sp>
        <p:nvSpPr>
          <p:cNvPr id="6" name="Text 3"/>
          <p:cNvSpPr txBox="1"/>
          <p:nvPr/>
        </p:nvSpPr>
        <p:spPr>
          <a:xfrm>
            <a:off x="640080" y="1554480"/>
            <a:ext cx="7863840" cy="1097280"/>
          </a:xfrm>
          <a:prstGeom prst="rect">
            <a:avLst/>
          </a:prstGeom>
          <a:noFill/>
          <a:ln/>
        </p:spPr>
        <p:txBody>
          <a:bodyPr wrap="square" lIns="0" tIns="0" rIns="0" bIns="0" rtlCol="0" anchor="ctr"/>
          <a:lstStyle/>
          <a:p>
            <a:pPr indent="0" marL="0">
              <a:buNone/>
            </a:pPr>
            <a:r>
              <a:rPr lang="en-US" sz="6000" dirty="0">
                <a:solidFill>
                  <a:srgbClr val="F1F5FB"/>
                </a:solidFill>
                <a:latin typeface="Segoe UI Semibold" pitchFamily="34" charset="0"/>
                <a:ea typeface="Segoe UI Semibold" pitchFamily="34" charset="-122"/>
                <a:cs typeface="Segoe UI Semibold" pitchFamily="34" charset="-120"/>
              </a:rPr>
              <a:t>Thank you</a:t>
            </a:r>
            <a:endParaRPr lang="en-US" sz="6000" dirty="0"/>
          </a:p>
        </p:txBody>
      </p:sp>
      <p:sp>
        <p:nvSpPr>
          <p:cNvPr id="7" name="Text 4"/>
          <p:cNvSpPr txBox="1"/>
          <p:nvPr/>
        </p:nvSpPr>
        <p:spPr>
          <a:xfrm>
            <a:off x="640080" y="2743200"/>
            <a:ext cx="7863840" cy="457200"/>
          </a:xfrm>
          <a:prstGeom prst="rect">
            <a:avLst/>
          </a:prstGeom>
          <a:noFill/>
          <a:ln/>
        </p:spPr>
        <p:txBody>
          <a:bodyPr wrap="square" lIns="0" tIns="0" rIns="0" bIns="0" rtlCol="0" anchor="ctr"/>
          <a:lstStyle/>
          <a:p>
            <a:pPr indent="0" marL="0">
              <a:buNone/>
            </a:pPr>
            <a:r>
              <a:rPr lang="en-US" sz="2200" dirty="0">
                <a:solidFill>
                  <a:srgbClr val="22D3EE"/>
                </a:solidFill>
                <a:latin typeface="Segoe UI" pitchFamily="34" charset="0"/>
                <a:ea typeface="Segoe UI" pitchFamily="34" charset="-122"/>
                <a:cs typeface="Segoe UI" pitchFamily="34" charset="-120"/>
              </a:rPr>
              <a:t>Questions and discussion</a:t>
            </a:r>
            <a:endParaRPr lang="en-US" sz="2200" dirty="0"/>
          </a:p>
        </p:txBody>
      </p:sp>
      <p:sp>
        <p:nvSpPr>
          <p:cNvPr id="8" name="Text 5"/>
          <p:cNvSpPr txBox="1"/>
          <p:nvPr/>
        </p:nvSpPr>
        <p:spPr>
          <a:xfrm>
            <a:off x="640080" y="4297680"/>
            <a:ext cx="7863840" cy="274320"/>
          </a:xfrm>
          <a:prstGeom prst="rect">
            <a:avLst/>
          </a:prstGeom>
          <a:noFill/>
          <a:ln/>
        </p:spPr>
        <p:txBody>
          <a:bodyPr wrap="square" lIns="0" tIns="0" rIns="0" bIns="0" rtlCol="0" anchor="ctr"/>
          <a:lstStyle/>
          <a:p>
            <a:pPr indent="0" marL="0">
              <a:buNone/>
            </a:pPr>
            <a:r>
              <a:rPr lang="en-US" sz="1100" dirty="0">
                <a:solidFill>
                  <a:srgbClr val="8C9BB8"/>
                </a:solidFill>
                <a:latin typeface="Segoe UI" pitchFamily="34" charset="0"/>
                <a:ea typeface="Segoe UI" pitchFamily="34" charset="-122"/>
                <a:cs typeface="Segoe UI" pitchFamily="34" charset="-120"/>
              </a:rPr>
              <a:t>REOAGMS  ·  EC8208 Software Architecture  ·  University of Ruhuna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University of Ruhuna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REOAGMS: Team Presentation</dc:title>
  <dc:subject>PptxGenJS Presentation</dc:subject>
  <dc:creator>REOAGMS project team</dc:creator>
  <cp:lastModifiedBy>REOAGMS project team</cp:lastModifiedBy>
  <cp:revision>1</cp:revision>
  <dcterms:created xsi:type="dcterms:W3CDTF">2026-10-29T15:20:19Z</dcterms:created>
  <dcterms:modified xsi:type="dcterms:W3CDTF">2026-10-29T15:20:19Z</dcterms:modified>
</cp:coreProperties>
</file>