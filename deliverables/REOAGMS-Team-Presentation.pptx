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80fff5f-c729-eefc-73d7-a5160c5ae665}">
          <p14:sldIdLst>
            <p14:sldId id="256"/>
            <p14:sldId id="257"/>
          </p14:sldIdLst>
        </p14:section>
        <p14:section name="Charith" id="{5a2a15f9-cc26-1775-5e73-869304aea145}">
          <p14:sldIdLst>
            <p14:sldId id="258"/>
            <p14:sldId id="259"/>
            <p14:sldId id="260"/>
            <p14:sldId id="261"/>
            <p14:sldId id="262"/>
            <p14:sldId id="263"/>
            <p14:sldId id="264"/>
          </p14:sldIdLst>
        </p14:section>
        <p14:section name="Nemal" id="{90672a99-3ca5-6821-bfb0-f3e2de0e9a84}">
          <p14:sldIdLst>
            <p14:sldId id="265"/>
            <p14:sldId id="266"/>
            <p14:sldId id="267"/>
            <p14:sldId id="268"/>
            <p14:sldId id="269"/>
            <p14:sldId id="270"/>
            <p14:sldId id="271"/>
          </p14:sldIdLst>
        </p14:section>
        <p14:section name="Govindu" id="{da2863de-c2a8-587c-495f-edd3b5171429}">
          <p14:sldIdLst>
            <p14:sldId id="272"/>
            <p14:sldId id="273"/>
            <p14:sldId id="274"/>
            <p14:sldId id="275"/>
            <p14:sldId id="276"/>
            <p14:sldId id="277"/>
            <p14:sldId id="278"/>
          </p14:sldIdLst>
        </p14:section>
        <p14:section name="Thurunu" id="{85216ffe-8f7c-0ba0-c416-942c247b8cbd}">
          <p14:sldIdLst>
            <p14:sldId id="279"/>
            <p14:sldId id="280"/>
            <p14:sldId id="281"/>
            <p14:sldId id="282"/>
            <p14:sldId id="283"/>
            <p14:sldId id="284"/>
            <p14:sldId id="285"/>
          </p14:sldIdLst>
        </p14:section>
        <p14:section name="Yasiru" id="{0e31d0bc-633b-ce9a-2ec5-e62425283bee}">
          <p14:sldIdLst>
            <p14:sldId id="286"/>
            <p14:sldId id="287"/>
            <p14:sldId id="288"/>
            <p14:sldId id="289"/>
            <p14:sldId id="290"/>
            <p14:sldId id="291"/>
            <p14:sldId id="292"/>
          </p14:sldIdLst>
        </p14:section>
        <p14:section name="Sachinthana" id="{b92e0d4b-9844-ecb2-8db4-9c9c4bd076be}">
          <p14:sldIdLst>
            <p14:sldId id="293"/>
            <p14:sldId id="294"/>
            <p14:sldId id="295"/>
            <p14:sldId id="296"/>
            <p14:sldId id="297"/>
            <p14:sldId id="298"/>
            <p14:sldId id="299"/>
          </p14:sldIdLst>
        </p14:section>
        <p14:section name="All Members" id="{600e15d8-0c07-0a5f-4654-23935d981f51}">
          <p14:sldIdLst>
            <p14:sldId id="300"/>
            <p14:sldId id="301"/>
            <p14:sldId id="302"/>
            <p14:sldId id="303"/>
            <p14:sldId id="304"/>
            <p14:sldId id="305"/>
            <p14:sldId id="306"/>
          </p14:sldIdLst>
        </p14:section>
        <p14:section name="Conclusion" id="{64619d06-7763-303c-c369-257bfbc17315}">
          <p14:sldIdLst>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presenting REOAGMS, a microservices and event-driven platform for monitoring and maintaining distributed renewable energy facilities. Six of us each built a service, and we integrated them as one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who built what. Charith owns the architecture, identity, gateway and integration. Nemal built the Asset Service, Govindu the Monitoring Service, Thurunu the Maintenance Service, Yasiru the Notification Service and Sachinthana the Analytics Service. All of us wrote the tests, documentation, validation and error handling for our own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presenting REOAGMS, the Renewable Energy Operations, Asset and Grid Management System, built for EC8208 Software Architecture. I will start with the architecture, the identity service, the gateway and the infrastructure, and then each teammate will present their own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scope covers the architecture decision, the Identity Service, the API Gateway, the React console, Docker, RabbitMQ, Kubernetes and the final integration. Together these satisfy the authentication, role-based access, audit and gateway requirements: FR-01, FR-02, FR-03, FR-16 and FR-18.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path of every request. The browser is served by nginx and talks only to the API Gateway. The gateway validates the JWT and the user role, then routes the call to the Identity Service, which owns its own PostgreSQL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Identity Service, tokens are signed with HS256 and carry the user role. Passwords are hashed with BCrypt, and self-registration always creates the least privileged role. The gateway has seven routes, answers 401 without a token and 403 when the role is not allowed. Logins and user changes are written to an audit log, and the whole system runs from Docker Compose with Kubernetes manifests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Identity Service exposes login, registration, users and the audit log. Around it sit the shared building blocks: a RabbitMQ topic exchange with a dead-letter queue, a Redis cache, Prometheus and Grafana for monitoring, and nginx serving the production build of the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are measured from the running system: nineteen containers in Docker Compose, five seeded roles, and seven gateway routes. We verified the role matrix: a manager can create a facility, while an operator, an engineer and an executive receive a 403.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demo I sign in as the administrator, show the control room, and open the audit log. The takeaway: one entry point and one security policy, services that stay independent and are connected by events, and a system that starts with a single command. Now Nemal will present the Asset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Charith. I am Nemal, and I built the Asset Service, which is the registry for facilities, assets and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scope is facility, asset and sensor management, image upload for assets, and search, filtering, pagination and sorting, with validation and unit tests. This covers requirements FR-04, FR-05 and FR-06.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service is a classic layered design. The controller receives the REST call and validates it, the service applies the business rules, the repository uses Spring Data JPA, and the data is stored in the asset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facility has one of five types, a capacity in megawatts and coordinates. An asset has one of seven types and five statuses, a rated capacity and a serial number. A sensor has one of nine metric types, a unit and optional minimum and maximum thresholds. Images are uploaded per asset, and search uses JPA specifications by name, status and type with paging.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services refer to our assets only by UUID. Monitoring uses sensor and asset identifiers, Maintenance attaches work orders to an asset, and Analytics reads the rated capacity to compute expected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database there are five facilities, eleven assets and thirty-two sensors. The service has nineteen unit test methods, and validation rejects blank names, future installation dates and non-positive capacity with field-level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demo I open the Assets page, switch between tabs, search, and open the add form to show validation. The takeaway: the registry is the single source of truth for identifiers, pagination keeps lists fast, and write access is limited by role. Next, Govindu will show these assets sending live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Nemal. I am Govindu, and I built the Monitoring Service, which turns sensor data into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scope is sensor readings, device telemetry, alert rules, alert generation, historical data retrieval, the dashboard APIs and the RabbitMQ alert publisher. This covers FR-07, FR-08, FR-09, FR-10, FR-13 and FR-15.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from a reading to an alert. A sensor posts a reading, the rule evaluator compares it with each applicable rule, an alert is created with a lifecycle of open, acknowledged and resolved, and an event is published to RabbitMQ.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support five comparison operators and four severities, and can apply to one asset or to all assets. We keep only one open alert per rule and asset, so a sustained fault does not flood operators. History can be filtered by facility, asset, sensor, metric and time window. The dashboard summary counts alerts and devices, and it is cached in Redis for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service publishes a versioned alert event with the alert, asset, severity, value and threshold. Notification and Maintenance both consume it. If Redis is unavailable, the cache is skipped and PostgreSQL answers, so the dashboard never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monitoring database holds more than sixteen thousand readings and seven detection rules, and the service has eleven unit test methods. Device health uses the latest heartbeat of each asset, and dashboard answers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demo I show live sensor tiles with a threshold line, and then an alert arrives instantly. The takeaway: rules are data rather than code, events are versioned contracts, and de-duplication protects operators. Thurunu will show what happens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Govindu. I am Thurunu, and I built the Maintenance Service, which turns alerts into tracked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scope is work orders, maintenance tasks, technician assignment, preventive and corrective maintenance, maintenance history and reports, and the automatic creation of work orders from alerts. This covers FR-11 and FR-12.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lifecycle. An alert event of high or critical severity arrives, a work order is created, a technician is assigned and starts the work, and the order is completed and written to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 order moves from created to assigned, in progress and completed, or it can be cancelled. Tasks have their own start and complete steps. Technicians have a specialisation and an availability. Orders are either preventive or corrective, the history keeps a record per asset, and a summary endpoint feeds the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service listens on its own RabbitMQ queue for the alert event. It creates a corrective order for high and critical alerts, it skips an asset that already has an active corrective order, and it stores the alert identifier so a redelivered message never creates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holds fourteen work orders, four technicians, and three completed jobs in the history. A critical temperature alert produced a corrective order within seconds, which we verified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demo I use the maintenance board: the automatically created order, assigning a technician, starting and completing it. The takeaway: faults become actionable work automatically, there is one active corrective order per asset, and the history keeps a full record. Yasiru will show how people are notified.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Thurunu. I am Yasiru, and I built the Notification Service, which tells people and the console about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scope is email and SMS notifications, email templates, notification history, retry handling and the RabbitMQ alert consumer. This covers FR-14 and FR-15.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delivery pipeline. The alert event arrives on a durable RabbitMQ queue, the consumer checks the schema, the message is dispatched on each channel, and the result is stored in the notification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has a dead-letter queue for messages that keep failing. There are three channels: email through SMTP, an SMS dispatcher, and an in-app push over STOMP. Templates have full create, read, update and delete. Every message is stored with its status, retry count and reason, and a scheduler retries up to three times, sixty seconds apart, with a manual retry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service receives the alert event from Monitoring and publishes to two WebSocket topics, one for alerts and one for notifications. Email settings come from environment variables, so credentials never live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than seventy-six notifications are recorded, each retried automatically, and the service has fourteen unit test methods. Every attempt is stored, and the in-app push reaches the console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demo I open the notification history, show the delivery status and retry control, and a live toast arriving over WebSocket. The takeaway: every delivery is recorded, in-app push works without email, and consumers are decoupled from Monitoring. Sachinthana will now turn all this data into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Yasiru. I am Sachinthana, and I built the Analytics and Reporting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scope is dashboard summaries, energy reports, performance reports, maintenance statistics, asset utilisation, KPIs and report export. This covers FR-17.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report is produced. The service reads data from the Monitoring, Asset and Maintenance services over REST, the calculation service computes the metrics, the results are stored as reports and KPIs, and any report can be exported as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is the average power of each sensor per hour multiplied by the hours, which gives kilowatt-hours, and it is compared with the expected energy from the rated capacity. Performance reports give availability, efficiency, capacity factor, utilisation and downtime. Maintenance statistics give open orders, the completion rate and the alert count. There are eleven KPI types with targets, and CSV export for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service uses REST clients only, and never reads another service's database. Aggregation uses the power readings only, and the console charts use the hourly trend that this service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holds five energy reports, five performance reports, six KPIs and four dashboards, and the service has eleven unit test methods. Because power is integrated per hour, every figure is true kilowatt-hours.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demo I choose a facility and a range, generate an energy report and export it to CSV. The takeaway: reports are computed, stored and exportable, correct units make the figures trustworthy, and executives get read-only access. Finally, we will present what we did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we worked on the parts that make seven independent services behave as one system: testing, documentation, validation, error handling and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wrote unit tests, documented the API, validated input, handled errors, and coordinated with the other services to keep the contracts compatible. This supports every functional requirement and the non-functional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quality pipeline starts with shared contracts, then service tests with JUnit and Mockito, then gateway checks for authentication and the role matrix, and finally an end-to-end check from a reading to an alert to a work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total there are sixty test methods across seven modules. Documentation includes OpenAPI and Postman collections, SQL schemas, ER diagrams and the integration contract. Validation uses Bean Validation and returns field messages, every service has a global exception handler with consistent JSON, and compatibility comes from UUID references, versioned events and a single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contract documents the alert event version one. The verified chain is: a reading becomes an alert, which is published to RabbitMQ, and then produces a work order, a notification and a live push. Prometheus scrapes all seven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Sixty test methods, seven services behind one gateway, and one versioned event contract. Shared contracts, validation and tests keep seven independent services compatible.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we agree contracts first and then code, tests protect each service boundary, and every service deploys independently. In the closing demo you will see role-based access, Grafana and RabbitMQ.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We are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1000" dirty="0">
                <a:solidFill>
                  <a:srgbClr val="5B6B82"/>
                </a:solidFill>
                <a:latin typeface="Calibri" pitchFamily="34" charset="0"/>
                <a:ea typeface="Calibri" pitchFamily="34" charset="-122"/>
                <a:cs typeface="Calibri" pitchFamily="34" charset="-120"/>
              </a:rPr>
              <a:t>EC8208 Software Architecture · University of Ruhuna · REOAGMS</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EC8208 SOFTWARE ARCHITECTURE · CONTINUOUS ASSESSMENT 01</a:t>
            </a:r>
            <a:endParaRPr lang="en-US" sz="1200" dirty="0"/>
          </a:p>
        </p:txBody>
      </p:sp>
      <p:sp>
        <p:nvSpPr>
          <p:cNvPr id="3" name="Text 1"/>
          <p:cNvSpPr txBox="1"/>
          <p:nvPr/>
        </p:nvSpPr>
        <p:spPr>
          <a:xfrm>
            <a:off x="640080" y="1097280"/>
            <a:ext cx="7863840" cy="1737360"/>
          </a:xfrm>
          <a:prstGeom prst="rect">
            <a:avLst/>
          </a:prstGeom>
          <a:noFill/>
          <a:ln/>
        </p:spPr>
        <p:txBody>
          <a:bodyPr wrap="square" lIns="0" tIns="0" rIns="0" bIns="0" rtlCol="0" anchor="t"/>
          <a:lstStyle/>
          <a:p>
            <a:pPr indent="0" marL="0">
              <a:buNone/>
            </a:pPr>
            <a:r>
              <a:rPr lang="en-US" sz="3600" b="1" dirty="0">
                <a:solidFill>
                  <a:srgbClr val="1B2A49"/>
                </a:solidFill>
                <a:latin typeface="Cambria" pitchFamily="34" charset="0"/>
                <a:ea typeface="Cambria" pitchFamily="34" charset="-122"/>
                <a:cs typeface="Cambria" pitchFamily="34" charset="-120"/>
              </a:rPr>
              <a:t>Renewable Energy Operations, Asset and Grid Management System</a:t>
            </a:r>
            <a:endParaRPr lang="en-US" sz="3600" dirty="0"/>
          </a:p>
        </p:txBody>
      </p:sp>
      <p:sp>
        <p:nvSpPr>
          <p:cNvPr id="4" name="Text 2"/>
          <p:cNvSpPr txBox="1"/>
          <p:nvPr/>
        </p:nvSpPr>
        <p:spPr>
          <a:xfrm>
            <a:off x="640080" y="3200400"/>
            <a:ext cx="7863840" cy="457200"/>
          </a:xfrm>
          <a:prstGeom prst="rect">
            <a:avLst/>
          </a:prstGeom>
          <a:noFill/>
          <a:ln/>
        </p:spPr>
        <p:txBody>
          <a:bodyPr wrap="square" lIns="0" tIns="0" rIns="0" bIns="0" rtlCol="0" anchor="ctr"/>
          <a:lstStyle/>
          <a:p>
            <a:pPr indent="0" marL="0">
              <a:buNone/>
            </a:pPr>
            <a:r>
              <a:rPr lang="en-US" sz="1800" dirty="0">
                <a:solidFill>
                  <a:srgbClr val="22304A"/>
                </a:solidFill>
                <a:latin typeface="Calibri" pitchFamily="34" charset="0"/>
                <a:ea typeface="Calibri" pitchFamily="34" charset="-122"/>
                <a:cs typeface="Calibri" pitchFamily="34" charset="-120"/>
              </a:rPr>
              <a:t>A microservices and event-driven platform for distributed renewable energy facilities</a:t>
            </a:r>
            <a:endParaRPr lang="en-US" sz="1800" dirty="0"/>
          </a:p>
        </p:txBody>
      </p:sp>
      <p:sp>
        <p:nvSpPr>
          <p:cNvPr id="5" name="Text 3"/>
          <p:cNvSpPr txBox="1"/>
          <p:nvPr/>
        </p:nvSpPr>
        <p:spPr>
          <a:xfrm>
            <a:off x="640080" y="4023360"/>
            <a:ext cx="7863840" cy="64008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Department of Electrical and Information Engineering</a:t>
            </a:r>
            <a:endParaRPr lang="en-US" sz="1400" dirty="0"/>
          </a:p>
          <a:p>
            <a:pPr indent="0" marL="0">
              <a:buNone/>
            </a:pPr>
            <a:r>
              <a:rPr lang="en-US" sz="1400" dirty="0">
                <a:solidFill>
                  <a:srgbClr val="5B6B82"/>
                </a:solidFill>
                <a:latin typeface="Calibri" pitchFamily="34" charset="0"/>
                <a:ea typeface="Calibri" pitchFamily="34" charset="-122"/>
                <a:cs typeface="Calibri" pitchFamily="34" charset="-120"/>
              </a:rPr>
              <a:t>University of Ruhuna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THE TEAM</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Who built what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6583680"/>
              </a:tblGrid>
              <a:tr h="38404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Member</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Responsibility</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r>
              <a:tr h="384048">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Charith</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Architecture, Identity, API Gateway, console, Docker, RabbitMQ, Kubernetes, integration</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384048">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Nemal</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Asset Service: facilities, assets, sensors, images, search</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Govindu</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Monitoring Service: readings, telemetry, alert rules, alerts</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384048">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Thurunu</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Maintenance Service: work orders, tasks, technicians, history</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Yasiru</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Notification Service: email, SMS, templates, retry, consumer</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384048">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Sachinthana</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Analytics Service: KPIs, reports, export</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All members</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Tests, API documentation, validation, error handling</a:t>
                      </a:r>
                      <a:endParaRPr lang="en-US" sz="1400" dirty="0">
                        <a:latin typeface="Calibri" charset="0"/>
                        <a:ea typeface="Calibri" charset="0"/>
                        <a:cs typeface="Calibri" charset="0"/>
                      </a:endParaRPr>
                    </a:p>
                  </a:txBody>
                  <a:tcPr marL="109728" marR="109728" marT="27432" marB="27432"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RENEWABLE ENERGY OPERATIONS, ASSET AND GRID MANAGEMENT SYSTEM</a:t>
            </a:r>
            <a:endParaRPr lang="en-US" sz="1200" dirty="0"/>
          </a:p>
        </p:txBody>
      </p:sp>
      <p:sp>
        <p:nvSpPr>
          <p:cNvPr id="3" name="Text 1"/>
          <p:cNvSpPr txBox="1"/>
          <p:nvPr/>
        </p:nvSpPr>
        <p:spPr>
          <a:xfrm>
            <a:off x="640080" y="1234440"/>
            <a:ext cx="7863840" cy="1463040"/>
          </a:xfrm>
          <a:prstGeom prst="rect">
            <a:avLst/>
          </a:prstGeom>
          <a:noFill/>
          <a:ln/>
        </p:spPr>
        <p:txBody>
          <a:bodyPr wrap="square" lIns="0" tIns="0" rIns="0" bIns="0" rtlCol="0" anchor="t"/>
          <a:lstStyle/>
          <a:p>
            <a:pPr indent="0" marL="0">
              <a:buNone/>
            </a:pPr>
            <a:r>
              <a:rPr lang="en-US" sz="3800" b="1" dirty="0">
                <a:solidFill>
                  <a:srgbClr val="1B2A49"/>
                </a:solidFill>
                <a:latin typeface="Cambria" pitchFamily="34" charset="0"/>
                <a:ea typeface="Cambria" pitchFamily="34" charset="-122"/>
                <a:cs typeface="Cambria" pitchFamily="34" charset="-120"/>
              </a:rPr>
              <a:t>System Architecture, Identity, Gateway &amp; Integration</a:t>
            </a:r>
            <a:endParaRPr lang="en-US" sz="3800" dirty="0"/>
          </a:p>
        </p:txBody>
      </p:sp>
      <p:sp>
        <p:nvSpPr>
          <p:cNvPr id="4" name="Text 2"/>
          <p:cNvSpPr txBox="1"/>
          <p:nvPr/>
        </p:nvSpPr>
        <p:spPr>
          <a:xfrm>
            <a:off x="640080" y="3154680"/>
            <a:ext cx="7863840" cy="457200"/>
          </a:xfrm>
          <a:prstGeom prst="rect">
            <a:avLst/>
          </a:prstGeom>
          <a:noFill/>
          <a:ln/>
        </p:spPr>
        <p:txBody>
          <a:bodyPr wrap="square" lIns="0" tIns="0" rIns="0" bIns="0" rtlCol="0" anchor="ctr"/>
          <a:lstStyle/>
          <a:p>
            <a:pPr indent="0" marL="0">
              <a:buNone/>
            </a:pPr>
            <a:r>
              <a:rPr lang="en-US" sz="2400" b="1" dirty="0">
                <a:solidFill>
                  <a:srgbClr val="22304A"/>
                </a:solidFill>
                <a:latin typeface="Calibri" pitchFamily="34" charset="0"/>
                <a:ea typeface="Calibri" pitchFamily="34" charset="-122"/>
                <a:cs typeface="Calibri" pitchFamily="34" charset="-120"/>
              </a:rPr>
              <a:t>Charith</a:t>
            </a:r>
            <a:endParaRPr lang="en-US" sz="2400" dirty="0"/>
          </a:p>
        </p:txBody>
      </p:sp>
      <p:sp>
        <p:nvSpPr>
          <p:cNvPr id="5" name="Text 3"/>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EC8208 Software Architecture · Continuous Assessment 01</a:t>
            </a:r>
            <a:endParaRPr lang="en-US" sz="1400" dirty="0"/>
          </a:p>
          <a:p>
            <a:pPr indent="0" marL="0">
              <a:buNone/>
            </a:pPr>
            <a:r>
              <a:rPr lang="en-US" sz="1400" dirty="0">
                <a:solidFill>
                  <a:srgbClr val="5B6B82"/>
                </a:solidFill>
                <a:latin typeface="Calibri" pitchFamily="34" charset="0"/>
                <a:ea typeface="Calibri" pitchFamily="34" charset="-122"/>
                <a:cs typeface="Calibri" pitchFamily="34" charset="-120"/>
              </a:rPr>
              <a:t>Department of Electrical and Information Engineering, University of Ruhuna</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RESPONSIBILITIES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Role and scope</a:t>
            </a:r>
            <a:endParaRPr lang="en-US" sz="3000" dirty="0"/>
          </a:p>
        </p:txBody>
      </p:sp>
      <p:sp>
        <p:nvSpPr>
          <p:cNvPr id="4" name="Text 2"/>
          <p:cNvSpPr txBox="1"/>
          <p:nvPr/>
        </p:nvSpPr>
        <p:spPr>
          <a:xfrm>
            <a:off x="457200" y="1325880"/>
            <a:ext cx="5212080" cy="32004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Hybrid architecture decision: layered, client–server, microservices, event-driven</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Identity Service: JWT authentication, RBAC, audit log</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API Gateway: routing, token validation, role policy</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React console, Docker Compose, Kubernetes manifests, RabbitMQ infrastructure</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Final integration and end-to-end testing</a:t>
            </a:r>
            <a:endParaRPr lang="en-US" sz="1600" dirty="0"/>
          </a:p>
        </p:txBody>
      </p:sp>
      <p:sp>
        <p:nvSpPr>
          <p:cNvPr id="5" name="Shape 3"/>
          <p:cNvSpPr/>
          <p:nvPr/>
        </p:nvSpPr>
        <p:spPr>
          <a:xfrm>
            <a:off x="5943600" y="1325880"/>
            <a:ext cx="2743200" cy="2606040"/>
          </a:xfrm>
          <a:prstGeom prst="roundRect">
            <a:avLst>
              <a:gd name="adj" fmla="val 2807"/>
            </a:avLst>
          </a:prstGeom>
          <a:solidFill>
            <a:srgbClr val="EEF2F8"/>
          </a:solidFill>
          <a:ln w="9525">
            <a:solidFill>
              <a:srgbClr val="C9D3E0"/>
            </a:solidFill>
            <a:prstDash val="solid"/>
          </a:ln>
        </p:spPr>
      </p:sp>
      <p:sp>
        <p:nvSpPr>
          <p:cNvPr id="6" name="Text 4"/>
          <p:cNvSpPr txBox="1"/>
          <p:nvPr/>
        </p:nvSpPr>
        <p:spPr>
          <a:xfrm>
            <a:off x="6126480" y="1463040"/>
            <a:ext cx="2377440" cy="274320"/>
          </a:xfrm>
          <a:prstGeom prst="rect">
            <a:avLst/>
          </a:prstGeom>
          <a:noFill/>
          <a:ln/>
        </p:spPr>
        <p:txBody>
          <a:bodyPr wrap="square" lIns="0" tIns="0" rIns="0" bIns="0" rtlCol="0" anchor="ctr"/>
          <a:lstStyle/>
          <a:p>
            <a:pPr indent="0" marL="0">
              <a:buNone/>
            </a:pPr>
            <a:r>
              <a:rPr lang="en-US" sz="1400" b="1" dirty="0">
                <a:solidFill>
                  <a:srgbClr val="3D5A80"/>
                </a:solidFill>
                <a:latin typeface="Calibri" pitchFamily="34" charset="0"/>
                <a:ea typeface="Calibri" pitchFamily="34" charset="-122"/>
                <a:cs typeface="Calibri" pitchFamily="34" charset="-120"/>
              </a:rPr>
              <a:t>Requirements covered</a:t>
            </a:r>
            <a:endParaRPr lang="en-US" sz="1400" dirty="0"/>
          </a:p>
        </p:txBody>
      </p:sp>
      <p:sp>
        <p:nvSpPr>
          <p:cNvPr id="7" name="Text 5"/>
          <p:cNvSpPr txBox="1"/>
          <p:nvPr/>
        </p:nvSpPr>
        <p:spPr>
          <a:xfrm>
            <a:off x="6126480" y="1828800"/>
            <a:ext cx="2377440" cy="1920240"/>
          </a:xfrm>
          <a:prstGeom prst="rect">
            <a:avLst/>
          </a:prstGeom>
          <a:noFill/>
          <a:ln/>
        </p:spPr>
        <p:txBody>
          <a:bodyPr wrap="square" lIns="0" tIns="0" rIns="0" bIns="0" rtlCol="0" anchor="t"/>
          <a:lstStyle/>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FR-01</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FR-02</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FR-03</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FR-16</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FR-18</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Request path through the platform</a:t>
            </a:r>
            <a:endParaRPr lang="en-US" sz="3000" dirty="0"/>
          </a:p>
        </p:txBody>
      </p:sp>
      <p:sp>
        <p:nvSpPr>
          <p:cNvPr id="4" name="step-1"/>
          <p:cNvSpPr/>
          <p:nvPr/>
        </p:nvSpPr>
        <p:spPr>
          <a:xfrm>
            <a:off x="457200" y="1737360"/>
            <a:ext cx="1783080" cy="1188720"/>
          </a:xfrm>
          <a:prstGeom prst="roundRect">
            <a:avLst>
              <a:gd name="adj" fmla="val 6154"/>
            </a:avLst>
          </a:prstGeom>
          <a:solidFill>
            <a:srgbClr val="1B2A49"/>
          </a:solidFill>
          <a:ln w="12700">
            <a:solidFill>
              <a:srgbClr val="1B2A49"/>
            </a:solidFill>
            <a:prstDash val="solid"/>
          </a:ln>
        </p:spPr>
      </p:sp>
      <p:sp>
        <p:nvSpPr>
          <p:cNvPr id="5" name="Text 3"/>
          <p:cNvSpPr txBox="1"/>
          <p:nvPr/>
        </p:nvSpPr>
        <p:spPr>
          <a:xfrm>
            <a:off x="548640" y="1783080"/>
            <a:ext cx="1600200" cy="10972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React console</a:t>
            </a:r>
            <a:endParaRPr lang="en-US" sz="1800" dirty="0"/>
          </a:p>
        </p:txBody>
      </p:sp>
      <p:sp>
        <p:nvSpPr>
          <p:cNvPr id="6" name="Text 4"/>
          <p:cNvSpPr txBox="1"/>
          <p:nvPr/>
        </p:nvSpPr>
        <p:spPr>
          <a:xfrm>
            <a:off x="45720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nginx · STOMP /ws</a:t>
            </a:r>
            <a:endParaRPr lang="en-US" sz="1200" dirty="0"/>
          </a:p>
        </p:txBody>
      </p:sp>
      <p:sp>
        <p:nvSpPr>
          <p:cNvPr id="7" name="Text 5"/>
          <p:cNvSpPr txBox="1"/>
          <p:nvPr/>
        </p:nvSpPr>
        <p:spPr>
          <a:xfrm>
            <a:off x="224028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8" name="step-2"/>
          <p:cNvSpPr/>
          <p:nvPr/>
        </p:nvSpPr>
        <p:spPr>
          <a:xfrm>
            <a:off x="2606040" y="1737360"/>
            <a:ext cx="1783080" cy="1188720"/>
          </a:xfrm>
          <a:prstGeom prst="roundRect">
            <a:avLst>
              <a:gd name="adj" fmla="val 6154"/>
            </a:avLst>
          </a:prstGeom>
          <a:solidFill>
            <a:srgbClr val="EEF2F8"/>
          </a:solidFill>
          <a:ln w="12700">
            <a:solidFill>
              <a:srgbClr val="C9D3E0"/>
            </a:solidFill>
            <a:prstDash val="solid"/>
          </a:ln>
        </p:spPr>
      </p:sp>
      <p:sp>
        <p:nvSpPr>
          <p:cNvPr id="9" name="Text 7"/>
          <p:cNvSpPr txBox="1"/>
          <p:nvPr/>
        </p:nvSpPr>
        <p:spPr>
          <a:xfrm>
            <a:off x="269748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API Gateway</a:t>
            </a:r>
            <a:endParaRPr lang="en-US" sz="1800" dirty="0"/>
          </a:p>
        </p:txBody>
      </p:sp>
      <p:sp>
        <p:nvSpPr>
          <p:cNvPr id="10" name="Text 8"/>
          <p:cNvSpPr txBox="1"/>
          <p:nvPr/>
        </p:nvSpPr>
        <p:spPr>
          <a:xfrm>
            <a:off x="260604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JWT + role policy</a:t>
            </a:r>
            <a:endParaRPr lang="en-US" sz="1200" dirty="0"/>
          </a:p>
        </p:txBody>
      </p:sp>
      <p:sp>
        <p:nvSpPr>
          <p:cNvPr id="11" name="Text 9"/>
          <p:cNvSpPr txBox="1"/>
          <p:nvPr/>
        </p:nvSpPr>
        <p:spPr>
          <a:xfrm>
            <a:off x="438912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2" name="step-3"/>
          <p:cNvSpPr/>
          <p:nvPr/>
        </p:nvSpPr>
        <p:spPr>
          <a:xfrm>
            <a:off x="4754880" y="1737360"/>
            <a:ext cx="1783080" cy="1188720"/>
          </a:xfrm>
          <a:prstGeom prst="roundRect">
            <a:avLst>
              <a:gd name="adj" fmla="val 6154"/>
            </a:avLst>
          </a:prstGeom>
          <a:solidFill>
            <a:srgbClr val="EEF2F8"/>
          </a:solidFill>
          <a:ln w="12700">
            <a:solidFill>
              <a:srgbClr val="C9D3E0"/>
            </a:solidFill>
            <a:prstDash val="solid"/>
          </a:ln>
        </p:spPr>
      </p:sp>
      <p:sp>
        <p:nvSpPr>
          <p:cNvPr id="13" name="Text 11"/>
          <p:cNvSpPr txBox="1"/>
          <p:nvPr/>
        </p:nvSpPr>
        <p:spPr>
          <a:xfrm>
            <a:off x="484632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Identity Service</a:t>
            </a:r>
            <a:endParaRPr lang="en-US" sz="1800" dirty="0"/>
          </a:p>
        </p:txBody>
      </p:sp>
      <p:sp>
        <p:nvSpPr>
          <p:cNvPr id="14" name="Text 12"/>
          <p:cNvSpPr txBox="1"/>
          <p:nvPr/>
        </p:nvSpPr>
        <p:spPr>
          <a:xfrm>
            <a:off x="475488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users · roles · audit</a:t>
            </a:r>
            <a:endParaRPr lang="en-US" sz="1200" dirty="0"/>
          </a:p>
        </p:txBody>
      </p:sp>
      <p:sp>
        <p:nvSpPr>
          <p:cNvPr id="15" name="Text 13"/>
          <p:cNvSpPr txBox="1"/>
          <p:nvPr/>
        </p:nvSpPr>
        <p:spPr>
          <a:xfrm>
            <a:off x="653796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6" name="step-4"/>
          <p:cNvSpPr/>
          <p:nvPr/>
        </p:nvSpPr>
        <p:spPr>
          <a:xfrm>
            <a:off x="6903720" y="1737360"/>
            <a:ext cx="1783080" cy="1188720"/>
          </a:xfrm>
          <a:prstGeom prst="roundRect">
            <a:avLst>
              <a:gd name="adj" fmla="val 6154"/>
            </a:avLst>
          </a:prstGeom>
          <a:solidFill>
            <a:srgbClr val="EEF2F8"/>
          </a:solidFill>
          <a:ln w="12700">
            <a:solidFill>
              <a:srgbClr val="C9D3E0"/>
            </a:solidFill>
            <a:prstDash val="solid"/>
          </a:ln>
        </p:spPr>
      </p:sp>
      <p:sp>
        <p:nvSpPr>
          <p:cNvPr id="17" name="Text 15"/>
          <p:cNvSpPr txBox="1"/>
          <p:nvPr/>
        </p:nvSpPr>
        <p:spPr>
          <a:xfrm>
            <a:off x="699516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identity_db</a:t>
            </a:r>
            <a:endParaRPr lang="en-US" sz="1800" dirty="0"/>
          </a:p>
        </p:txBody>
      </p:sp>
      <p:sp>
        <p:nvSpPr>
          <p:cNvPr id="18" name="Text 16"/>
          <p:cNvSpPr txBox="1"/>
          <p:nvPr/>
        </p:nvSpPr>
        <p:spPr>
          <a:xfrm>
            <a:off x="690372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PostgreSQL</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Key implementation details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640080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was built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JWT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HS256 token with subject and role claim, 24 h expiry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Passwords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BCrypt hashes; self-registration is always Plant Operator</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Gateway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7 routes under /api/v1; 401 without token, 403 by role</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Audit log</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Login success and failure, user create and delete</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Deployment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Docker Compose and k8s/base manifests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Interfaces and integration</a:t>
            </a:r>
            <a:endParaRPr lang="en-US" sz="3000" dirty="0"/>
          </a:p>
        </p:txBody>
      </p:sp>
      <p:sp>
        <p:nvSpPr>
          <p:cNvPr id="4" name="Shape 2"/>
          <p:cNvSpPr/>
          <p:nvPr/>
        </p:nvSpPr>
        <p:spPr>
          <a:xfrm>
            <a:off x="457200" y="1325880"/>
            <a:ext cx="4023360" cy="2834640"/>
          </a:xfrm>
          <a:prstGeom prst="roundRect">
            <a:avLst>
              <a:gd name="adj" fmla="val 2581"/>
            </a:avLst>
          </a:prstGeom>
          <a:solidFill>
            <a:srgbClr val="EEF2F8"/>
          </a:solidFill>
          <a:ln w="9525">
            <a:solidFill>
              <a:srgbClr val="C9D3E0"/>
            </a:solidFill>
            <a:prstDash val="solid"/>
          </a:ln>
        </p:spPr>
      </p:sp>
      <p:sp>
        <p:nvSpPr>
          <p:cNvPr id="5" name="Text 3"/>
          <p:cNvSpPr txBox="1"/>
          <p:nvPr/>
        </p:nvSpPr>
        <p:spPr>
          <a:xfrm>
            <a:off x="68580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Interfaces</a:t>
            </a:r>
            <a:endParaRPr lang="en-US" sz="1800" dirty="0"/>
          </a:p>
        </p:txBody>
      </p:sp>
      <p:sp>
        <p:nvSpPr>
          <p:cNvPr id="6" name="Text 4"/>
          <p:cNvSpPr txBox="1"/>
          <p:nvPr/>
        </p:nvSpPr>
        <p:spPr>
          <a:xfrm>
            <a:off x="68580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POST /api/v1/auth/login and /register</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GET /api/v1/users, /audit-logs (ADMIN only)</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/ws proxied to the Notification Service</a:t>
            </a:r>
            <a:endParaRPr lang="en-US" sz="1500" dirty="0"/>
          </a:p>
        </p:txBody>
      </p:sp>
      <p:sp>
        <p:nvSpPr>
          <p:cNvPr id="7" name="Shape 5"/>
          <p:cNvSpPr/>
          <p:nvPr/>
        </p:nvSpPr>
        <p:spPr>
          <a:xfrm>
            <a:off x="4663440" y="1325880"/>
            <a:ext cx="4023360" cy="2834640"/>
          </a:xfrm>
          <a:prstGeom prst="roundRect">
            <a:avLst>
              <a:gd name="adj" fmla="val 2581"/>
            </a:avLst>
          </a:prstGeom>
          <a:solidFill>
            <a:srgbClr val="EEF2F8"/>
          </a:solidFill>
          <a:ln w="9525">
            <a:solidFill>
              <a:srgbClr val="C9D3E0"/>
            </a:solidFill>
            <a:prstDash val="solid"/>
          </a:ln>
        </p:spPr>
      </p:sp>
      <p:sp>
        <p:nvSpPr>
          <p:cNvPr id="8" name="Text 6"/>
          <p:cNvSpPr txBox="1"/>
          <p:nvPr/>
        </p:nvSpPr>
        <p:spPr>
          <a:xfrm>
            <a:off x="489204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Connections</a:t>
            </a:r>
            <a:endParaRPr lang="en-US" sz="1800" dirty="0"/>
          </a:p>
        </p:txBody>
      </p:sp>
      <p:sp>
        <p:nvSpPr>
          <p:cNvPr id="9" name="Text 7"/>
          <p:cNvSpPr txBox="1"/>
          <p:nvPr/>
        </p:nvSpPr>
        <p:spPr>
          <a:xfrm>
            <a:off x="489204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RabbitMQ topic exchange reoagms.events with dead-letter queue</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Redis cache, Prometheus and Grafana</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nginx serves the production React build</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Evidence from the running system</a:t>
            </a:r>
            <a:endParaRPr lang="en-US" sz="3000" dirty="0"/>
          </a:p>
        </p:txBody>
      </p:sp>
      <p:sp>
        <p:nvSpPr>
          <p:cNvPr id="4" name="Shape 2"/>
          <p:cNvSpPr/>
          <p:nvPr/>
        </p:nvSpPr>
        <p:spPr>
          <a:xfrm>
            <a:off x="45720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45720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19</a:t>
            </a:r>
            <a:endParaRPr lang="en-US" sz="4000" dirty="0"/>
          </a:p>
        </p:txBody>
      </p:sp>
      <p:sp>
        <p:nvSpPr>
          <p:cNvPr id="6" name="Text 4"/>
          <p:cNvSpPr txBox="1"/>
          <p:nvPr/>
        </p:nvSpPr>
        <p:spPr>
          <a:xfrm>
            <a:off x="59436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containers in Docker Compose</a:t>
            </a:r>
            <a:endParaRPr lang="en-US" sz="1400" dirty="0"/>
          </a:p>
        </p:txBody>
      </p:sp>
      <p:sp>
        <p:nvSpPr>
          <p:cNvPr id="7" name="Shape 5"/>
          <p:cNvSpPr/>
          <p:nvPr/>
        </p:nvSpPr>
        <p:spPr>
          <a:xfrm>
            <a:off x="329184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29184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5</a:t>
            </a:r>
            <a:endParaRPr lang="en-US" sz="4000" dirty="0"/>
          </a:p>
        </p:txBody>
      </p:sp>
      <p:sp>
        <p:nvSpPr>
          <p:cNvPr id="9" name="Text 7"/>
          <p:cNvSpPr txBox="1"/>
          <p:nvPr/>
        </p:nvSpPr>
        <p:spPr>
          <a:xfrm>
            <a:off x="342900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RBAC roles with seeded accounts</a:t>
            </a:r>
            <a:endParaRPr lang="en-US" sz="1400" dirty="0"/>
          </a:p>
        </p:txBody>
      </p:sp>
      <p:sp>
        <p:nvSpPr>
          <p:cNvPr id="10" name="Shape 8"/>
          <p:cNvSpPr/>
          <p:nvPr/>
        </p:nvSpPr>
        <p:spPr>
          <a:xfrm>
            <a:off x="612648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612648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7</a:t>
            </a:r>
            <a:endParaRPr lang="en-US" sz="4000" dirty="0"/>
          </a:p>
        </p:txBody>
      </p:sp>
      <p:sp>
        <p:nvSpPr>
          <p:cNvPr id="12" name="Text 10"/>
          <p:cNvSpPr txBox="1"/>
          <p:nvPr/>
        </p:nvSpPr>
        <p:spPr>
          <a:xfrm>
            <a:off x="626364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gateway routes</a:t>
            </a:r>
            <a:endParaRPr lang="en-US" sz="1400" dirty="0"/>
          </a:p>
        </p:txBody>
      </p:sp>
      <p:sp>
        <p:nvSpPr>
          <p:cNvPr id="13" name="Text 11"/>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600" i="1" dirty="0">
                <a:solidFill>
                  <a:srgbClr val="22304A"/>
                </a:solidFill>
                <a:latin typeface="Calibri" pitchFamily="34" charset="0"/>
                <a:ea typeface="Calibri" pitchFamily="34" charset="-122"/>
                <a:cs typeface="Calibri" pitchFamily="34" charset="-120"/>
              </a:rPr>
              <a:t>Role matrix verified: Manager can create a facility (200); Operator, Engineer and Executive receive 403.</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SUMMARY</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Live demo and takeaways</a:t>
            </a:r>
            <a:endParaRPr lang="en-US" sz="3000" dirty="0"/>
          </a:p>
        </p:txBody>
      </p:sp>
      <p:sp>
        <p:nvSpPr>
          <p:cNvPr id="4" name="Text 2"/>
          <p:cNvSpPr txBox="1"/>
          <p:nvPr/>
        </p:nvSpPr>
        <p:spPr>
          <a:xfrm>
            <a:off x="457200" y="1280160"/>
            <a:ext cx="39319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Demo steps</a:t>
            </a:r>
            <a:endParaRPr lang="en-US" sz="1800" dirty="0"/>
          </a:p>
        </p:txBody>
      </p:sp>
      <p:sp>
        <p:nvSpPr>
          <p:cNvPr id="5" name="Text 3"/>
          <p:cNvSpPr txBox="1"/>
          <p:nvPr/>
        </p:nvSpPr>
        <p:spPr>
          <a:xfrm>
            <a:off x="457200" y="1691640"/>
            <a:ext cx="393192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Sign in as Administrator</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Control room: live KPIs and alert feed</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Administration: users and audit log</a:t>
            </a:r>
            <a:endParaRPr lang="en-US" sz="1600" dirty="0"/>
          </a:p>
        </p:txBody>
      </p:sp>
      <p:sp>
        <p:nvSpPr>
          <p:cNvPr id="6" name="Shape 4"/>
          <p:cNvSpPr/>
          <p:nvPr/>
        </p:nvSpPr>
        <p:spPr>
          <a:xfrm>
            <a:off x="4754880" y="1280160"/>
            <a:ext cx="3931920" cy="2377440"/>
          </a:xfrm>
          <a:prstGeom prst="roundRect">
            <a:avLst>
              <a:gd name="adj" fmla="val 3077"/>
            </a:avLst>
          </a:prstGeom>
          <a:solidFill>
            <a:srgbClr val="EEF2F8"/>
          </a:solidFill>
          <a:ln w="9525">
            <a:solidFill>
              <a:srgbClr val="C9D3E0"/>
            </a:solidFill>
            <a:prstDash val="solid"/>
          </a:ln>
        </p:spPr>
      </p:sp>
      <p:sp>
        <p:nvSpPr>
          <p:cNvPr id="7" name="Text 5"/>
          <p:cNvSpPr txBox="1"/>
          <p:nvPr/>
        </p:nvSpPr>
        <p:spPr>
          <a:xfrm>
            <a:off x="4983480" y="1417320"/>
            <a:ext cx="34747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Key takeaways</a:t>
            </a:r>
            <a:endParaRPr lang="en-US" sz="1800" dirty="0"/>
          </a:p>
        </p:txBody>
      </p:sp>
      <p:sp>
        <p:nvSpPr>
          <p:cNvPr id="8" name="Text 6"/>
          <p:cNvSpPr txBox="1"/>
          <p:nvPr/>
        </p:nvSpPr>
        <p:spPr>
          <a:xfrm>
            <a:off x="4983480" y="1828800"/>
            <a:ext cx="347472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One entry point, one security policy</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Services stay independent; events decouple them</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Everything starts with one command</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RENEWABLE ENERGY OPERATIONS, ASSET AND GRID MANAGEMENT SYSTEM</a:t>
            </a:r>
            <a:endParaRPr lang="en-US" sz="1200" dirty="0"/>
          </a:p>
        </p:txBody>
      </p:sp>
      <p:sp>
        <p:nvSpPr>
          <p:cNvPr id="3" name="Text 1"/>
          <p:cNvSpPr txBox="1"/>
          <p:nvPr/>
        </p:nvSpPr>
        <p:spPr>
          <a:xfrm>
            <a:off x="640080" y="1234440"/>
            <a:ext cx="7863840" cy="1463040"/>
          </a:xfrm>
          <a:prstGeom prst="rect">
            <a:avLst/>
          </a:prstGeom>
          <a:noFill/>
          <a:ln/>
        </p:spPr>
        <p:txBody>
          <a:bodyPr wrap="square" lIns="0" tIns="0" rIns="0" bIns="0" rtlCol="0" anchor="t"/>
          <a:lstStyle/>
          <a:p>
            <a:pPr indent="0" marL="0">
              <a:buNone/>
            </a:pPr>
            <a:r>
              <a:rPr lang="en-US" sz="3800" b="1" dirty="0">
                <a:solidFill>
                  <a:srgbClr val="1B2A49"/>
                </a:solidFill>
                <a:latin typeface="Cambria" pitchFamily="34" charset="0"/>
                <a:ea typeface="Cambria" pitchFamily="34" charset="-122"/>
                <a:cs typeface="Cambria" pitchFamily="34" charset="-120"/>
              </a:rPr>
              <a:t>Asset Service: Facilities, Assets &amp; Sensors</a:t>
            </a:r>
            <a:endParaRPr lang="en-US" sz="3800" dirty="0"/>
          </a:p>
        </p:txBody>
      </p:sp>
      <p:sp>
        <p:nvSpPr>
          <p:cNvPr id="4" name="Text 2"/>
          <p:cNvSpPr txBox="1"/>
          <p:nvPr/>
        </p:nvSpPr>
        <p:spPr>
          <a:xfrm>
            <a:off x="640080" y="3154680"/>
            <a:ext cx="7863840" cy="457200"/>
          </a:xfrm>
          <a:prstGeom prst="rect">
            <a:avLst/>
          </a:prstGeom>
          <a:noFill/>
          <a:ln/>
        </p:spPr>
        <p:txBody>
          <a:bodyPr wrap="square" lIns="0" tIns="0" rIns="0" bIns="0" rtlCol="0" anchor="ctr"/>
          <a:lstStyle/>
          <a:p>
            <a:pPr indent="0" marL="0">
              <a:buNone/>
            </a:pPr>
            <a:r>
              <a:rPr lang="en-US" sz="2400" b="1" dirty="0">
                <a:solidFill>
                  <a:srgbClr val="22304A"/>
                </a:solidFill>
                <a:latin typeface="Calibri" pitchFamily="34" charset="0"/>
                <a:ea typeface="Calibri" pitchFamily="34" charset="-122"/>
                <a:cs typeface="Calibri" pitchFamily="34" charset="-120"/>
              </a:rPr>
              <a:t>Nemal</a:t>
            </a:r>
            <a:endParaRPr lang="en-US" sz="2400" dirty="0"/>
          </a:p>
        </p:txBody>
      </p:sp>
      <p:sp>
        <p:nvSpPr>
          <p:cNvPr id="5" name="Text 3"/>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EC8208 Software Architecture · Continuous Assessment 01</a:t>
            </a:r>
            <a:endParaRPr lang="en-US" sz="1400" dirty="0"/>
          </a:p>
          <a:p>
            <a:pPr indent="0" marL="0">
              <a:buNone/>
            </a:pPr>
            <a:r>
              <a:rPr lang="en-US" sz="1400" dirty="0">
                <a:solidFill>
                  <a:srgbClr val="5B6B82"/>
                </a:solidFill>
                <a:latin typeface="Calibri" pitchFamily="34" charset="0"/>
                <a:ea typeface="Calibri" pitchFamily="34" charset="-122"/>
                <a:cs typeface="Calibri" pitchFamily="34" charset="-120"/>
              </a:rPr>
              <a:t>Department of Electrical and Information Engineering, University of Ruhuna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RESPONSIBILITIES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Role and scope</a:t>
            </a:r>
            <a:endParaRPr lang="en-US" sz="3000" dirty="0"/>
          </a:p>
        </p:txBody>
      </p:sp>
      <p:sp>
        <p:nvSpPr>
          <p:cNvPr id="4" name="Text 2"/>
          <p:cNvSpPr txBox="1"/>
          <p:nvPr/>
        </p:nvSpPr>
        <p:spPr>
          <a:xfrm>
            <a:off x="457200" y="1325880"/>
            <a:ext cx="5212080" cy="32004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Facility, asset and sensor CRUD</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Image upload for assets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Search, filtering, pagination and sorting</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Bean Validation and structured error responses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Unit tests for services and image handling</a:t>
            </a:r>
            <a:endParaRPr lang="en-US" sz="1600" dirty="0"/>
          </a:p>
        </p:txBody>
      </p:sp>
      <p:sp>
        <p:nvSpPr>
          <p:cNvPr id="5" name="Shape 3"/>
          <p:cNvSpPr/>
          <p:nvPr/>
        </p:nvSpPr>
        <p:spPr>
          <a:xfrm>
            <a:off x="5943600" y="1325880"/>
            <a:ext cx="2743200" cy="1837944"/>
          </a:xfrm>
          <a:prstGeom prst="roundRect">
            <a:avLst>
              <a:gd name="adj" fmla="val 3980"/>
            </a:avLst>
          </a:prstGeom>
          <a:solidFill>
            <a:srgbClr val="EEF2F8"/>
          </a:solidFill>
          <a:ln w="9525">
            <a:solidFill>
              <a:srgbClr val="C9D3E0"/>
            </a:solidFill>
            <a:prstDash val="solid"/>
          </a:ln>
        </p:spPr>
      </p:sp>
      <p:sp>
        <p:nvSpPr>
          <p:cNvPr id="6" name="Text 4"/>
          <p:cNvSpPr txBox="1"/>
          <p:nvPr/>
        </p:nvSpPr>
        <p:spPr>
          <a:xfrm>
            <a:off x="6126480" y="1463040"/>
            <a:ext cx="2377440" cy="274320"/>
          </a:xfrm>
          <a:prstGeom prst="rect">
            <a:avLst/>
          </a:prstGeom>
          <a:noFill/>
          <a:ln/>
        </p:spPr>
        <p:txBody>
          <a:bodyPr wrap="square" lIns="0" tIns="0" rIns="0" bIns="0" rtlCol="0" anchor="ctr"/>
          <a:lstStyle/>
          <a:p>
            <a:pPr indent="0" marL="0">
              <a:buNone/>
            </a:pPr>
            <a:r>
              <a:rPr lang="en-US" sz="1400" b="1" dirty="0">
                <a:solidFill>
                  <a:srgbClr val="3D5A80"/>
                </a:solidFill>
                <a:latin typeface="Calibri" pitchFamily="34" charset="0"/>
                <a:ea typeface="Calibri" pitchFamily="34" charset="-122"/>
                <a:cs typeface="Calibri" pitchFamily="34" charset="-120"/>
              </a:rPr>
              <a:t>Requirements covered</a:t>
            </a:r>
            <a:endParaRPr lang="en-US" sz="1400" dirty="0"/>
          </a:p>
        </p:txBody>
      </p:sp>
      <p:sp>
        <p:nvSpPr>
          <p:cNvPr id="7" name="Text 5"/>
          <p:cNvSpPr txBox="1"/>
          <p:nvPr/>
        </p:nvSpPr>
        <p:spPr>
          <a:xfrm>
            <a:off x="6126480" y="1828800"/>
            <a:ext cx="2377440" cy="1152144"/>
          </a:xfrm>
          <a:prstGeom prst="rect">
            <a:avLst/>
          </a:prstGeom>
          <a:noFill/>
          <a:ln/>
        </p:spPr>
        <p:txBody>
          <a:bodyPr wrap="square" lIns="0" tIns="0" rIns="0" bIns="0" rtlCol="0" anchor="t"/>
          <a:lstStyle/>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FR-04</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FR-05</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FR-06</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Layered structure of the service</a:t>
            </a:r>
            <a:endParaRPr lang="en-US" sz="3000" dirty="0"/>
          </a:p>
        </p:txBody>
      </p:sp>
      <p:sp>
        <p:nvSpPr>
          <p:cNvPr id="4" name="step-1"/>
          <p:cNvSpPr/>
          <p:nvPr/>
        </p:nvSpPr>
        <p:spPr>
          <a:xfrm>
            <a:off x="457200" y="1737360"/>
            <a:ext cx="1783080" cy="1188720"/>
          </a:xfrm>
          <a:prstGeom prst="roundRect">
            <a:avLst>
              <a:gd name="adj" fmla="val 6154"/>
            </a:avLst>
          </a:prstGeom>
          <a:solidFill>
            <a:srgbClr val="1B2A49"/>
          </a:solidFill>
          <a:ln w="12700">
            <a:solidFill>
              <a:srgbClr val="1B2A49"/>
            </a:solidFill>
            <a:prstDash val="solid"/>
          </a:ln>
        </p:spPr>
      </p:sp>
      <p:sp>
        <p:nvSpPr>
          <p:cNvPr id="5" name="Text 3"/>
          <p:cNvSpPr txBox="1"/>
          <p:nvPr/>
        </p:nvSpPr>
        <p:spPr>
          <a:xfrm>
            <a:off x="548640" y="1783080"/>
            <a:ext cx="1600200" cy="10972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Controller</a:t>
            </a:r>
            <a:endParaRPr lang="en-US" sz="1800" dirty="0"/>
          </a:p>
        </p:txBody>
      </p:sp>
      <p:sp>
        <p:nvSpPr>
          <p:cNvPr id="6" name="Text 4"/>
          <p:cNvSpPr txBox="1"/>
          <p:nvPr/>
        </p:nvSpPr>
        <p:spPr>
          <a:xfrm>
            <a:off x="45720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REST + validation</a:t>
            </a:r>
            <a:endParaRPr lang="en-US" sz="1200" dirty="0"/>
          </a:p>
        </p:txBody>
      </p:sp>
      <p:sp>
        <p:nvSpPr>
          <p:cNvPr id="7" name="Text 5"/>
          <p:cNvSpPr txBox="1"/>
          <p:nvPr/>
        </p:nvSpPr>
        <p:spPr>
          <a:xfrm>
            <a:off x="224028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8" name="step-2"/>
          <p:cNvSpPr/>
          <p:nvPr/>
        </p:nvSpPr>
        <p:spPr>
          <a:xfrm>
            <a:off x="2606040" y="1737360"/>
            <a:ext cx="1783080" cy="1188720"/>
          </a:xfrm>
          <a:prstGeom prst="roundRect">
            <a:avLst>
              <a:gd name="adj" fmla="val 6154"/>
            </a:avLst>
          </a:prstGeom>
          <a:solidFill>
            <a:srgbClr val="EEF2F8"/>
          </a:solidFill>
          <a:ln w="12700">
            <a:solidFill>
              <a:srgbClr val="C9D3E0"/>
            </a:solidFill>
            <a:prstDash val="solid"/>
          </a:ln>
        </p:spPr>
      </p:sp>
      <p:sp>
        <p:nvSpPr>
          <p:cNvPr id="9" name="Text 7"/>
          <p:cNvSpPr txBox="1"/>
          <p:nvPr/>
        </p:nvSpPr>
        <p:spPr>
          <a:xfrm>
            <a:off x="269748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Service</a:t>
            </a:r>
            <a:endParaRPr lang="en-US" sz="1800" dirty="0"/>
          </a:p>
        </p:txBody>
      </p:sp>
      <p:sp>
        <p:nvSpPr>
          <p:cNvPr id="10" name="Text 8"/>
          <p:cNvSpPr txBox="1"/>
          <p:nvPr/>
        </p:nvSpPr>
        <p:spPr>
          <a:xfrm>
            <a:off x="260604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business rules</a:t>
            </a:r>
            <a:endParaRPr lang="en-US" sz="1200" dirty="0"/>
          </a:p>
        </p:txBody>
      </p:sp>
      <p:sp>
        <p:nvSpPr>
          <p:cNvPr id="11" name="Text 9"/>
          <p:cNvSpPr txBox="1"/>
          <p:nvPr/>
        </p:nvSpPr>
        <p:spPr>
          <a:xfrm>
            <a:off x="438912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2" name="step-3"/>
          <p:cNvSpPr/>
          <p:nvPr/>
        </p:nvSpPr>
        <p:spPr>
          <a:xfrm>
            <a:off x="4754880" y="1737360"/>
            <a:ext cx="1783080" cy="1188720"/>
          </a:xfrm>
          <a:prstGeom prst="roundRect">
            <a:avLst>
              <a:gd name="adj" fmla="val 6154"/>
            </a:avLst>
          </a:prstGeom>
          <a:solidFill>
            <a:srgbClr val="EEF2F8"/>
          </a:solidFill>
          <a:ln w="12700">
            <a:solidFill>
              <a:srgbClr val="C9D3E0"/>
            </a:solidFill>
            <a:prstDash val="solid"/>
          </a:ln>
        </p:spPr>
      </p:sp>
      <p:sp>
        <p:nvSpPr>
          <p:cNvPr id="13" name="Text 11"/>
          <p:cNvSpPr txBox="1"/>
          <p:nvPr/>
        </p:nvSpPr>
        <p:spPr>
          <a:xfrm>
            <a:off x="484632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Repository</a:t>
            </a:r>
            <a:endParaRPr lang="en-US" sz="1800" dirty="0"/>
          </a:p>
        </p:txBody>
      </p:sp>
      <p:sp>
        <p:nvSpPr>
          <p:cNvPr id="14" name="Text 12"/>
          <p:cNvSpPr txBox="1"/>
          <p:nvPr/>
        </p:nvSpPr>
        <p:spPr>
          <a:xfrm>
            <a:off x="475488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Spring Data JPA</a:t>
            </a:r>
            <a:endParaRPr lang="en-US" sz="1200" dirty="0"/>
          </a:p>
        </p:txBody>
      </p:sp>
      <p:sp>
        <p:nvSpPr>
          <p:cNvPr id="15" name="Text 13"/>
          <p:cNvSpPr txBox="1"/>
          <p:nvPr/>
        </p:nvSpPr>
        <p:spPr>
          <a:xfrm>
            <a:off x="653796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6" name="step-4"/>
          <p:cNvSpPr/>
          <p:nvPr/>
        </p:nvSpPr>
        <p:spPr>
          <a:xfrm>
            <a:off x="6903720" y="1737360"/>
            <a:ext cx="1783080" cy="1188720"/>
          </a:xfrm>
          <a:prstGeom prst="roundRect">
            <a:avLst>
              <a:gd name="adj" fmla="val 6154"/>
            </a:avLst>
          </a:prstGeom>
          <a:solidFill>
            <a:srgbClr val="EEF2F8"/>
          </a:solidFill>
          <a:ln w="12700">
            <a:solidFill>
              <a:srgbClr val="C9D3E0"/>
            </a:solidFill>
            <a:prstDash val="solid"/>
          </a:ln>
        </p:spPr>
      </p:sp>
      <p:sp>
        <p:nvSpPr>
          <p:cNvPr id="17" name="Text 15"/>
          <p:cNvSpPr txBox="1"/>
          <p:nvPr/>
        </p:nvSpPr>
        <p:spPr>
          <a:xfrm>
            <a:off x="699516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asset_db</a:t>
            </a:r>
            <a:endParaRPr lang="en-US" sz="1800" dirty="0"/>
          </a:p>
        </p:txBody>
      </p:sp>
      <p:sp>
        <p:nvSpPr>
          <p:cNvPr id="18" name="Text 16"/>
          <p:cNvSpPr txBox="1"/>
          <p:nvPr/>
        </p:nvSpPr>
        <p:spPr>
          <a:xfrm>
            <a:off x="690372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PostgreSQL</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Key implementation details</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640080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was built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Facility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5 types (solar, wind, hydro, battery, tidal); MW capacity and coordinates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Asset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7 types, 5 statuses, rated capacity in kW, serial number</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Sensor</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9 metric types, unit, min and max thresholds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Images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Multipart upload stored per asset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Search</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JPA Specifications by name, status and type; paged, default 20</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Interfaces and integration</a:t>
            </a:r>
            <a:endParaRPr lang="en-US" sz="3000" dirty="0"/>
          </a:p>
        </p:txBody>
      </p:sp>
      <p:sp>
        <p:nvSpPr>
          <p:cNvPr id="4" name="Shape 2"/>
          <p:cNvSpPr/>
          <p:nvPr/>
        </p:nvSpPr>
        <p:spPr>
          <a:xfrm>
            <a:off x="457200" y="1325880"/>
            <a:ext cx="4023360" cy="2834640"/>
          </a:xfrm>
          <a:prstGeom prst="roundRect">
            <a:avLst>
              <a:gd name="adj" fmla="val 2581"/>
            </a:avLst>
          </a:prstGeom>
          <a:solidFill>
            <a:srgbClr val="EEF2F8"/>
          </a:solidFill>
          <a:ln w="9525">
            <a:solidFill>
              <a:srgbClr val="C9D3E0"/>
            </a:solidFill>
            <a:prstDash val="solid"/>
          </a:ln>
        </p:spPr>
      </p:sp>
      <p:sp>
        <p:nvSpPr>
          <p:cNvPr id="5" name="Text 3"/>
          <p:cNvSpPr txBox="1"/>
          <p:nvPr/>
        </p:nvSpPr>
        <p:spPr>
          <a:xfrm>
            <a:off x="68580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Interfaces</a:t>
            </a:r>
            <a:endParaRPr lang="en-US" sz="1800" dirty="0"/>
          </a:p>
        </p:txBody>
      </p:sp>
      <p:sp>
        <p:nvSpPr>
          <p:cNvPr id="6" name="Text 4"/>
          <p:cNvSpPr txBox="1"/>
          <p:nvPr/>
        </p:nvSpPr>
        <p:spPr>
          <a:xfrm>
            <a:off x="68580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/api/v1/facilities, /assets, /sensors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/api/v1/assets/search with page, size, sort</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UUID identifiers shared with other services</a:t>
            </a:r>
            <a:endParaRPr lang="en-US" sz="1500" dirty="0"/>
          </a:p>
        </p:txBody>
      </p:sp>
      <p:sp>
        <p:nvSpPr>
          <p:cNvPr id="7" name="Shape 5"/>
          <p:cNvSpPr/>
          <p:nvPr/>
        </p:nvSpPr>
        <p:spPr>
          <a:xfrm>
            <a:off x="4663440" y="1325880"/>
            <a:ext cx="4023360" cy="2834640"/>
          </a:xfrm>
          <a:prstGeom prst="roundRect">
            <a:avLst>
              <a:gd name="adj" fmla="val 2581"/>
            </a:avLst>
          </a:prstGeom>
          <a:solidFill>
            <a:srgbClr val="EEF2F8"/>
          </a:solidFill>
          <a:ln w="9525">
            <a:solidFill>
              <a:srgbClr val="C9D3E0"/>
            </a:solidFill>
            <a:prstDash val="solid"/>
          </a:ln>
        </p:spPr>
      </p:sp>
      <p:sp>
        <p:nvSpPr>
          <p:cNvPr id="8" name="Text 6"/>
          <p:cNvSpPr txBox="1"/>
          <p:nvPr/>
        </p:nvSpPr>
        <p:spPr>
          <a:xfrm>
            <a:off x="489204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Connections</a:t>
            </a:r>
            <a:endParaRPr lang="en-US" sz="1800" dirty="0"/>
          </a:p>
        </p:txBody>
      </p:sp>
      <p:sp>
        <p:nvSpPr>
          <p:cNvPr id="9" name="Text 7"/>
          <p:cNvSpPr txBox="1"/>
          <p:nvPr/>
        </p:nvSpPr>
        <p:spPr>
          <a:xfrm>
            <a:off x="489204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Monitoring uses sensor and asset ids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Maintenance orders reference an asset</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Analytics reads rated capacity for expected energy</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Evidence from the running system</a:t>
            </a:r>
            <a:endParaRPr lang="en-US" sz="3000" dirty="0"/>
          </a:p>
        </p:txBody>
      </p:sp>
      <p:sp>
        <p:nvSpPr>
          <p:cNvPr id="4" name="Shape 2"/>
          <p:cNvSpPr/>
          <p:nvPr/>
        </p:nvSpPr>
        <p:spPr>
          <a:xfrm>
            <a:off x="45720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457200" y="1508760"/>
            <a:ext cx="2560320" cy="822960"/>
          </a:xfrm>
          <a:prstGeom prst="rect">
            <a:avLst/>
          </a:prstGeom>
          <a:noFill/>
          <a:ln/>
        </p:spPr>
        <p:txBody>
          <a:bodyPr wrap="square" lIns="0" tIns="0" rIns="0" bIns="0" rtlCol="0" anchor="ctr"/>
          <a:lstStyle/>
          <a:p>
            <a:pPr algn="ctr" indent="0" marL="0">
              <a:buNone/>
            </a:pPr>
            <a:r>
              <a:rPr lang="en-US" sz="3000" b="1" dirty="0">
                <a:solidFill>
                  <a:srgbClr val="1B2A49"/>
                </a:solidFill>
                <a:latin typeface="Cambria" pitchFamily="34" charset="0"/>
                <a:ea typeface="Cambria" pitchFamily="34" charset="-122"/>
                <a:cs typeface="Cambria" pitchFamily="34" charset="-120"/>
              </a:rPr>
              <a:t>5 / 11 / 32</a:t>
            </a:r>
            <a:endParaRPr lang="en-US" sz="3000" dirty="0"/>
          </a:p>
        </p:txBody>
      </p:sp>
      <p:sp>
        <p:nvSpPr>
          <p:cNvPr id="6" name="Text 4"/>
          <p:cNvSpPr txBox="1"/>
          <p:nvPr/>
        </p:nvSpPr>
        <p:spPr>
          <a:xfrm>
            <a:off x="59436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facilities / assets / sensors in the database</a:t>
            </a:r>
            <a:endParaRPr lang="en-US" sz="1400" dirty="0"/>
          </a:p>
        </p:txBody>
      </p:sp>
      <p:sp>
        <p:nvSpPr>
          <p:cNvPr id="7" name="Shape 5"/>
          <p:cNvSpPr/>
          <p:nvPr/>
        </p:nvSpPr>
        <p:spPr>
          <a:xfrm>
            <a:off x="329184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29184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19</a:t>
            </a:r>
            <a:endParaRPr lang="en-US" sz="4000" dirty="0"/>
          </a:p>
        </p:txBody>
      </p:sp>
      <p:sp>
        <p:nvSpPr>
          <p:cNvPr id="9" name="Text 7"/>
          <p:cNvSpPr txBox="1"/>
          <p:nvPr/>
        </p:nvSpPr>
        <p:spPr>
          <a:xfrm>
            <a:off x="342900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unit test methods</a:t>
            </a:r>
            <a:endParaRPr lang="en-US" sz="1400" dirty="0"/>
          </a:p>
        </p:txBody>
      </p:sp>
      <p:sp>
        <p:nvSpPr>
          <p:cNvPr id="10" name="Shape 8"/>
          <p:cNvSpPr/>
          <p:nvPr/>
        </p:nvSpPr>
        <p:spPr>
          <a:xfrm>
            <a:off x="612648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612648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9</a:t>
            </a:r>
            <a:endParaRPr lang="en-US" sz="4000" dirty="0"/>
          </a:p>
        </p:txBody>
      </p:sp>
      <p:sp>
        <p:nvSpPr>
          <p:cNvPr id="12" name="Text 10"/>
          <p:cNvSpPr txBox="1"/>
          <p:nvPr/>
        </p:nvSpPr>
        <p:spPr>
          <a:xfrm>
            <a:off x="626364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sensor metric types</a:t>
            </a:r>
            <a:endParaRPr lang="en-US" sz="1400" dirty="0"/>
          </a:p>
        </p:txBody>
      </p:sp>
      <p:sp>
        <p:nvSpPr>
          <p:cNvPr id="13" name="Text 11"/>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600" i="1" dirty="0">
                <a:solidFill>
                  <a:srgbClr val="22304A"/>
                </a:solidFill>
                <a:latin typeface="Calibri" pitchFamily="34" charset="0"/>
                <a:ea typeface="Calibri" pitchFamily="34" charset="-122"/>
                <a:cs typeface="Calibri" pitchFamily="34" charset="-120"/>
              </a:rPr>
              <a:t>Validation rejects blank names, future installation dates and non-positive capacity with field-level messages.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SUMMARY</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Live demo and takeaways</a:t>
            </a:r>
            <a:endParaRPr lang="en-US" sz="3000" dirty="0"/>
          </a:p>
        </p:txBody>
      </p:sp>
      <p:sp>
        <p:nvSpPr>
          <p:cNvPr id="4" name="Text 2"/>
          <p:cNvSpPr txBox="1"/>
          <p:nvPr/>
        </p:nvSpPr>
        <p:spPr>
          <a:xfrm>
            <a:off x="457200" y="1280160"/>
            <a:ext cx="39319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Demo steps</a:t>
            </a:r>
            <a:endParaRPr lang="en-US" sz="1800" dirty="0"/>
          </a:p>
        </p:txBody>
      </p:sp>
      <p:sp>
        <p:nvSpPr>
          <p:cNvPr id="5" name="Text 3"/>
          <p:cNvSpPr txBox="1"/>
          <p:nvPr/>
        </p:nvSpPr>
        <p:spPr>
          <a:xfrm>
            <a:off x="457200" y="1691640"/>
            <a:ext cx="393192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Assets page: facilities, assets, sensors</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Search and tab filtering</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Add a facility; see validation</a:t>
            </a:r>
            <a:endParaRPr lang="en-US" sz="1600" dirty="0"/>
          </a:p>
        </p:txBody>
      </p:sp>
      <p:sp>
        <p:nvSpPr>
          <p:cNvPr id="6" name="Shape 4"/>
          <p:cNvSpPr/>
          <p:nvPr/>
        </p:nvSpPr>
        <p:spPr>
          <a:xfrm>
            <a:off x="4754880" y="1280160"/>
            <a:ext cx="3931920" cy="2377440"/>
          </a:xfrm>
          <a:prstGeom prst="roundRect">
            <a:avLst>
              <a:gd name="adj" fmla="val 3077"/>
            </a:avLst>
          </a:prstGeom>
          <a:solidFill>
            <a:srgbClr val="EEF2F8"/>
          </a:solidFill>
          <a:ln w="9525">
            <a:solidFill>
              <a:srgbClr val="C9D3E0"/>
            </a:solidFill>
            <a:prstDash val="solid"/>
          </a:ln>
        </p:spPr>
      </p:sp>
      <p:sp>
        <p:nvSpPr>
          <p:cNvPr id="7" name="Text 5"/>
          <p:cNvSpPr txBox="1"/>
          <p:nvPr/>
        </p:nvSpPr>
        <p:spPr>
          <a:xfrm>
            <a:off x="4983480" y="1417320"/>
            <a:ext cx="34747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Key takeaways</a:t>
            </a:r>
            <a:endParaRPr lang="en-US" sz="1800" dirty="0"/>
          </a:p>
        </p:txBody>
      </p:sp>
      <p:sp>
        <p:nvSpPr>
          <p:cNvPr id="8" name="Text 6"/>
          <p:cNvSpPr txBox="1"/>
          <p:nvPr/>
        </p:nvSpPr>
        <p:spPr>
          <a:xfrm>
            <a:off x="4983480" y="1828800"/>
            <a:ext cx="347472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Registry is the source of truth for ids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Pagination keeps lists fast</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Write access is restricted by role</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RENEWABLE ENERGY OPERATIONS, ASSET AND GRID MANAGEMENT SYSTEM</a:t>
            </a:r>
            <a:endParaRPr lang="en-US" sz="1200" dirty="0"/>
          </a:p>
        </p:txBody>
      </p:sp>
      <p:sp>
        <p:nvSpPr>
          <p:cNvPr id="3" name="Text 1"/>
          <p:cNvSpPr txBox="1"/>
          <p:nvPr/>
        </p:nvSpPr>
        <p:spPr>
          <a:xfrm>
            <a:off x="640080" y="1234440"/>
            <a:ext cx="7863840" cy="1463040"/>
          </a:xfrm>
          <a:prstGeom prst="rect">
            <a:avLst/>
          </a:prstGeom>
          <a:noFill/>
          <a:ln/>
        </p:spPr>
        <p:txBody>
          <a:bodyPr wrap="square" lIns="0" tIns="0" rIns="0" bIns="0" rtlCol="0" anchor="t"/>
          <a:lstStyle/>
          <a:p>
            <a:pPr indent="0" marL="0">
              <a:buNone/>
            </a:pPr>
            <a:r>
              <a:rPr lang="en-US" sz="3800" b="1" dirty="0">
                <a:solidFill>
                  <a:srgbClr val="1B2A49"/>
                </a:solidFill>
                <a:latin typeface="Cambria" pitchFamily="34" charset="0"/>
                <a:ea typeface="Cambria" pitchFamily="34" charset="-122"/>
                <a:cs typeface="Cambria" pitchFamily="34" charset="-120"/>
              </a:rPr>
              <a:t>Monitoring Service: Telemetry &amp; Alerting</a:t>
            </a:r>
            <a:endParaRPr lang="en-US" sz="3800" dirty="0"/>
          </a:p>
        </p:txBody>
      </p:sp>
      <p:sp>
        <p:nvSpPr>
          <p:cNvPr id="4" name="Text 2"/>
          <p:cNvSpPr txBox="1"/>
          <p:nvPr/>
        </p:nvSpPr>
        <p:spPr>
          <a:xfrm>
            <a:off x="640080" y="3154680"/>
            <a:ext cx="7863840" cy="457200"/>
          </a:xfrm>
          <a:prstGeom prst="rect">
            <a:avLst/>
          </a:prstGeom>
          <a:noFill/>
          <a:ln/>
        </p:spPr>
        <p:txBody>
          <a:bodyPr wrap="square" lIns="0" tIns="0" rIns="0" bIns="0" rtlCol="0" anchor="ctr"/>
          <a:lstStyle/>
          <a:p>
            <a:pPr indent="0" marL="0">
              <a:buNone/>
            </a:pPr>
            <a:r>
              <a:rPr lang="en-US" sz="2400" b="1" dirty="0">
                <a:solidFill>
                  <a:srgbClr val="22304A"/>
                </a:solidFill>
                <a:latin typeface="Calibri" pitchFamily="34" charset="0"/>
                <a:ea typeface="Calibri" pitchFamily="34" charset="-122"/>
                <a:cs typeface="Calibri" pitchFamily="34" charset="-120"/>
              </a:rPr>
              <a:t>Govindu</a:t>
            </a:r>
            <a:endParaRPr lang="en-US" sz="2400" dirty="0"/>
          </a:p>
        </p:txBody>
      </p:sp>
      <p:sp>
        <p:nvSpPr>
          <p:cNvPr id="5" name="Text 3"/>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EC8208 Software Architecture · Continuous Assessment 01</a:t>
            </a:r>
            <a:endParaRPr lang="en-US" sz="1400" dirty="0"/>
          </a:p>
          <a:p>
            <a:pPr indent="0" marL="0">
              <a:buNone/>
            </a:pPr>
            <a:r>
              <a:rPr lang="en-US" sz="1400" dirty="0">
                <a:solidFill>
                  <a:srgbClr val="5B6B82"/>
                </a:solidFill>
                <a:latin typeface="Calibri" pitchFamily="34" charset="0"/>
                <a:ea typeface="Calibri" pitchFamily="34" charset="-122"/>
                <a:cs typeface="Calibri" pitchFamily="34" charset="-120"/>
              </a:rPr>
              <a:t>Department of Electrical and Information Engineering, University of Ruhuna</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RESPONSIBILITIES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Role and scope</a:t>
            </a:r>
            <a:endParaRPr lang="en-US" sz="3000" dirty="0"/>
          </a:p>
        </p:txBody>
      </p:sp>
      <p:sp>
        <p:nvSpPr>
          <p:cNvPr id="4" name="Text 2"/>
          <p:cNvSpPr txBox="1"/>
          <p:nvPr/>
        </p:nvSpPr>
        <p:spPr>
          <a:xfrm>
            <a:off x="457200" y="1325880"/>
            <a:ext cx="5212080" cy="32004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Sensor readings and device telemetry ingestion</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Configurable alert rules and alert generation</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Historical data retrieval with filters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Dashboard summary APIs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RabbitMQ alert publisher</a:t>
            </a:r>
            <a:endParaRPr lang="en-US" sz="1600" dirty="0"/>
          </a:p>
        </p:txBody>
      </p:sp>
      <p:sp>
        <p:nvSpPr>
          <p:cNvPr id="5" name="Shape 3"/>
          <p:cNvSpPr/>
          <p:nvPr/>
        </p:nvSpPr>
        <p:spPr>
          <a:xfrm>
            <a:off x="5943600" y="1325880"/>
            <a:ext cx="2743200" cy="2990088"/>
          </a:xfrm>
          <a:prstGeom prst="roundRect">
            <a:avLst>
              <a:gd name="adj" fmla="val 2667"/>
            </a:avLst>
          </a:prstGeom>
          <a:solidFill>
            <a:srgbClr val="EEF2F8"/>
          </a:solidFill>
          <a:ln w="9525">
            <a:solidFill>
              <a:srgbClr val="C9D3E0"/>
            </a:solidFill>
            <a:prstDash val="solid"/>
          </a:ln>
        </p:spPr>
      </p:sp>
      <p:sp>
        <p:nvSpPr>
          <p:cNvPr id="6" name="Text 4"/>
          <p:cNvSpPr txBox="1"/>
          <p:nvPr/>
        </p:nvSpPr>
        <p:spPr>
          <a:xfrm>
            <a:off x="6126480" y="1463040"/>
            <a:ext cx="2377440" cy="274320"/>
          </a:xfrm>
          <a:prstGeom prst="rect">
            <a:avLst/>
          </a:prstGeom>
          <a:noFill/>
          <a:ln/>
        </p:spPr>
        <p:txBody>
          <a:bodyPr wrap="square" lIns="0" tIns="0" rIns="0" bIns="0" rtlCol="0" anchor="ctr"/>
          <a:lstStyle/>
          <a:p>
            <a:pPr indent="0" marL="0">
              <a:buNone/>
            </a:pPr>
            <a:r>
              <a:rPr lang="en-US" sz="1400" b="1" dirty="0">
                <a:solidFill>
                  <a:srgbClr val="3D5A80"/>
                </a:solidFill>
                <a:latin typeface="Calibri" pitchFamily="34" charset="0"/>
                <a:ea typeface="Calibri" pitchFamily="34" charset="-122"/>
                <a:cs typeface="Calibri" pitchFamily="34" charset="-120"/>
              </a:rPr>
              <a:t>Requirements covered</a:t>
            </a:r>
            <a:endParaRPr lang="en-US" sz="1400" dirty="0"/>
          </a:p>
        </p:txBody>
      </p:sp>
      <p:sp>
        <p:nvSpPr>
          <p:cNvPr id="7" name="Text 5"/>
          <p:cNvSpPr txBox="1"/>
          <p:nvPr/>
        </p:nvSpPr>
        <p:spPr>
          <a:xfrm>
            <a:off x="6126480" y="1828800"/>
            <a:ext cx="2377440" cy="2304288"/>
          </a:xfrm>
          <a:prstGeom prst="rect">
            <a:avLst/>
          </a:prstGeom>
          <a:noFill/>
          <a:ln/>
        </p:spPr>
        <p:txBody>
          <a:bodyPr wrap="square" lIns="0" tIns="0" rIns="0" bIns="0" rtlCol="0" anchor="t"/>
          <a:lstStyle/>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FR-07</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FR-08</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FR-09</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FR-10</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FR-13</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FR-15</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From reading to alert event</a:t>
            </a:r>
            <a:endParaRPr lang="en-US" sz="3000" dirty="0"/>
          </a:p>
        </p:txBody>
      </p:sp>
      <p:sp>
        <p:nvSpPr>
          <p:cNvPr id="4" name="step-1"/>
          <p:cNvSpPr/>
          <p:nvPr/>
        </p:nvSpPr>
        <p:spPr>
          <a:xfrm>
            <a:off x="457200" y="1737360"/>
            <a:ext cx="1783080" cy="1188720"/>
          </a:xfrm>
          <a:prstGeom prst="roundRect">
            <a:avLst>
              <a:gd name="adj" fmla="val 6154"/>
            </a:avLst>
          </a:prstGeom>
          <a:solidFill>
            <a:srgbClr val="1B2A49"/>
          </a:solidFill>
          <a:ln w="12700">
            <a:solidFill>
              <a:srgbClr val="1B2A49"/>
            </a:solidFill>
            <a:prstDash val="solid"/>
          </a:ln>
        </p:spPr>
      </p:sp>
      <p:sp>
        <p:nvSpPr>
          <p:cNvPr id="5" name="Text 3"/>
          <p:cNvSpPr txBox="1"/>
          <p:nvPr/>
        </p:nvSpPr>
        <p:spPr>
          <a:xfrm>
            <a:off x="548640" y="1783080"/>
            <a:ext cx="1600200" cy="10972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Reading API</a:t>
            </a:r>
            <a:endParaRPr lang="en-US" sz="1800" dirty="0"/>
          </a:p>
        </p:txBody>
      </p:sp>
      <p:sp>
        <p:nvSpPr>
          <p:cNvPr id="6" name="Text 4"/>
          <p:cNvSpPr txBox="1"/>
          <p:nvPr/>
        </p:nvSpPr>
        <p:spPr>
          <a:xfrm>
            <a:off x="45720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POST /sensor-readings</a:t>
            </a:r>
            <a:endParaRPr lang="en-US" sz="1200" dirty="0"/>
          </a:p>
        </p:txBody>
      </p:sp>
      <p:sp>
        <p:nvSpPr>
          <p:cNvPr id="7" name="Text 5"/>
          <p:cNvSpPr txBox="1"/>
          <p:nvPr/>
        </p:nvSpPr>
        <p:spPr>
          <a:xfrm>
            <a:off x="224028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8" name="step-2"/>
          <p:cNvSpPr/>
          <p:nvPr/>
        </p:nvSpPr>
        <p:spPr>
          <a:xfrm>
            <a:off x="2606040" y="1737360"/>
            <a:ext cx="1783080" cy="1188720"/>
          </a:xfrm>
          <a:prstGeom prst="roundRect">
            <a:avLst>
              <a:gd name="adj" fmla="val 6154"/>
            </a:avLst>
          </a:prstGeom>
          <a:solidFill>
            <a:srgbClr val="EEF2F8"/>
          </a:solidFill>
          <a:ln w="12700">
            <a:solidFill>
              <a:srgbClr val="C9D3E0"/>
            </a:solidFill>
            <a:prstDash val="solid"/>
          </a:ln>
        </p:spPr>
      </p:sp>
      <p:sp>
        <p:nvSpPr>
          <p:cNvPr id="9" name="Text 7"/>
          <p:cNvSpPr txBox="1"/>
          <p:nvPr/>
        </p:nvSpPr>
        <p:spPr>
          <a:xfrm>
            <a:off x="269748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Rule evaluator</a:t>
            </a:r>
            <a:endParaRPr lang="en-US" sz="1800" dirty="0"/>
          </a:p>
        </p:txBody>
      </p:sp>
      <p:sp>
        <p:nvSpPr>
          <p:cNvPr id="10" name="Text 8"/>
          <p:cNvSpPr txBox="1"/>
          <p:nvPr/>
        </p:nvSpPr>
        <p:spPr>
          <a:xfrm>
            <a:off x="260604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operator vs threshold</a:t>
            </a:r>
            <a:endParaRPr lang="en-US" sz="1200" dirty="0"/>
          </a:p>
        </p:txBody>
      </p:sp>
      <p:sp>
        <p:nvSpPr>
          <p:cNvPr id="11" name="Text 9"/>
          <p:cNvSpPr txBox="1"/>
          <p:nvPr/>
        </p:nvSpPr>
        <p:spPr>
          <a:xfrm>
            <a:off x="438912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2" name="step-3"/>
          <p:cNvSpPr/>
          <p:nvPr/>
        </p:nvSpPr>
        <p:spPr>
          <a:xfrm>
            <a:off x="4754880" y="1737360"/>
            <a:ext cx="1783080" cy="1188720"/>
          </a:xfrm>
          <a:prstGeom prst="roundRect">
            <a:avLst>
              <a:gd name="adj" fmla="val 6154"/>
            </a:avLst>
          </a:prstGeom>
          <a:solidFill>
            <a:srgbClr val="EEF2F8"/>
          </a:solidFill>
          <a:ln w="12700">
            <a:solidFill>
              <a:srgbClr val="C9D3E0"/>
            </a:solidFill>
            <a:prstDash val="solid"/>
          </a:ln>
        </p:spPr>
      </p:sp>
      <p:sp>
        <p:nvSpPr>
          <p:cNvPr id="13" name="Text 11"/>
          <p:cNvSpPr txBox="1"/>
          <p:nvPr/>
        </p:nvSpPr>
        <p:spPr>
          <a:xfrm>
            <a:off x="484632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Alert</a:t>
            </a:r>
            <a:endParaRPr lang="en-US" sz="1800" dirty="0"/>
          </a:p>
        </p:txBody>
      </p:sp>
      <p:sp>
        <p:nvSpPr>
          <p:cNvPr id="14" name="Text 12"/>
          <p:cNvSpPr txBox="1"/>
          <p:nvPr/>
        </p:nvSpPr>
        <p:spPr>
          <a:xfrm>
            <a:off x="475488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OPEN → ACK → RESOLVED</a:t>
            </a:r>
            <a:endParaRPr lang="en-US" sz="1200" dirty="0"/>
          </a:p>
        </p:txBody>
      </p:sp>
      <p:sp>
        <p:nvSpPr>
          <p:cNvPr id="15" name="Text 13"/>
          <p:cNvSpPr txBox="1"/>
          <p:nvPr/>
        </p:nvSpPr>
        <p:spPr>
          <a:xfrm>
            <a:off x="653796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6" name="step-4"/>
          <p:cNvSpPr/>
          <p:nvPr/>
        </p:nvSpPr>
        <p:spPr>
          <a:xfrm>
            <a:off x="6903720" y="1737360"/>
            <a:ext cx="1783080" cy="1188720"/>
          </a:xfrm>
          <a:prstGeom prst="roundRect">
            <a:avLst>
              <a:gd name="adj" fmla="val 6154"/>
            </a:avLst>
          </a:prstGeom>
          <a:solidFill>
            <a:srgbClr val="EEF2F8"/>
          </a:solidFill>
          <a:ln w="12700">
            <a:solidFill>
              <a:srgbClr val="C9D3E0"/>
            </a:solidFill>
            <a:prstDash val="solid"/>
          </a:ln>
        </p:spPr>
      </p:sp>
      <p:sp>
        <p:nvSpPr>
          <p:cNvPr id="17" name="Text 15"/>
          <p:cNvSpPr txBox="1"/>
          <p:nvPr/>
        </p:nvSpPr>
        <p:spPr>
          <a:xfrm>
            <a:off x="699516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RabbitMQ</a:t>
            </a:r>
            <a:endParaRPr lang="en-US" sz="1800" dirty="0"/>
          </a:p>
        </p:txBody>
      </p:sp>
      <p:sp>
        <p:nvSpPr>
          <p:cNvPr id="18" name="Text 16"/>
          <p:cNvSpPr txBox="1"/>
          <p:nvPr/>
        </p:nvSpPr>
        <p:spPr>
          <a:xfrm>
            <a:off x="690372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alert.opened.v1</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Key implementation details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640080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was built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Rules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5 operators, 4 severities, per asset or global</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De-duplication</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One OPEN alert per rule and asset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Event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monitoring.alert.opened.v1 on reoagms.events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History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Filter by facility, asset, sensor, metric, time window</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Dashboard</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Counts by status, severity and device state; Redis cache 10 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Interfaces and integration</a:t>
            </a:r>
            <a:endParaRPr lang="en-US" sz="3000" dirty="0"/>
          </a:p>
        </p:txBody>
      </p:sp>
      <p:sp>
        <p:nvSpPr>
          <p:cNvPr id="4" name="Shape 2"/>
          <p:cNvSpPr/>
          <p:nvPr/>
        </p:nvSpPr>
        <p:spPr>
          <a:xfrm>
            <a:off x="457200" y="1325880"/>
            <a:ext cx="4023360" cy="2834640"/>
          </a:xfrm>
          <a:prstGeom prst="roundRect">
            <a:avLst>
              <a:gd name="adj" fmla="val 2581"/>
            </a:avLst>
          </a:prstGeom>
          <a:solidFill>
            <a:srgbClr val="EEF2F8"/>
          </a:solidFill>
          <a:ln w="9525">
            <a:solidFill>
              <a:srgbClr val="C9D3E0"/>
            </a:solidFill>
            <a:prstDash val="solid"/>
          </a:ln>
        </p:spPr>
      </p:sp>
      <p:sp>
        <p:nvSpPr>
          <p:cNvPr id="5" name="Text 3"/>
          <p:cNvSpPr txBox="1"/>
          <p:nvPr/>
        </p:nvSpPr>
        <p:spPr>
          <a:xfrm>
            <a:off x="68580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Interfaces</a:t>
            </a:r>
            <a:endParaRPr lang="en-US" sz="1800" dirty="0"/>
          </a:p>
        </p:txBody>
      </p:sp>
      <p:sp>
        <p:nvSpPr>
          <p:cNvPr id="6" name="Text 4"/>
          <p:cNvSpPr txBox="1"/>
          <p:nvPr/>
        </p:nvSpPr>
        <p:spPr>
          <a:xfrm>
            <a:off x="68580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/api/v1/sensor-readings, /telemetry</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/api/v1/alerts, /alert-rules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/api/v1/dashboard/summary</a:t>
            </a:r>
            <a:endParaRPr lang="en-US" sz="1500" dirty="0"/>
          </a:p>
        </p:txBody>
      </p:sp>
      <p:sp>
        <p:nvSpPr>
          <p:cNvPr id="7" name="Shape 5"/>
          <p:cNvSpPr/>
          <p:nvPr/>
        </p:nvSpPr>
        <p:spPr>
          <a:xfrm>
            <a:off x="4663440" y="1325880"/>
            <a:ext cx="4023360" cy="2834640"/>
          </a:xfrm>
          <a:prstGeom prst="roundRect">
            <a:avLst>
              <a:gd name="adj" fmla="val 2581"/>
            </a:avLst>
          </a:prstGeom>
          <a:solidFill>
            <a:srgbClr val="EEF2F8"/>
          </a:solidFill>
          <a:ln w="9525">
            <a:solidFill>
              <a:srgbClr val="C9D3E0"/>
            </a:solidFill>
            <a:prstDash val="solid"/>
          </a:ln>
        </p:spPr>
      </p:sp>
      <p:sp>
        <p:nvSpPr>
          <p:cNvPr id="8" name="Text 6"/>
          <p:cNvSpPr txBox="1"/>
          <p:nvPr/>
        </p:nvSpPr>
        <p:spPr>
          <a:xfrm>
            <a:off x="489204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Connections</a:t>
            </a:r>
            <a:endParaRPr lang="en-US" sz="1800" dirty="0"/>
          </a:p>
        </p:txBody>
      </p:sp>
      <p:sp>
        <p:nvSpPr>
          <p:cNvPr id="9" name="Text 7"/>
          <p:cNvSpPr txBox="1"/>
          <p:nvPr/>
        </p:nvSpPr>
        <p:spPr>
          <a:xfrm>
            <a:off x="489204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Publishes AlertEvent v1 (schemaVersion, alertId, assetId, severity, value, threshold)</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Consumed by Notification and Maintenance</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Cache falls back to PostgreSQL if Redis is down</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Evidence from the running system</a:t>
            </a:r>
            <a:endParaRPr lang="en-US" sz="3000" dirty="0"/>
          </a:p>
        </p:txBody>
      </p:sp>
      <p:sp>
        <p:nvSpPr>
          <p:cNvPr id="4" name="Shape 2"/>
          <p:cNvSpPr/>
          <p:nvPr/>
        </p:nvSpPr>
        <p:spPr>
          <a:xfrm>
            <a:off x="45720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457200" y="1508760"/>
            <a:ext cx="2560320" cy="822960"/>
          </a:xfrm>
          <a:prstGeom prst="rect">
            <a:avLst/>
          </a:prstGeom>
          <a:noFill/>
          <a:ln/>
        </p:spPr>
        <p:txBody>
          <a:bodyPr wrap="square" lIns="0" tIns="0" rIns="0" bIns="0" rtlCol="0" anchor="ctr"/>
          <a:lstStyle/>
          <a:p>
            <a:pPr algn="ctr" indent="0" marL="0">
              <a:buNone/>
            </a:pPr>
            <a:r>
              <a:rPr lang="en-US" sz="3000" b="1" dirty="0">
                <a:solidFill>
                  <a:srgbClr val="1B2A49"/>
                </a:solidFill>
                <a:latin typeface="Cambria" pitchFamily="34" charset="0"/>
                <a:ea typeface="Cambria" pitchFamily="34" charset="-122"/>
                <a:cs typeface="Cambria" pitchFamily="34" charset="-120"/>
              </a:rPr>
              <a:t>16,000+</a:t>
            </a:r>
            <a:endParaRPr lang="en-US" sz="3000" dirty="0"/>
          </a:p>
        </p:txBody>
      </p:sp>
      <p:sp>
        <p:nvSpPr>
          <p:cNvPr id="6" name="Text 4"/>
          <p:cNvSpPr txBox="1"/>
          <p:nvPr/>
        </p:nvSpPr>
        <p:spPr>
          <a:xfrm>
            <a:off x="59436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readings stored in monitoring_db</a:t>
            </a:r>
            <a:endParaRPr lang="en-US" sz="1400" dirty="0"/>
          </a:p>
        </p:txBody>
      </p:sp>
      <p:sp>
        <p:nvSpPr>
          <p:cNvPr id="7" name="Shape 5"/>
          <p:cNvSpPr/>
          <p:nvPr/>
        </p:nvSpPr>
        <p:spPr>
          <a:xfrm>
            <a:off x="329184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29184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7</a:t>
            </a:r>
            <a:endParaRPr lang="en-US" sz="4000" dirty="0"/>
          </a:p>
        </p:txBody>
      </p:sp>
      <p:sp>
        <p:nvSpPr>
          <p:cNvPr id="9" name="Text 7"/>
          <p:cNvSpPr txBox="1"/>
          <p:nvPr/>
        </p:nvSpPr>
        <p:spPr>
          <a:xfrm>
            <a:off x="342900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seeded detection rules</a:t>
            </a:r>
            <a:endParaRPr lang="en-US" sz="1400" dirty="0"/>
          </a:p>
        </p:txBody>
      </p:sp>
      <p:sp>
        <p:nvSpPr>
          <p:cNvPr id="10" name="Shape 8"/>
          <p:cNvSpPr/>
          <p:nvPr/>
        </p:nvSpPr>
        <p:spPr>
          <a:xfrm>
            <a:off x="612648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612648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11</a:t>
            </a:r>
            <a:endParaRPr lang="en-US" sz="4000" dirty="0"/>
          </a:p>
        </p:txBody>
      </p:sp>
      <p:sp>
        <p:nvSpPr>
          <p:cNvPr id="12" name="Text 10"/>
          <p:cNvSpPr txBox="1"/>
          <p:nvPr/>
        </p:nvSpPr>
        <p:spPr>
          <a:xfrm>
            <a:off x="626364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unit test methods</a:t>
            </a:r>
            <a:endParaRPr lang="en-US" sz="1400" dirty="0"/>
          </a:p>
        </p:txBody>
      </p:sp>
      <p:sp>
        <p:nvSpPr>
          <p:cNvPr id="13" name="Text 11"/>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600" i="1" dirty="0">
                <a:solidFill>
                  <a:srgbClr val="22304A"/>
                </a:solidFill>
                <a:latin typeface="Calibri" pitchFamily="34" charset="0"/>
                <a:ea typeface="Calibri" pitchFamily="34" charset="-122"/>
                <a:cs typeface="Calibri" pitchFamily="34" charset="-120"/>
              </a:rPr>
              <a:t>Device health uses the latest heartbeat of every asset, and dashboard answers are cached for 10 s in Redis.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SUMMARY</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Live demo and takeaways</a:t>
            </a:r>
            <a:endParaRPr lang="en-US" sz="3000" dirty="0"/>
          </a:p>
        </p:txBody>
      </p:sp>
      <p:sp>
        <p:nvSpPr>
          <p:cNvPr id="4" name="Text 2"/>
          <p:cNvSpPr txBox="1"/>
          <p:nvPr/>
        </p:nvSpPr>
        <p:spPr>
          <a:xfrm>
            <a:off x="457200" y="1280160"/>
            <a:ext cx="39319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Demo steps</a:t>
            </a:r>
            <a:endParaRPr lang="en-US" sz="1800" dirty="0"/>
          </a:p>
        </p:txBody>
      </p:sp>
      <p:sp>
        <p:nvSpPr>
          <p:cNvPr id="5" name="Text 3"/>
          <p:cNvSpPr txBox="1"/>
          <p:nvPr/>
        </p:nvSpPr>
        <p:spPr>
          <a:xfrm>
            <a:off x="457200" y="1691640"/>
            <a:ext cx="393192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Live monitoring: sensor tiles and threshold line</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A fault is injected by the simulator</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Alert appears instantly via STOMP</a:t>
            </a:r>
            <a:endParaRPr lang="en-US" sz="1600" dirty="0"/>
          </a:p>
        </p:txBody>
      </p:sp>
      <p:sp>
        <p:nvSpPr>
          <p:cNvPr id="6" name="Shape 4"/>
          <p:cNvSpPr/>
          <p:nvPr/>
        </p:nvSpPr>
        <p:spPr>
          <a:xfrm>
            <a:off x="4754880" y="1280160"/>
            <a:ext cx="3931920" cy="2377440"/>
          </a:xfrm>
          <a:prstGeom prst="roundRect">
            <a:avLst>
              <a:gd name="adj" fmla="val 3077"/>
            </a:avLst>
          </a:prstGeom>
          <a:solidFill>
            <a:srgbClr val="EEF2F8"/>
          </a:solidFill>
          <a:ln w="9525">
            <a:solidFill>
              <a:srgbClr val="C9D3E0"/>
            </a:solidFill>
            <a:prstDash val="solid"/>
          </a:ln>
        </p:spPr>
      </p:sp>
      <p:sp>
        <p:nvSpPr>
          <p:cNvPr id="7" name="Text 5"/>
          <p:cNvSpPr txBox="1"/>
          <p:nvPr/>
        </p:nvSpPr>
        <p:spPr>
          <a:xfrm>
            <a:off x="4983480" y="1417320"/>
            <a:ext cx="34747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Key takeaways</a:t>
            </a:r>
            <a:endParaRPr lang="en-US" sz="1800" dirty="0"/>
          </a:p>
        </p:txBody>
      </p:sp>
      <p:sp>
        <p:nvSpPr>
          <p:cNvPr id="8" name="Text 6"/>
          <p:cNvSpPr txBox="1"/>
          <p:nvPr/>
        </p:nvSpPr>
        <p:spPr>
          <a:xfrm>
            <a:off x="4983480" y="1828800"/>
            <a:ext cx="347472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Rules are data, not code</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Events are versioned contracts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Dedup protects operators from alert floods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RENEWABLE ENERGY OPERATIONS, ASSET AND GRID MANAGEMENT SYSTEM</a:t>
            </a:r>
            <a:endParaRPr lang="en-US" sz="1200" dirty="0"/>
          </a:p>
        </p:txBody>
      </p:sp>
      <p:sp>
        <p:nvSpPr>
          <p:cNvPr id="3" name="Text 1"/>
          <p:cNvSpPr txBox="1"/>
          <p:nvPr/>
        </p:nvSpPr>
        <p:spPr>
          <a:xfrm>
            <a:off x="640080" y="1234440"/>
            <a:ext cx="7863840" cy="1463040"/>
          </a:xfrm>
          <a:prstGeom prst="rect">
            <a:avLst/>
          </a:prstGeom>
          <a:noFill/>
          <a:ln/>
        </p:spPr>
        <p:txBody>
          <a:bodyPr wrap="square" lIns="0" tIns="0" rIns="0" bIns="0" rtlCol="0" anchor="t"/>
          <a:lstStyle/>
          <a:p>
            <a:pPr indent="0" marL="0">
              <a:buNone/>
            </a:pPr>
            <a:r>
              <a:rPr lang="en-US" sz="3800" b="1" dirty="0">
                <a:solidFill>
                  <a:srgbClr val="1B2A49"/>
                </a:solidFill>
                <a:latin typeface="Cambria" pitchFamily="34" charset="0"/>
                <a:ea typeface="Cambria" pitchFamily="34" charset="-122"/>
                <a:cs typeface="Cambria" pitchFamily="34" charset="-120"/>
              </a:rPr>
              <a:t>Maintenance Service: Work Orders &amp; Field Crew</a:t>
            </a:r>
            <a:endParaRPr lang="en-US" sz="3800" dirty="0"/>
          </a:p>
        </p:txBody>
      </p:sp>
      <p:sp>
        <p:nvSpPr>
          <p:cNvPr id="4" name="Text 2"/>
          <p:cNvSpPr txBox="1"/>
          <p:nvPr/>
        </p:nvSpPr>
        <p:spPr>
          <a:xfrm>
            <a:off x="640080" y="3154680"/>
            <a:ext cx="7863840" cy="457200"/>
          </a:xfrm>
          <a:prstGeom prst="rect">
            <a:avLst/>
          </a:prstGeom>
          <a:noFill/>
          <a:ln/>
        </p:spPr>
        <p:txBody>
          <a:bodyPr wrap="square" lIns="0" tIns="0" rIns="0" bIns="0" rtlCol="0" anchor="ctr"/>
          <a:lstStyle/>
          <a:p>
            <a:pPr indent="0" marL="0">
              <a:buNone/>
            </a:pPr>
            <a:r>
              <a:rPr lang="en-US" sz="2400" b="1" dirty="0">
                <a:solidFill>
                  <a:srgbClr val="22304A"/>
                </a:solidFill>
                <a:latin typeface="Calibri" pitchFamily="34" charset="0"/>
                <a:ea typeface="Calibri" pitchFamily="34" charset="-122"/>
                <a:cs typeface="Calibri" pitchFamily="34" charset="-120"/>
              </a:rPr>
              <a:t>Thurunu</a:t>
            </a:r>
            <a:endParaRPr lang="en-US" sz="2400" dirty="0"/>
          </a:p>
        </p:txBody>
      </p:sp>
      <p:sp>
        <p:nvSpPr>
          <p:cNvPr id="5" name="Text 3"/>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EC8208 Software Architecture · Continuous Assessment 01</a:t>
            </a:r>
            <a:endParaRPr lang="en-US" sz="1400" dirty="0"/>
          </a:p>
          <a:p>
            <a:pPr indent="0" marL="0">
              <a:buNone/>
            </a:pPr>
            <a:r>
              <a:rPr lang="en-US" sz="1400" dirty="0">
                <a:solidFill>
                  <a:srgbClr val="5B6B82"/>
                </a:solidFill>
                <a:latin typeface="Calibri" pitchFamily="34" charset="0"/>
                <a:ea typeface="Calibri" pitchFamily="34" charset="-122"/>
                <a:cs typeface="Calibri" pitchFamily="34" charset="-120"/>
              </a:rPr>
              <a:t>Department of Electrical and Information Engineering, University of Ruhuna</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RESPONSIBILITIES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Role and scope</a:t>
            </a:r>
            <a:endParaRPr lang="en-US" sz="3000" dirty="0"/>
          </a:p>
        </p:txBody>
      </p:sp>
      <p:sp>
        <p:nvSpPr>
          <p:cNvPr id="4" name="Text 2"/>
          <p:cNvSpPr txBox="1"/>
          <p:nvPr/>
        </p:nvSpPr>
        <p:spPr>
          <a:xfrm>
            <a:off x="457200" y="1325880"/>
            <a:ext cx="5212080" cy="32004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Work orders and maintenance tasks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Technician assignment and availability</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Preventive and corrective maintenance</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Maintenance history and summary reports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Automatic corrective orders from alerts</a:t>
            </a:r>
            <a:endParaRPr lang="en-US" sz="1600" dirty="0"/>
          </a:p>
        </p:txBody>
      </p:sp>
      <p:sp>
        <p:nvSpPr>
          <p:cNvPr id="5" name="Shape 3"/>
          <p:cNvSpPr/>
          <p:nvPr/>
        </p:nvSpPr>
        <p:spPr>
          <a:xfrm>
            <a:off x="5943600" y="1325880"/>
            <a:ext cx="2743200" cy="1453896"/>
          </a:xfrm>
          <a:prstGeom prst="roundRect">
            <a:avLst>
              <a:gd name="adj" fmla="val 5031"/>
            </a:avLst>
          </a:prstGeom>
          <a:solidFill>
            <a:srgbClr val="EEF2F8"/>
          </a:solidFill>
          <a:ln w="9525">
            <a:solidFill>
              <a:srgbClr val="C9D3E0"/>
            </a:solidFill>
            <a:prstDash val="solid"/>
          </a:ln>
        </p:spPr>
      </p:sp>
      <p:sp>
        <p:nvSpPr>
          <p:cNvPr id="6" name="Text 4"/>
          <p:cNvSpPr txBox="1"/>
          <p:nvPr/>
        </p:nvSpPr>
        <p:spPr>
          <a:xfrm>
            <a:off x="6126480" y="1463040"/>
            <a:ext cx="2377440" cy="274320"/>
          </a:xfrm>
          <a:prstGeom prst="rect">
            <a:avLst/>
          </a:prstGeom>
          <a:noFill/>
          <a:ln/>
        </p:spPr>
        <p:txBody>
          <a:bodyPr wrap="square" lIns="0" tIns="0" rIns="0" bIns="0" rtlCol="0" anchor="ctr"/>
          <a:lstStyle/>
          <a:p>
            <a:pPr indent="0" marL="0">
              <a:buNone/>
            </a:pPr>
            <a:r>
              <a:rPr lang="en-US" sz="1400" b="1" dirty="0">
                <a:solidFill>
                  <a:srgbClr val="3D5A80"/>
                </a:solidFill>
                <a:latin typeface="Calibri" pitchFamily="34" charset="0"/>
                <a:ea typeface="Calibri" pitchFamily="34" charset="-122"/>
                <a:cs typeface="Calibri" pitchFamily="34" charset="-120"/>
              </a:rPr>
              <a:t>Requirements covered</a:t>
            </a:r>
            <a:endParaRPr lang="en-US" sz="1400" dirty="0"/>
          </a:p>
        </p:txBody>
      </p:sp>
      <p:sp>
        <p:nvSpPr>
          <p:cNvPr id="7" name="Text 5"/>
          <p:cNvSpPr txBox="1"/>
          <p:nvPr/>
        </p:nvSpPr>
        <p:spPr>
          <a:xfrm>
            <a:off x="6126480" y="1828800"/>
            <a:ext cx="2377440" cy="768096"/>
          </a:xfrm>
          <a:prstGeom prst="rect">
            <a:avLst/>
          </a:prstGeom>
          <a:noFill/>
          <a:ln/>
        </p:spPr>
        <p:txBody>
          <a:bodyPr wrap="square" lIns="0" tIns="0" rIns="0" bIns="0" rtlCol="0" anchor="t"/>
          <a:lstStyle/>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FR-11</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FR-12</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Work-order lifecycle</a:t>
            </a:r>
            <a:endParaRPr lang="en-US" sz="3000" dirty="0"/>
          </a:p>
        </p:txBody>
      </p:sp>
      <p:sp>
        <p:nvSpPr>
          <p:cNvPr id="4" name="step-1"/>
          <p:cNvSpPr/>
          <p:nvPr/>
        </p:nvSpPr>
        <p:spPr>
          <a:xfrm>
            <a:off x="457200" y="1737360"/>
            <a:ext cx="1783080" cy="1188720"/>
          </a:xfrm>
          <a:prstGeom prst="roundRect">
            <a:avLst>
              <a:gd name="adj" fmla="val 6154"/>
            </a:avLst>
          </a:prstGeom>
          <a:solidFill>
            <a:srgbClr val="1B2A49"/>
          </a:solidFill>
          <a:ln w="12700">
            <a:solidFill>
              <a:srgbClr val="1B2A49"/>
            </a:solidFill>
            <a:prstDash val="solid"/>
          </a:ln>
        </p:spPr>
      </p:sp>
      <p:sp>
        <p:nvSpPr>
          <p:cNvPr id="5" name="Text 3"/>
          <p:cNvSpPr txBox="1"/>
          <p:nvPr/>
        </p:nvSpPr>
        <p:spPr>
          <a:xfrm>
            <a:off x="548640" y="1783080"/>
            <a:ext cx="1600200" cy="10972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Alert event</a:t>
            </a:r>
            <a:endParaRPr lang="en-US" sz="1800" dirty="0"/>
          </a:p>
        </p:txBody>
      </p:sp>
      <p:sp>
        <p:nvSpPr>
          <p:cNvPr id="6" name="Text 4"/>
          <p:cNvSpPr txBox="1"/>
          <p:nvPr/>
        </p:nvSpPr>
        <p:spPr>
          <a:xfrm>
            <a:off x="45720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HIGH or CRITICAL</a:t>
            </a:r>
            <a:endParaRPr lang="en-US" sz="1200" dirty="0"/>
          </a:p>
        </p:txBody>
      </p:sp>
      <p:sp>
        <p:nvSpPr>
          <p:cNvPr id="7" name="Text 5"/>
          <p:cNvSpPr txBox="1"/>
          <p:nvPr/>
        </p:nvSpPr>
        <p:spPr>
          <a:xfrm>
            <a:off x="224028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8" name="step-2"/>
          <p:cNvSpPr/>
          <p:nvPr/>
        </p:nvSpPr>
        <p:spPr>
          <a:xfrm>
            <a:off x="2606040" y="1737360"/>
            <a:ext cx="1783080" cy="1188720"/>
          </a:xfrm>
          <a:prstGeom prst="roundRect">
            <a:avLst>
              <a:gd name="adj" fmla="val 6154"/>
            </a:avLst>
          </a:prstGeom>
          <a:solidFill>
            <a:srgbClr val="EEF2F8"/>
          </a:solidFill>
          <a:ln w="12700">
            <a:solidFill>
              <a:srgbClr val="C9D3E0"/>
            </a:solidFill>
            <a:prstDash val="solid"/>
          </a:ln>
        </p:spPr>
      </p:sp>
      <p:sp>
        <p:nvSpPr>
          <p:cNvPr id="9" name="Text 7"/>
          <p:cNvSpPr txBox="1"/>
          <p:nvPr/>
        </p:nvSpPr>
        <p:spPr>
          <a:xfrm>
            <a:off x="269748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Work order</a:t>
            </a:r>
            <a:endParaRPr lang="en-US" sz="1800" dirty="0"/>
          </a:p>
        </p:txBody>
      </p:sp>
      <p:sp>
        <p:nvSpPr>
          <p:cNvPr id="10" name="Text 8"/>
          <p:cNvSpPr txBox="1"/>
          <p:nvPr/>
        </p:nvSpPr>
        <p:spPr>
          <a:xfrm>
            <a:off x="260604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status CREATED</a:t>
            </a:r>
            <a:endParaRPr lang="en-US" sz="1200" dirty="0"/>
          </a:p>
        </p:txBody>
      </p:sp>
      <p:sp>
        <p:nvSpPr>
          <p:cNvPr id="11" name="Text 9"/>
          <p:cNvSpPr txBox="1"/>
          <p:nvPr/>
        </p:nvSpPr>
        <p:spPr>
          <a:xfrm>
            <a:off x="438912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2" name="step-3"/>
          <p:cNvSpPr/>
          <p:nvPr/>
        </p:nvSpPr>
        <p:spPr>
          <a:xfrm>
            <a:off x="4754880" y="1737360"/>
            <a:ext cx="1783080" cy="1188720"/>
          </a:xfrm>
          <a:prstGeom prst="roundRect">
            <a:avLst>
              <a:gd name="adj" fmla="val 6154"/>
            </a:avLst>
          </a:prstGeom>
          <a:solidFill>
            <a:srgbClr val="EEF2F8"/>
          </a:solidFill>
          <a:ln w="12700">
            <a:solidFill>
              <a:srgbClr val="C9D3E0"/>
            </a:solidFill>
            <a:prstDash val="solid"/>
          </a:ln>
        </p:spPr>
      </p:sp>
      <p:sp>
        <p:nvSpPr>
          <p:cNvPr id="13" name="Text 11"/>
          <p:cNvSpPr txBox="1"/>
          <p:nvPr/>
        </p:nvSpPr>
        <p:spPr>
          <a:xfrm>
            <a:off x="484632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Assigned → In progress</a:t>
            </a:r>
            <a:endParaRPr lang="en-US" sz="1800" dirty="0"/>
          </a:p>
        </p:txBody>
      </p:sp>
      <p:sp>
        <p:nvSpPr>
          <p:cNvPr id="14" name="Text 12"/>
          <p:cNvSpPr txBox="1"/>
          <p:nvPr/>
        </p:nvSpPr>
        <p:spPr>
          <a:xfrm>
            <a:off x="475488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technician + start</a:t>
            </a:r>
            <a:endParaRPr lang="en-US" sz="1200" dirty="0"/>
          </a:p>
        </p:txBody>
      </p:sp>
      <p:sp>
        <p:nvSpPr>
          <p:cNvPr id="15" name="Text 13"/>
          <p:cNvSpPr txBox="1"/>
          <p:nvPr/>
        </p:nvSpPr>
        <p:spPr>
          <a:xfrm>
            <a:off x="653796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6" name="step-4"/>
          <p:cNvSpPr/>
          <p:nvPr/>
        </p:nvSpPr>
        <p:spPr>
          <a:xfrm>
            <a:off x="6903720" y="1737360"/>
            <a:ext cx="1783080" cy="1188720"/>
          </a:xfrm>
          <a:prstGeom prst="roundRect">
            <a:avLst>
              <a:gd name="adj" fmla="val 6154"/>
            </a:avLst>
          </a:prstGeom>
          <a:solidFill>
            <a:srgbClr val="EEF2F8"/>
          </a:solidFill>
          <a:ln w="12700">
            <a:solidFill>
              <a:srgbClr val="C9D3E0"/>
            </a:solidFill>
            <a:prstDash val="solid"/>
          </a:ln>
        </p:spPr>
      </p:sp>
      <p:sp>
        <p:nvSpPr>
          <p:cNvPr id="17" name="Text 15"/>
          <p:cNvSpPr txBox="1"/>
          <p:nvPr/>
        </p:nvSpPr>
        <p:spPr>
          <a:xfrm>
            <a:off x="699516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Completed</a:t>
            </a:r>
            <a:endParaRPr lang="en-US" sz="1800" dirty="0"/>
          </a:p>
        </p:txBody>
      </p:sp>
      <p:sp>
        <p:nvSpPr>
          <p:cNvPr id="18" name="Text 16"/>
          <p:cNvSpPr txBox="1"/>
          <p:nvPr/>
        </p:nvSpPr>
        <p:spPr>
          <a:xfrm>
            <a:off x="690372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history record</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Key implementation details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640080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was built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Work order</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CREATED → ASSIGNED → IN_PROGRESS → COMPLETED or CANCELLED</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Task</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PENDING, IN_PROGRESS, COMPLETED with start and complete</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Technician</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Specialisation and availability (available, busy, off duty)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Types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PREVENTIVE and CORRECTIVE</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History and reports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Per-asset history; /maintenance-reports/summary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Interfaces and integration</a:t>
            </a:r>
            <a:endParaRPr lang="en-US" sz="3000" dirty="0"/>
          </a:p>
        </p:txBody>
      </p:sp>
      <p:sp>
        <p:nvSpPr>
          <p:cNvPr id="4" name="Shape 2"/>
          <p:cNvSpPr/>
          <p:nvPr/>
        </p:nvSpPr>
        <p:spPr>
          <a:xfrm>
            <a:off x="457200" y="1325880"/>
            <a:ext cx="4023360" cy="2834640"/>
          </a:xfrm>
          <a:prstGeom prst="roundRect">
            <a:avLst>
              <a:gd name="adj" fmla="val 2581"/>
            </a:avLst>
          </a:prstGeom>
          <a:solidFill>
            <a:srgbClr val="EEF2F8"/>
          </a:solidFill>
          <a:ln w="9525">
            <a:solidFill>
              <a:srgbClr val="C9D3E0"/>
            </a:solidFill>
            <a:prstDash val="solid"/>
          </a:ln>
        </p:spPr>
      </p:sp>
      <p:sp>
        <p:nvSpPr>
          <p:cNvPr id="5" name="Text 3"/>
          <p:cNvSpPr txBox="1"/>
          <p:nvPr/>
        </p:nvSpPr>
        <p:spPr>
          <a:xfrm>
            <a:off x="68580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Interfaces</a:t>
            </a:r>
            <a:endParaRPr lang="en-US" sz="1800" dirty="0"/>
          </a:p>
        </p:txBody>
      </p:sp>
      <p:sp>
        <p:nvSpPr>
          <p:cNvPr id="6" name="Text 4"/>
          <p:cNvSpPr txBox="1"/>
          <p:nvPr/>
        </p:nvSpPr>
        <p:spPr>
          <a:xfrm>
            <a:off x="68580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/api/v1/work-orders (assign, start, complete)</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/api/v1/maintenance-tasks, /technicians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/api/v1/maintenance-history</a:t>
            </a:r>
            <a:endParaRPr lang="en-US" sz="1500" dirty="0"/>
          </a:p>
        </p:txBody>
      </p:sp>
      <p:sp>
        <p:nvSpPr>
          <p:cNvPr id="7" name="Shape 5"/>
          <p:cNvSpPr/>
          <p:nvPr/>
        </p:nvSpPr>
        <p:spPr>
          <a:xfrm>
            <a:off x="4663440" y="1325880"/>
            <a:ext cx="4023360" cy="2834640"/>
          </a:xfrm>
          <a:prstGeom prst="roundRect">
            <a:avLst>
              <a:gd name="adj" fmla="val 2581"/>
            </a:avLst>
          </a:prstGeom>
          <a:solidFill>
            <a:srgbClr val="EEF2F8"/>
          </a:solidFill>
          <a:ln w="9525">
            <a:solidFill>
              <a:srgbClr val="C9D3E0"/>
            </a:solidFill>
            <a:prstDash val="solid"/>
          </a:ln>
        </p:spPr>
      </p:sp>
      <p:sp>
        <p:nvSpPr>
          <p:cNvPr id="8" name="Text 6"/>
          <p:cNvSpPr txBox="1"/>
          <p:nvPr/>
        </p:nvSpPr>
        <p:spPr>
          <a:xfrm>
            <a:off x="489204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Connections</a:t>
            </a:r>
            <a:endParaRPr lang="en-US" sz="1800" dirty="0"/>
          </a:p>
        </p:txBody>
      </p:sp>
      <p:sp>
        <p:nvSpPr>
          <p:cNvPr id="9" name="Text 7"/>
          <p:cNvSpPr txBox="1"/>
          <p:nvPr/>
        </p:nvSpPr>
        <p:spPr>
          <a:xfrm>
            <a:off x="489204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Consumes queue maintenance.alert-opened.v1</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Skips an asset that already has an active corrective order</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Idempotent: alert id is stored in the description</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Evidence from the running system</a:t>
            </a:r>
            <a:endParaRPr lang="en-US" sz="3000" dirty="0"/>
          </a:p>
        </p:txBody>
      </p:sp>
      <p:sp>
        <p:nvSpPr>
          <p:cNvPr id="4" name="Shape 2"/>
          <p:cNvSpPr/>
          <p:nvPr/>
        </p:nvSpPr>
        <p:spPr>
          <a:xfrm>
            <a:off x="45720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45720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14</a:t>
            </a:r>
            <a:endParaRPr lang="en-US" sz="4000" dirty="0"/>
          </a:p>
        </p:txBody>
      </p:sp>
      <p:sp>
        <p:nvSpPr>
          <p:cNvPr id="6" name="Text 4"/>
          <p:cNvSpPr txBox="1"/>
          <p:nvPr/>
        </p:nvSpPr>
        <p:spPr>
          <a:xfrm>
            <a:off x="59436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work orders in the database</a:t>
            </a:r>
            <a:endParaRPr lang="en-US" sz="1400" dirty="0"/>
          </a:p>
        </p:txBody>
      </p:sp>
      <p:sp>
        <p:nvSpPr>
          <p:cNvPr id="7" name="Shape 5"/>
          <p:cNvSpPr/>
          <p:nvPr/>
        </p:nvSpPr>
        <p:spPr>
          <a:xfrm>
            <a:off x="329184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29184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4</a:t>
            </a:r>
            <a:endParaRPr lang="en-US" sz="4000" dirty="0"/>
          </a:p>
        </p:txBody>
      </p:sp>
      <p:sp>
        <p:nvSpPr>
          <p:cNvPr id="9" name="Text 7"/>
          <p:cNvSpPr txBox="1"/>
          <p:nvPr/>
        </p:nvSpPr>
        <p:spPr>
          <a:xfrm>
            <a:off x="342900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technicians</a:t>
            </a:r>
            <a:endParaRPr lang="en-US" sz="1400" dirty="0"/>
          </a:p>
        </p:txBody>
      </p:sp>
      <p:sp>
        <p:nvSpPr>
          <p:cNvPr id="10" name="Shape 8"/>
          <p:cNvSpPr/>
          <p:nvPr/>
        </p:nvSpPr>
        <p:spPr>
          <a:xfrm>
            <a:off x="612648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612648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626364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completed jobs in history</a:t>
            </a:r>
            <a:endParaRPr lang="en-US" sz="1400" dirty="0"/>
          </a:p>
        </p:txBody>
      </p:sp>
      <p:sp>
        <p:nvSpPr>
          <p:cNvPr id="13" name="Text 11"/>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600" i="1" dirty="0">
                <a:solidFill>
                  <a:srgbClr val="22304A"/>
                </a:solidFill>
                <a:latin typeface="Calibri" pitchFamily="34" charset="0"/>
                <a:ea typeface="Calibri" pitchFamily="34" charset="-122"/>
                <a:cs typeface="Calibri" pitchFamily="34" charset="-120"/>
              </a:rPr>
              <a:t>Auto-creation verified end to end: a CRITICAL temperature alert produced a CORRECTIVE order within seconds.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SUMMARY</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Live demo and takeaways</a:t>
            </a:r>
            <a:endParaRPr lang="en-US" sz="3000" dirty="0"/>
          </a:p>
        </p:txBody>
      </p:sp>
      <p:sp>
        <p:nvSpPr>
          <p:cNvPr id="4" name="Text 2"/>
          <p:cNvSpPr txBox="1"/>
          <p:nvPr/>
        </p:nvSpPr>
        <p:spPr>
          <a:xfrm>
            <a:off x="457200" y="1280160"/>
            <a:ext cx="39319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Demo steps</a:t>
            </a:r>
            <a:endParaRPr lang="en-US" sz="1800" dirty="0"/>
          </a:p>
        </p:txBody>
      </p:sp>
      <p:sp>
        <p:nvSpPr>
          <p:cNvPr id="5" name="Text 3"/>
          <p:cNvSpPr txBox="1"/>
          <p:nvPr/>
        </p:nvSpPr>
        <p:spPr>
          <a:xfrm>
            <a:off x="457200" y="1691640"/>
            <a:ext cx="393192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Maintenance board: auto-created order</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Assign a technician</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Start, then complete</a:t>
            </a:r>
            <a:endParaRPr lang="en-US" sz="1600" dirty="0"/>
          </a:p>
        </p:txBody>
      </p:sp>
      <p:sp>
        <p:nvSpPr>
          <p:cNvPr id="6" name="Shape 4"/>
          <p:cNvSpPr/>
          <p:nvPr/>
        </p:nvSpPr>
        <p:spPr>
          <a:xfrm>
            <a:off x="4754880" y="1280160"/>
            <a:ext cx="3931920" cy="2377440"/>
          </a:xfrm>
          <a:prstGeom prst="roundRect">
            <a:avLst>
              <a:gd name="adj" fmla="val 3077"/>
            </a:avLst>
          </a:prstGeom>
          <a:solidFill>
            <a:srgbClr val="EEF2F8"/>
          </a:solidFill>
          <a:ln w="9525">
            <a:solidFill>
              <a:srgbClr val="C9D3E0"/>
            </a:solidFill>
            <a:prstDash val="solid"/>
          </a:ln>
        </p:spPr>
      </p:sp>
      <p:sp>
        <p:nvSpPr>
          <p:cNvPr id="7" name="Text 5"/>
          <p:cNvSpPr txBox="1"/>
          <p:nvPr/>
        </p:nvSpPr>
        <p:spPr>
          <a:xfrm>
            <a:off x="4983480" y="1417320"/>
            <a:ext cx="34747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Key takeaways</a:t>
            </a:r>
            <a:endParaRPr lang="en-US" sz="1800" dirty="0"/>
          </a:p>
        </p:txBody>
      </p:sp>
      <p:sp>
        <p:nvSpPr>
          <p:cNvPr id="8" name="Text 6"/>
          <p:cNvSpPr txBox="1"/>
          <p:nvPr/>
        </p:nvSpPr>
        <p:spPr>
          <a:xfrm>
            <a:off x="4983480" y="1828800"/>
            <a:ext cx="347472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Faults become actionable work automatically</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One active corrective order per asset</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History keeps a full record of maintenance</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RENEWABLE ENERGY OPERATIONS, ASSET AND GRID MANAGEMENT SYSTEM</a:t>
            </a:r>
            <a:endParaRPr lang="en-US" sz="1200" dirty="0"/>
          </a:p>
        </p:txBody>
      </p:sp>
      <p:sp>
        <p:nvSpPr>
          <p:cNvPr id="3" name="Text 1"/>
          <p:cNvSpPr txBox="1"/>
          <p:nvPr/>
        </p:nvSpPr>
        <p:spPr>
          <a:xfrm>
            <a:off x="640080" y="1234440"/>
            <a:ext cx="7863840" cy="1463040"/>
          </a:xfrm>
          <a:prstGeom prst="rect">
            <a:avLst/>
          </a:prstGeom>
          <a:noFill/>
          <a:ln/>
        </p:spPr>
        <p:txBody>
          <a:bodyPr wrap="square" lIns="0" tIns="0" rIns="0" bIns="0" rtlCol="0" anchor="t"/>
          <a:lstStyle/>
          <a:p>
            <a:pPr indent="0" marL="0">
              <a:buNone/>
            </a:pPr>
            <a:r>
              <a:rPr lang="en-US" sz="3800" b="1" dirty="0">
                <a:solidFill>
                  <a:srgbClr val="1B2A49"/>
                </a:solidFill>
                <a:latin typeface="Cambria" pitchFamily="34" charset="0"/>
                <a:ea typeface="Cambria" pitchFamily="34" charset="-122"/>
                <a:cs typeface="Cambria" pitchFamily="34" charset="-120"/>
              </a:rPr>
              <a:t>Notification Service: Alerts, Email &amp; Real-time Push</a:t>
            </a:r>
            <a:endParaRPr lang="en-US" sz="3800" dirty="0"/>
          </a:p>
        </p:txBody>
      </p:sp>
      <p:sp>
        <p:nvSpPr>
          <p:cNvPr id="4" name="Text 2"/>
          <p:cNvSpPr txBox="1"/>
          <p:nvPr/>
        </p:nvSpPr>
        <p:spPr>
          <a:xfrm>
            <a:off x="640080" y="3154680"/>
            <a:ext cx="7863840" cy="457200"/>
          </a:xfrm>
          <a:prstGeom prst="rect">
            <a:avLst/>
          </a:prstGeom>
          <a:noFill/>
          <a:ln/>
        </p:spPr>
        <p:txBody>
          <a:bodyPr wrap="square" lIns="0" tIns="0" rIns="0" bIns="0" rtlCol="0" anchor="ctr"/>
          <a:lstStyle/>
          <a:p>
            <a:pPr indent="0" marL="0">
              <a:buNone/>
            </a:pPr>
            <a:r>
              <a:rPr lang="en-US" sz="2400" b="1" dirty="0">
                <a:solidFill>
                  <a:srgbClr val="22304A"/>
                </a:solidFill>
                <a:latin typeface="Calibri" pitchFamily="34" charset="0"/>
                <a:ea typeface="Calibri" pitchFamily="34" charset="-122"/>
                <a:cs typeface="Calibri" pitchFamily="34" charset="-120"/>
              </a:rPr>
              <a:t>Yasiru</a:t>
            </a:r>
            <a:endParaRPr lang="en-US" sz="2400" dirty="0"/>
          </a:p>
        </p:txBody>
      </p:sp>
      <p:sp>
        <p:nvSpPr>
          <p:cNvPr id="5" name="Text 3"/>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EC8208 Software Architecture · Continuous Assessment 01</a:t>
            </a:r>
            <a:endParaRPr lang="en-US" sz="1400" dirty="0"/>
          </a:p>
          <a:p>
            <a:pPr indent="0" marL="0">
              <a:buNone/>
            </a:pPr>
            <a:r>
              <a:rPr lang="en-US" sz="1400" dirty="0">
                <a:solidFill>
                  <a:srgbClr val="5B6B82"/>
                </a:solidFill>
                <a:latin typeface="Calibri" pitchFamily="34" charset="0"/>
                <a:ea typeface="Calibri" pitchFamily="34" charset="-122"/>
                <a:cs typeface="Calibri" pitchFamily="34" charset="-120"/>
              </a:rPr>
              <a:t>Department of Electrical and Information Engineering, University of Ruhuna</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RESPONSIBILITIES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Role and scope</a:t>
            </a:r>
            <a:endParaRPr lang="en-US" sz="3000" dirty="0"/>
          </a:p>
        </p:txBody>
      </p:sp>
      <p:sp>
        <p:nvSpPr>
          <p:cNvPr id="4" name="Text 2"/>
          <p:cNvSpPr txBox="1"/>
          <p:nvPr/>
        </p:nvSpPr>
        <p:spPr>
          <a:xfrm>
            <a:off x="457200" y="1325880"/>
            <a:ext cx="5212080" cy="32004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Email and SMS notification channels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Email templates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Notification history</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Retry handling for failed deliveries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RabbitMQ alert consumer</a:t>
            </a:r>
            <a:endParaRPr lang="en-US" sz="1600" dirty="0"/>
          </a:p>
        </p:txBody>
      </p:sp>
      <p:sp>
        <p:nvSpPr>
          <p:cNvPr id="5" name="Shape 3"/>
          <p:cNvSpPr/>
          <p:nvPr/>
        </p:nvSpPr>
        <p:spPr>
          <a:xfrm>
            <a:off x="5943600" y="1325880"/>
            <a:ext cx="2743200" cy="1453896"/>
          </a:xfrm>
          <a:prstGeom prst="roundRect">
            <a:avLst>
              <a:gd name="adj" fmla="val 5031"/>
            </a:avLst>
          </a:prstGeom>
          <a:solidFill>
            <a:srgbClr val="EEF2F8"/>
          </a:solidFill>
          <a:ln w="9525">
            <a:solidFill>
              <a:srgbClr val="C9D3E0"/>
            </a:solidFill>
            <a:prstDash val="solid"/>
          </a:ln>
        </p:spPr>
      </p:sp>
      <p:sp>
        <p:nvSpPr>
          <p:cNvPr id="6" name="Text 4"/>
          <p:cNvSpPr txBox="1"/>
          <p:nvPr/>
        </p:nvSpPr>
        <p:spPr>
          <a:xfrm>
            <a:off x="6126480" y="1463040"/>
            <a:ext cx="2377440" cy="274320"/>
          </a:xfrm>
          <a:prstGeom prst="rect">
            <a:avLst/>
          </a:prstGeom>
          <a:noFill/>
          <a:ln/>
        </p:spPr>
        <p:txBody>
          <a:bodyPr wrap="square" lIns="0" tIns="0" rIns="0" bIns="0" rtlCol="0" anchor="ctr"/>
          <a:lstStyle/>
          <a:p>
            <a:pPr indent="0" marL="0">
              <a:buNone/>
            </a:pPr>
            <a:r>
              <a:rPr lang="en-US" sz="1400" b="1" dirty="0">
                <a:solidFill>
                  <a:srgbClr val="3D5A80"/>
                </a:solidFill>
                <a:latin typeface="Calibri" pitchFamily="34" charset="0"/>
                <a:ea typeface="Calibri" pitchFamily="34" charset="-122"/>
                <a:cs typeface="Calibri" pitchFamily="34" charset="-120"/>
              </a:rPr>
              <a:t>Requirements covered</a:t>
            </a:r>
            <a:endParaRPr lang="en-US" sz="1400" dirty="0"/>
          </a:p>
        </p:txBody>
      </p:sp>
      <p:sp>
        <p:nvSpPr>
          <p:cNvPr id="7" name="Text 5"/>
          <p:cNvSpPr txBox="1"/>
          <p:nvPr/>
        </p:nvSpPr>
        <p:spPr>
          <a:xfrm>
            <a:off x="6126480" y="1828800"/>
            <a:ext cx="2377440" cy="768096"/>
          </a:xfrm>
          <a:prstGeom prst="rect">
            <a:avLst/>
          </a:prstGeom>
          <a:noFill/>
          <a:ln/>
        </p:spPr>
        <p:txBody>
          <a:bodyPr wrap="square" lIns="0" tIns="0" rIns="0" bIns="0" rtlCol="0" anchor="t"/>
          <a:lstStyle/>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FR-14</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FR-15</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Alert delivery pipeline</a:t>
            </a:r>
            <a:endParaRPr lang="en-US" sz="3000" dirty="0"/>
          </a:p>
        </p:txBody>
      </p:sp>
      <p:sp>
        <p:nvSpPr>
          <p:cNvPr id="4" name="step-1"/>
          <p:cNvSpPr/>
          <p:nvPr/>
        </p:nvSpPr>
        <p:spPr>
          <a:xfrm>
            <a:off x="457200" y="1737360"/>
            <a:ext cx="1783080" cy="1188720"/>
          </a:xfrm>
          <a:prstGeom prst="roundRect">
            <a:avLst>
              <a:gd name="adj" fmla="val 6154"/>
            </a:avLst>
          </a:prstGeom>
          <a:solidFill>
            <a:srgbClr val="1B2A49"/>
          </a:solidFill>
          <a:ln w="12700">
            <a:solidFill>
              <a:srgbClr val="1B2A49"/>
            </a:solidFill>
            <a:prstDash val="solid"/>
          </a:ln>
        </p:spPr>
      </p:sp>
      <p:sp>
        <p:nvSpPr>
          <p:cNvPr id="5" name="Text 3"/>
          <p:cNvSpPr txBox="1"/>
          <p:nvPr/>
        </p:nvSpPr>
        <p:spPr>
          <a:xfrm>
            <a:off x="548640" y="1783080"/>
            <a:ext cx="1600200" cy="10972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RabbitMQ queue</a:t>
            </a:r>
            <a:endParaRPr lang="en-US" sz="1800" dirty="0"/>
          </a:p>
        </p:txBody>
      </p:sp>
      <p:sp>
        <p:nvSpPr>
          <p:cNvPr id="6" name="Text 4"/>
          <p:cNvSpPr txBox="1"/>
          <p:nvPr/>
        </p:nvSpPr>
        <p:spPr>
          <a:xfrm>
            <a:off x="45720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alert-opened queue</a:t>
            </a:r>
            <a:endParaRPr lang="en-US" sz="1200" dirty="0"/>
          </a:p>
        </p:txBody>
      </p:sp>
      <p:sp>
        <p:nvSpPr>
          <p:cNvPr id="7" name="Text 5"/>
          <p:cNvSpPr txBox="1"/>
          <p:nvPr/>
        </p:nvSpPr>
        <p:spPr>
          <a:xfrm>
            <a:off x="224028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8" name="step-2"/>
          <p:cNvSpPr/>
          <p:nvPr/>
        </p:nvSpPr>
        <p:spPr>
          <a:xfrm>
            <a:off x="2606040" y="1737360"/>
            <a:ext cx="1783080" cy="1188720"/>
          </a:xfrm>
          <a:prstGeom prst="roundRect">
            <a:avLst>
              <a:gd name="adj" fmla="val 6154"/>
            </a:avLst>
          </a:prstGeom>
          <a:solidFill>
            <a:srgbClr val="EEF2F8"/>
          </a:solidFill>
          <a:ln w="12700">
            <a:solidFill>
              <a:srgbClr val="C9D3E0"/>
            </a:solidFill>
            <a:prstDash val="solid"/>
          </a:ln>
        </p:spPr>
      </p:sp>
      <p:sp>
        <p:nvSpPr>
          <p:cNvPr id="9" name="Text 7"/>
          <p:cNvSpPr txBox="1"/>
          <p:nvPr/>
        </p:nvSpPr>
        <p:spPr>
          <a:xfrm>
            <a:off x="269748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Alert consumer</a:t>
            </a:r>
            <a:endParaRPr lang="en-US" sz="1800" dirty="0"/>
          </a:p>
        </p:txBody>
      </p:sp>
      <p:sp>
        <p:nvSpPr>
          <p:cNvPr id="10" name="Text 8"/>
          <p:cNvSpPr txBox="1"/>
          <p:nvPr/>
        </p:nvSpPr>
        <p:spPr>
          <a:xfrm>
            <a:off x="260604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schema check</a:t>
            </a:r>
            <a:endParaRPr lang="en-US" sz="1200" dirty="0"/>
          </a:p>
        </p:txBody>
      </p:sp>
      <p:sp>
        <p:nvSpPr>
          <p:cNvPr id="11" name="Text 9"/>
          <p:cNvSpPr txBox="1"/>
          <p:nvPr/>
        </p:nvSpPr>
        <p:spPr>
          <a:xfrm>
            <a:off x="438912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2" name="step-3"/>
          <p:cNvSpPr/>
          <p:nvPr/>
        </p:nvSpPr>
        <p:spPr>
          <a:xfrm>
            <a:off x="4754880" y="1737360"/>
            <a:ext cx="1783080" cy="1188720"/>
          </a:xfrm>
          <a:prstGeom prst="roundRect">
            <a:avLst>
              <a:gd name="adj" fmla="val 6154"/>
            </a:avLst>
          </a:prstGeom>
          <a:solidFill>
            <a:srgbClr val="EEF2F8"/>
          </a:solidFill>
          <a:ln w="12700">
            <a:solidFill>
              <a:srgbClr val="C9D3E0"/>
            </a:solidFill>
            <a:prstDash val="solid"/>
          </a:ln>
        </p:spPr>
      </p:sp>
      <p:sp>
        <p:nvSpPr>
          <p:cNvPr id="13" name="Text 11"/>
          <p:cNvSpPr txBox="1"/>
          <p:nvPr/>
        </p:nvSpPr>
        <p:spPr>
          <a:xfrm>
            <a:off x="484632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Dispatchers</a:t>
            </a:r>
            <a:endParaRPr lang="en-US" sz="1800" dirty="0"/>
          </a:p>
        </p:txBody>
      </p:sp>
      <p:sp>
        <p:nvSpPr>
          <p:cNvPr id="14" name="Text 12"/>
          <p:cNvSpPr txBox="1"/>
          <p:nvPr/>
        </p:nvSpPr>
        <p:spPr>
          <a:xfrm>
            <a:off x="475488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EMAIL · SMS · PUSH</a:t>
            </a:r>
            <a:endParaRPr lang="en-US" sz="1200" dirty="0"/>
          </a:p>
        </p:txBody>
      </p:sp>
      <p:sp>
        <p:nvSpPr>
          <p:cNvPr id="15" name="Text 13"/>
          <p:cNvSpPr txBox="1"/>
          <p:nvPr/>
        </p:nvSpPr>
        <p:spPr>
          <a:xfrm>
            <a:off x="653796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6" name="step-4"/>
          <p:cNvSpPr/>
          <p:nvPr/>
        </p:nvSpPr>
        <p:spPr>
          <a:xfrm>
            <a:off x="6903720" y="1737360"/>
            <a:ext cx="1783080" cy="1188720"/>
          </a:xfrm>
          <a:prstGeom prst="roundRect">
            <a:avLst>
              <a:gd name="adj" fmla="val 6154"/>
            </a:avLst>
          </a:prstGeom>
          <a:solidFill>
            <a:srgbClr val="EEF2F8"/>
          </a:solidFill>
          <a:ln w="12700">
            <a:solidFill>
              <a:srgbClr val="C9D3E0"/>
            </a:solidFill>
            <a:prstDash val="solid"/>
          </a:ln>
        </p:spPr>
      </p:sp>
      <p:sp>
        <p:nvSpPr>
          <p:cNvPr id="17" name="Text 15"/>
          <p:cNvSpPr txBox="1"/>
          <p:nvPr/>
        </p:nvSpPr>
        <p:spPr>
          <a:xfrm>
            <a:off x="699516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notification_db</a:t>
            </a:r>
            <a:endParaRPr lang="en-US" sz="1800" dirty="0"/>
          </a:p>
        </p:txBody>
      </p:sp>
      <p:sp>
        <p:nvSpPr>
          <p:cNvPr id="18" name="Text 16"/>
          <p:cNvSpPr txBox="1"/>
          <p:nvPr/>
        </p:nvSpPr>
        <p:spPr>
          <a:xfrm>
            <a:off x="690372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history</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Key implementation details</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640080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was built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Consumer</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Durable queue with dead-letter queue after retries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Channels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EMAIL via SMTP, SMS dispatcher, in-app PUSH over STOMP</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Templates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CRUD for subject and body templates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History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Status, retry count and failure reason per message</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Retry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Scheduler: up to 3 attempts, 60 s apart; manual retry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Interfaces and integration</a:t>
            </a:r>
            <a:endParaRPr lang="en-US" sz="3000" dirty="0"/>
          </a:p>
        </p:txBody>
      </p:sp>
      <p:sp>
        <p:nvSpPr>
          <p:cNvPr id="4" name="Shape 2"/>
          <p:cNvSpPr/>
          <p:nvPr/>
        </p:nvSpPr>
        <p:spPr>
          <a:xfrm>
            <a:off x="457200" y="1325880"/>
            <a:ext cx="4023360" cy="2834640"/>
          </a:xfrm>
          <a:prstGeom prst="roundRect">
            <a:avLst>
              <a:gd name="adj" fmla="val 2581"/>
            </a:avLst>
          </a:prstGeom>
          <a:solidFill>
            <a:srgbClr val="EEF2F8"/>
          </a:solidFill>
          <a:ln w="9525">
            <a:solidFill>
              <a:srgbClr val="C9D3E0"/>
            </a:solidFill>
            <a:prstDash val="solid"/>
          </a:ln>
        </p:spPr>
      </p:sp>
      <p:sp>
        <p:nvSpPr>
          <p:cNvPr id="5" name="Text 3"/>
          <p:cNvSpPr txBox="1"/>
          <p:nvPr/>
        </p:nvSpPr>
        <p:spPr>
          <a:xfrm>
            <a:off x="68580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Interfaces</a:t>
            </a:r>
            <a:endParaRPr lang="en-US" sz="1800" dirty="0"/>
          </a:p>
        </p:txBody>
      </p:sp>
      <p:sp>
        <p:nvSpPr>
          <p:cNvPr id="6" name="Text 4"/>
          <p:cNvSpPr txBox="1"/>
          <p:nvPr/>
        </p:nvSpPr>
        <p:spPr>
          <a:xfrm>
            <a:off x="68580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/api/v1/notifications (list, retry)</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/api/v1/email, /email-templates, /sms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WebSocket endpoint /ws</a:t>
            </a:r>
            <a:endParaRPr lang="en-US" sz="1500" dirty="0"/>
          </a:p>
        </p:txBody>
      </p:sp>
      <p:sp>
        <p:nvSpPr>
          <p:cNvPr id="7" name="Shape 5"/>
          <p:cNvSpPr/>
          <p:nvPr/>
        </p:nvSpPr>
        <p:spPr>
          <a:xfrm>
            <a:off x="4663440" y="1325880"/>
            <a:ext cx="4023360" cy="2834640"/>
          </a:xfrm>
          <a:prstGeom prst="roundRect">
            <a:avLst>
              <a:gd name="adj" fmla="val 2581"/>
            </a:avLst>
          </a:prstGeom>
          <a:solidFill>
            <a:srgbClr val="EEF2F8"/>
          </a:solidFill>
          <a:ln w="9525">
            <a:solidFill>
              <a:srgbClr val="C9D3E0"/>
            </a:solidFill>
            <a:prstDash val="solid"/>
          </a:ln>
        </p:spPr>
      </p:sp>
      <p:sp>
        <p:nvSpPr>
          <p:cNvPr id="8" name="Text 6"/>
          <p:cNvSpPr txBox="1"/>
          <p:nvPr/>
        </p:nvSpPr>
        <p:spPr>
          <a:xfrm>
            <a:off x="489204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Connections</a:t>
            </a:r>
            <a:endParaRPr lang="en-US" sz="1800" dirty="0"/>
          </a:p>
        </p:txBody>
      </p:sp>
      <p:sp>
        <p:nvSpPr>
          <p:cNvPr id="9" name="Text 7"/>
          <p:cNvSpPr txBox="1"/>
          <p:nvPr/>
        </p:nvSpPr>
        <p:spPr>
          <a:xfrm>
            <a:off x="489204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Input: AlertEvent v1 from Monitoring</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Output: /topic/alerts and /topic/notifications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SMTP through MAIL_USERNAME and MAIL_PASSWORD</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Evidence from the running system</a:t>
            </a:r>
            <a:endParaRPr lang="en-US" sz="3000" dirty="0"/>
          </a:p>
        </p:txBody>
      </p:sp>
      <p:sp>
        <p:nvSpPr>
          <p:cNvPr id="4" name="Shape 2"/>
          <p:cNvSpPr/>
          <p:nvPr/>
        </p:nvSpPr>
        <p:spPr>
          <a:xfrm>
            <a:off x="45720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45720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76+</a:t>
            </a:r>
            <a:endParaRPr lang="en-US" sz="4000" dirty="0"/>
          </a:p>
        </p:txBody>
      </p:sp>
      <p:sp>
        <p:nvSpPr>
          <p:cNvPr id="6" name="Text 4"/>
          <p:cNvSpPr txBox="1"/>
          <p:nvPr/>
        </p:nvSpPr>
        <p:spPr>
          <a:xfrm>
            <a:off x="59436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notifications recorded</a:t>
            </a:r>
            <a:endParaRPr lang="en-US" sz="1400" dirty="0"/>
          </a:p>
        </p:txBody>
      </p:sp>
      <p:sp>
        <p:nvSpPr>
          <p:cNvPr id="7" name="Shape 5"/>
          <p:cNvSpPr/>
          <p:nvPr/>
        </p:nvSpPr>
        <p:spPr>
          <a:xfrm>
            <a:off x="329184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29184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3</a:t>
            </a:r>
            <a:endParaRPr lang="en-US" sz="4000" dirty="0"/>
          </a:p>
        </p:txBody>
      </p:sp>
      <p:sp>
        <p:nvSpPr>
          <p:cNvPr id="9" name="Text 7"/>
          <p:cNvSpPr txBox="1"/>
          <p:nvPr/>
        </p:nvSpPr>
        <p:spPr>
          <a:xfrm>
            <a:off x="342900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automatic retries per message</a:t>
            </a:r>
            <a:endParaRPr lang="en-US" sz="1400" dirty="0"/>
          </a:p>
        </p:txBody>
      </p:sp>
      <p:sp>
        <p:nvSpPr>
          <p:cNvPr id="10" name="Shape 8"/>
          <p:cNvSpPr/>
          <p:nvPr/>
        </p:nvSpPr>
        <p:spPr>
          <a:xfrm>
            <a:off x="612648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612648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14</a:t>
            </a:r>
            <a:endParaRPr lang="en-US" sz="4000" dirty="0"/>
          </a:p>
        </p:txBody>
      </p:sp>
      <p:sp>
        <p:nvSpPr>
          <p:cNvPr id="12" name="Text 10"/>
          <p:cNvSpPr txBox="1"/>
          <p:nvPr/>
        </p:nvSpPr>
        <p:spPr>
          <a:xfrm>
            <a:off x="626364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unit test methods</a:t>
            </a:r>
            <a:endParaRPr lang="en-US" sz="1400" dirty="0"/>
          </a:p>
        </p:txBody>
      </p:sp>
      <p:sp>
        <p:nvSpPr>
          <p:cNvPr id="13" name="Text 11"/>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600" i="1" dirty="0">
                <a:solidFill>
                  <a:srgbClr val="22304A"/>
                </a:solidFill>
                <a:latin typeface="Calibri" pitchFamily="34" charset="0"/>
                <a:ea typeface="Calibri" pitchFamily="34" charset="-122"/>
                <a:cs typeface="Calibri" pitchFamily="34" charset="-120"/>
              </a:rPr>
              <a:t>Every attempt is stored with status, retry count and failure reason; in-app push reaches the console instantly over STOMP.</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SUMMARY</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Live demo and takeaways</a:t>
            </a:r>
            <a:endParaRPr lang="en-US" sz="3000" dirty="0"/>
          </a:p>
        </p:txBody>
      </p:sp>
      <p:sp>
        <p:nvSpPr>
          <p:cNvPr id="4" name="Text 2"/>
          <p:cNvSpPr txBox="1"/>
          <p:nvPr/>
        </p:nvSpPr>
        <p:spPr>
          <a:xfrm>
            <a:off x="457200" y="1280160"/>
            <a:ext cx="39319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Demo steps</a:t>
            </a:r>
            <a:endParaRPr lang="en-US" sz="1800" dirty="0"/>
          </a:p>
        </p:txBody>
      </p:sp>
      <p:sp>
        <p:nvSpPr>
          <p:cNvPr id="5" name="Text 3"/>
          <p:cNvSpPr txBox="1"/>
          <p:nvPr/>
        </p:nvSpPr>
        <p:spPr>
          <a:xfrm>
            <a:off x="457200" y="1691640"/>
            <a:ext cx="393192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Notifications page: PUSH delivered</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Delivery history and retry control</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Toast arrives over WebSocket</a:t>
            </a:r>
            <a:endParaRPr lang="en-US" sz="1600" dirty="0"/>
          </a:p>
        </p:txBody>
      </p:sp>
      <p:sp>
        <p:nvSpPr>
          <p:cNvPr id="6" name="Shape 4"/>
          <p:cNvSpPr/>
          <p:nvPr/>
        </p:nvSpPr>
        <p:spPr>
          <a:xfrm>
            <a:off x="4754880" y="1280160"/>
            <a:ext cx="3931920" cy="2377440"/>
          </a:xfrm>
          <a:prstGeom prst="roundRect">
            <a:avLst>
              <a:gd name="adj" fmla="val 3077"/>
            </a:avLst>
          </a:prstGeom>
          <a:solidFill>
            <a:srgbClr val="EEF2F8"/>
          </a:solidFill>
          <a:ln w="9525">
            <a:solidFill>
              <a:srgbClr val="C9D3E0"/>
            </a:solidFill>
            <a:prstDash val="solid"/>
          </a:ln>
        </p:spPr>
      </p:sp>
      <p:sp>
        <p:nvSpPr>
          <p:cNvPr id="7" name="Text 5"/>
          <p:cNvSpPr txBox="1"/>
          <p:nvPr/>
        </p:nvSpPr>
        <p:spPr>
          <a:xfrm>
            <a:off x="4983480" y="1417320"/>
            <a:ext cx="34747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Key takeaways</a:t>
            </a:r>
            <a:endParaRPr lang="en-US" sz="1800" dirty="0"/>
          </a:p>
        </p:txBody>
      </p:sp>
      <p:sp>
        <p:nvSpPr>
          <p:cNvPr id="8" name="Text 6"/>
          <p:cNvSpPr txBox="1"/>
          <p:nvPr/>
        </p:nvSpPr>
        <p:spPr>
          <a:xfrm>
            <a:off x="4983480" y="1828800"/>
            <a:ext cx="347472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Every delivery is recorded</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In-app push works without SMTP</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Consumers are decoupled from Monitoring</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RENEWABLE ENERGY OPERATIONS, ASSET AND GRID MANAGEMENT SYSTEM</a:t>
            </a:r>
            <a:endParaRPr lang="en-US" sz="1200" dirty="0"/>
          </a:p>
        </p:txBody>
      </p:sp>
      <p:sp>
        <p:nvSpPr>
          <p:cNvPr id="3" name="Text 1"/>
          <p:cNvSpPr txBox="1"/>
          <p:nvPr/>
        </p:nvSpPr>
        <p:spPr>
          <a:xfrm>
            <a:off x="640080" y="1234440"/>
            <a:ext cx="7863840" cy="1463040"/>
          </a:xfrm>
          <a:prstGeom prst="rect">
            <a:avLst/>
          </a:prstGeom>
          <a:noFill/>
          <a:ln/>
        </p:spPr>
        <p:txBody>
          <a:bodyPr wrap="square" lIns="0" tIns="0" rIns="0" bIns="0" rtlCol="0" anchor="t"/>
          <a:lstStyle/>
          <a:p>
            <a:pPr indent="0" marL="0">
              <a:buNone/>
            </a:pPr>
            <a:r>
              <a:rPr lang="en-US" sz="3800" b="1" dirty="0">
                <a:solidFill>
                  <a:srgbClr val="1B2A49"/>
                </a:solidFill>
                <a:latin typeface="Cambria" pitchFamily="34" charset="0"/>
                <a:ea typeface="Cambria" pitchFamily="34" charset="-122"/>
                <a:cs typeface="Cambria" pitchFamily="34" charset="-120"/>
              </a:rPr>
              <a:t>Analytics Service: KPIs, Reports &amp; Export</a:t>
            </a:r>
            <a:endParaRPr lang="en-US" sz="3800" dirty="0"/>
          </a:p>
        </p:txBody>
      </p:sp>
      <p:sp>
        <p:nvSpPr>
          <p:cNvPr id="4" name="Text 2"/>
          <p:cNvSpPr txBox="1"/>
          <p:nvPr/>
        </p:nvSpPr>
        <p:spPr>
          <a:xfrm>
            <a:off x="640080" y="3154680"/>
            <a:ext cx="7863840" cy="457200"/>
          </a:xfrm>
          <a:prstGeom prst="rect">
            <a:avLst/>
          </a:prstGeom>
          <a:noFill/>
          <a:ln/>
        </p:spPr>
        <p:txBody>
          <a:bodyPr wrap="square" lIns="0" tIns="0" rIns="0" bIns="0" rtlCol="0" anchor="ctr"/>
          <a:lstStyle/>
          <a:p>
            <a:pPr indent="0" marL="0">
              <a:buNone/>
            </a:pPr>
            <a:r>
              <a:rPr lang="en-US" sz="2400" b="1" dirty="0">
                <a:solidFill>
                  <a:srgbClr val="22304A"/>
                </a:solidFill>
                <a:latin typeface="Calibri" pitchFamily="34" charset="0"/>
                <a:ea typeface="Calibri" pitchFamily="34" charset="-122"/>
                <a:cs typeface="Calibri" pitchFamily="34" charset="-120"/>
              </a:rPr>
              <a:t>Sachinthana</a:t>
            </a:r>
            <a:endParaRPr lang="en-US" sz="2400" dirty="0"/>
          </a:p>
        </p:txBody>
      </p:sp>
      <p:sp>
        <p:nvSpPr>
          <p:cNvPr id="5" name="Text 3"/>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EC8208 Software Architecture · Continuous Assessment 01</a:t>
            </a:r>
            <a:endParaRPr lang="en-US" sz="1400" dirty="0"/>
          </a:p>
          <a:p>
            <a:pPr indent="0" marL="0">
              <a:buNone/>
            </a:pPr>
            <a:r>
              <a:rPr lang="en-US" sz="1400" dirty="0">
                <a:solidFill>
                  <a:srgbClr val="5B6B82"/>
                </a:solidFill>
                <a:latin typeface="Calibri" pitchFamily="34" charset="0"/>
                <a:ea typeface="Calibri" pitchFamily="34" charset="-122"/>
                <a:cs typeface="Calibri" pitchFamily="34" charset="-120"/>
              </a:rPr>
              <a:t>Department of Electrical and Information Engineering, University of Ruhuna</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RESPONSIBILITIES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Role and scope</a:t>
            </a:r>
            <a:endParaRPr lang="en-US" sz="3000" dirty="0"/>
          </a:p>
        </p:txBody>
      </p:sp>
      <p:sp>
        <p:nvSpPr>
          <p:cNvPr id="4" name="Text 2"/>
          <p:cNvSpPr txBox="1"/>
          <p:nvPr/>
        </p:nvSpPr>
        <p:spPr>
          <a:xfrm>
            <a:off x="457200" y="1325880"/>
            <a:ext cx="5212080" cy="32004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Dashboard summaries and statistics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Energy and performance reports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Maintenance statistics and asset utilisation</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KPIs with targets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Report export</a:t>
            </a:r>
            <a:endParaRPr lang="en-US" sz="1600" dirty="0"/>
          </a:p>
        </p:txBody>
      </p:sp>
      <p:sp>
        <p:nvSpPr>
          <p:cNvPr id="5" name="Shape 3"/>
          <p:cNvSpPr/>
          <p:nvPr/>
        </p:nvSpPr>
        <p:spPr>
          <a:xfrm>
            <a:off x="5943600" y="1325880"/>
            <a:ext cx="2743200" cy="1069848"/>
          </a:xfrm>
          <a:prstGeom prst="roundRect">
            <a:avLst>
              <a:gd name="adj" fmla="val 6838"/>
            </a:avLst>
          </a:prstGeom>
          <a:solidFill>
            <a:srgbClr val="EEF2F8"/>
          </a:solidFill>
          <a:ln w="9525">
            <a:solidFill>
              <a:srgbClr val="C9D3E0"/>
            </a:solidFill>
            <a:prstDash val="solid"/>
          </a:ln>
        </p:spPr>
      </p:sp>
      <p:sp>
        <p:nvSpPr>
          <p:cNvPr id="6" name="Text 4"/>
          <p:cNvSpPr txBox="1"/>
          <p:nvPr/>
        </p:nvSpPr>
        <p:spPr>
          <a:xfrm>
            <a:off x="6126480" y="1463040"/>
            <a:ext cx="2377440" cy="274320"/>
          </a:xfrm>
          <a:prstGeom prst="rect">
            <a:avLst/>
          </a:prstGeom>
          <a:noFill/>
          <a:ln/>
        </p:spPr>
        <p:txBody>
          <a:bodyPr wrap="square" lIns="0" tIns="0" rIns="0" bIns="0" rtlCol="0" anchor="ctr"/>
          <a:lstStyle/>
          <a:p>
            <a:pPr indent="0" marL="0">
              <a:buNone/>
            </a:pPr>
            <a:r>
              <a:rPr lang="en-US" sz="1400" b="1" dirty="0">
                <a:solidFill>
                  <a:srgbClr val="3D5A80"/>
                </a:solidFill>
                <a:latin typeface="Calibri" pitchFamily="34" charset="0"/>
                <a:ea typeface="Calibri" pitchFamily="34" charset="-122"/>
                <a:cs typeface="Calibri" pitchFamily="34" charset="-120"/>
              </a:rPr>
              <a:t>Requirements covered</a:t>
            </a:r>
            <a:endParaRPr lang="en-US" sz="1400" dirty="0"/>
          </a:p>
        </p:txBody>
      </p:sp>
      <p:sp>
        <p:nvSpPr>
          <p:cNvPr id="7" name="Text 5"/>
          <p:cNvSpPr txBox="1"/>
          <p:nvPr/>
        </p:nvSpPr>
        <p:spPr>
          <a:xfrm>
            <a:off x="6126480" y="1828800"/>
            <a:ext cx="2377440" cy="384048"/>
          </a:xfrm>
          <a:prstGeom prst="rect">
            <a:avLst/>
          </a:prstGeom>
          <a:noFill/>
          <a:ln/>
        </p:spPr>
        <p:txBody>
          <a:bodyPr wrap="square" lIns="0" tIns="0" rIns="0" bIns="0" rtlCol="0" anchor="t"/>
          <a:lstStyle/>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FR-17</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How a report is produced</a:t>
            </a:r>
            <a:endParaRPr lang="en-US" sz="3000" dirty="0"/>
          </a:p>
        </p:txBody>
      </p:sp>
      <p:sp>
        <p:nvSpPr>
          <p:cNvPr id="4" name="step-1"/>
          <p:cNvSpPr/>
          <p:nvPr/>
        </p:nvSpPr>
        <p:spPr>
          <a:xfrm>
            <a:off x="457200" y="1737360"/>
            <a:ext cx="1783080" cy="1188720"/>
          </a:xfrm>
          <a:prstGeom prst="roundRect">
            <a:avLst>
              <a:gd name="adj" fmla="val 6154"/>
            </a:avLst>
          </a:prstGeom>
          <a:solidFill>
            <a:srgbClr val="1B2A49"/>
          </a:solidFill>
          <a:ln w="12700">
            <a:solidFill>
              <a:srgbClr val="1B2A49"/>
            </a:solidFill>
            <a:prstDash val="solid"/>
          </a:ln>
        </p:spPr>
      </p:sp>
      <p:sp>
        <p:nvSpPr>
          <p:cNvPr id="5" name="Text 3"/>
          <p:cNvSpPr txBox="1"/>
          <p:nvPr/>
        </p:nvSpPr>
        <p:spPr>
          <a:xfrm>
            <a:off x="548640" y="1783080"/>
            <a:ext cx="1600200" cy="10972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Source APIs</a:t>
            </a:r>
            <a:endParaRPr lang="en-US" sz="1800" dirty="0"/>
          </a:p>
        </p:txBody>
      </p:sp>
      <p:sp>
        <p:nvSpPr>
          <p:cNvPr id="6" name="Text 4"/>
          <p:cNvSpPr txBox="1"/>
          <p:nvPr/>
        </p:nvSpPr>
        <p:spPr>
          <a:xfrm>
            <a:off x="45720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3 services via REST</a:t>
            </a:r>
            <a:endParaRPr lang="en-US" sz="1200" dirty="0"/>
          </a:p>
        </p:txBody>
      </p:sp>
      <p:sp>
        <p:nvSpPr>
          <p:cNvPr id="7" name="Text 5"/>
          <p:cNvSpPr txBox="1"/>
          <p:nvPr/>
        </p:nvSpPr>
        <p:spPr>
          <a:xfrm>
            <a:off x="224028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8" name="step-2"/>
          <p:cNvSpPr/>
          <p:nvPr/>
        </p:nvSpPr>
        <p:spPr>
          <a:xfrm>
            <a:off x="2606040" y="1737360"/>
            <a:ext cx="1783080" cy="1188720"/>
          </a:xfrm>
          <a:prstGeom prst="roundRect">
            <a:avLst>
              <a:gd name="adj" fmla="val 6154"/>
            </a:avLst>
          </a:prstGeom>
          <a:solidFill>
            <a:srgbClr val="EEF2F8"/>
          </a:solidFill>
          <a:ln w="12700">
            <a:solidFill>
              <a:srgbClr val="C9D3E0"/>
            </a:solidFill>
            <a:prstDash val="solid"/>
          </a:ln>
        </p:spPr>
      </p:sp>
      <p:sp>
        <p:nvSpPr>
          <p:cNvPr id="9" name="Text 7"/>
          <p:cNvSpPr txBox="1"/>
          <p:nvPr/>
        </p:nvSpPr>
        <p:spPr>
          <a:xfrm>
            <a:off x="269748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Calculation</a:t>
            </a:r>
            <a:endParaRPr lang="en-US" sz="1800" dirty="0"/>
          </a:p>
        </p:txBody>
      </p:sp>
      <p:sp>
        <p:nvSpPr>
          <p:cNvPr id="10" name="Text 8"/>
          <p:cNvSpPr txBox="1"/>
          <p:nvPr/>
        </p:nvSpPr>
        <p:spPr>
          <a:xfrm>
            <a:off x="260604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energy + performance</a:t>
            </a:r>
            <a:endParaRPr lang="en-US" sz="1200" dirty="0"/>
          </a:p>
        </p:txBody>
      </p:sp>
      <p:sp>
        <p:nvSpPr>
          <p:cNvPr id="11" name="Text 9"/>
          <p:cNvSpPr txBox="1"/>
          <p:nvPr/>
        </p:nvSpPr>
        <p:spPr>
          <a:xfrm>
            <a:off x="438912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2" name="step-3"/>
          <p:cNvSpPr/>
          <p:nvPr/>
        </p:nvSpPr>
        <p:spPr>
          <a:xfrm>
            <a:off x="4754880" y="1737360"/>
            <a:ext cx="1783080" cy="1188720"/>
          </a:xfrm>
          <a:prstGeom prst="roundRect">
            <a:avLst>
              <a:gd name="adj" fmla="val 6154"/>
            </a:avLst>
          </a:prstGeom>
          <a:solidFill>
            <a:srgbClr val="EEF2F8"/>
          </a:solidFill>
          <a:ln w="12700">
            <a:solidFill>
              <a:srgbClr val="C9D3E0"/>
            </a:solidFill>
            <a:prstDash val="solid"/>
          </a:ln>
        </p:spPr>
      </p:sp>
      <p:sp>
        <p:nvSpPr>
          <p:cNvPr id="13" name="Text 11"/>
          <p:cNvSpPr txBox="1"/>
          <p:nvPr/>
        </p:nvSpPr>
        <p:spPr>
          <a:xfrm>
            <a:off x="484632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Reports and KPIs</a:t>
            </a:r>
            <a:endParaRPr lang="en-US" sz="1800" dirty="0"/>
          </a:p>
        </p:txBody>
      </p:sp>
      <p:sp>
        <p:nvSpPr>
          <p:cNvPr id="14" name="Text 12"/>
          <p:cNvSpPr txBox="1"/>
          <p:nvPr/>
        </p:nvSpPr>
        <p:spPr>
          <a:xfrm>
            <a:off x="475488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analytics_db</a:t>
            </a:r>
            <a:endParaRPr lang="en-US" sz="1200" dirty="0"/>
          </a:p>
        </p:txBody>
      </p:sp>
      <p:sp>
        <p:nvSpPr>
          <p:cNvPr id="15" name="Text 13"/>
          <p:cNvSpPr txBox="1"/>
          <p:nvPr/>
        </p:nvSpPr>
        <p:spPr>
          <a:xfrm>
            <a:off x="653796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6" name="step-4"/>
          <p:cNvSpPr/>
          <p:nvPr/>
        </p:nvSpPr>
        <p:spPr>
          <a:xfrm>
            <a:off x="6903720" y="1737360"/>
            <a:ext cx="1783080" cy="1188720"/>
          </a:xfrm>
          <a:prstGeom prst="roundRect">
            <a:avLst>
              <a:gd name="adj" fmla="val 6154"/>
            </a:avLst>
          </a:prstGeom>
          <a:solidFill>
            <a:srgbClr val="EEF2F8"/>
          </a:solidFill>
          <a:ln w="12700">
            <a:solidFill>
              <a:srgbClr val="C9D3E0"/>
            </a:solidFill>
            <a:prstDash val="solid"/>
          </a:ln>
        </p:spPr>
      </p:sp>
      <p:sp>
        <p:nvSpPr>
          <p:cNvPr id="17" name="Text 15"/>
          <p:cNvSpPr txBox="1"/>
          <p:nvPr/>
        </p:nvSpPr>
        <p:spPr>
          <a:xfrm>
            <a:off x="699516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CSV export</a:t>
            </a:r>
            <a:endParaRPr lang="en-US" sz="1800" dirty="0"/>
          </a:p>
        </p:txBody>
      </p:sp>
      <p:sp>
        <p:nvSpPr>
          <p:cNvPr id="18" name="Text 16"/>
          <p:cNvSpPr txBox="1"/>
          <p:nvPr/>
        </p:nvSpPr>
        <p:spPr>
          <a:xfrm>
            <a:off x="690372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/{id}/export</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Key implementation details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640080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was built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Energy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Average power per sensor per hour × hours = kWh; variance vs expected</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Availability, efficiency, capacity factor, utilisation, downtime</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Maintenance</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Open orders, completion rate, alert count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KPIs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11 KPI types with target, actual and status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Export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CSV download for energy and performance reports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Interfaces and integration</a:t>
            </a:r>
            <a:endParaRPr lang="en-US" sz="3000" dirty="0"/>
          </a:p>
        </p:txBody>
      </p:sp>
      <p:sp>
        <p:nvSpPr>
          <p:cNvPr id="4" name="Shape 2"/>
          <p:cNvSpPr/>
          <p:nvPr/>
        </p:nvSpPr>
        <p:spPr>
          <a:xfrm>
            <a:off x="457200" y="1325880"/>
            <a:ext cx="4023360" cy="2834640"/>
          </a:xfrm>
          <a:prstGeom prst="roundRect">
            <a:avLst>
              <a:gd name="adj" fmla="val 2581"/>
            </a:avLst>
          </a:prstGeom>
          <a:solidFill>
            <a:srgbClr val="EEF2F8"/>
          </a:solidFill>
          <a:ln w="9525">
            <a:solidFill>
              <a:srgbClr val="C9D3E0"/>
            </a:solidFill>
            <a:prstDash val="solid"/>
          </a:ln>
        </p:spPr>
      </p:sp>
      <p:sp>
        <p:nvSpPr>
          <p:cNvPr id="5" name="Text 3"/>
          <p:cNvSpPr txBox="1"/>
          <p:nvPr/>
        </p:nvSpPr>
        <p:spPr>
          <a:xfrm>
            <a:off x="68580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Interfaces</a:t>
            </a:r>
            <a:endParaRPr lang="en-US" sz="1800" dirty="0"/>
          </a:p>
        </p:txBody>
      </p:sp>
      <p:sp>
        <p:nvSpPr>
          <p:cNvPr id="6" name="Text 4"/>
          <p:cNvSpPr txBox="1"/>
          <p:nvPr/>
        </p:nvSpPr>
        <p:spPr>
          <a:xfrm>
            <a:off x="68580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/api/v1/analytics/dashboard, /statistics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/api/v1/energy-reports, /performance-reports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/api/v1/kpis, /dashboards</a:t>
            </a:r>
            <a:endParaRPr lang="en-US" sz="1500" dirty="0"/>
          </a:p>
        </p:txBody>
      </p:sp>
      <p:sp>
        <p:nvSpPr>
          <p:cNvPr id="7" name="Shape 5"/>
          <p:cNvSpPr/>
          <p:nvPr/>
        </p:nvSpPr>
        <p:spPr>
          <a:xfrm>
            <a:off x="4663440" y="1325880"/>
            <a:ext cx="4023360" cy="2834640"/>
          </a:xfrm>
          <a:prstGeom prst="roundRect">
            <a:avLst>
              <a:gd name="adj" fmla="val 2581"/>
            </a:avLst>
          </a:prstGeom>
          <a:solidFill>
            <a:srgbClr val="EEF2F8"/>
          </a:solidFill>
          <a:ln w="9525">
            <a:solidFill>
              <a:srgbClr val="C9D3E0"/>
            </a:solidFill>
            <a:prstDash val="solid"/>
          </a:ln>
        </p:spPr>
      </p:sp>
      <p:sp>
        <p:nvSpPr>
          <p:cNvPr id="8" name="Text 6"/>
          <p:cNvSpPr txBox="1"/>
          <p:nvPr/>
        </p:nvSpPr>
        <p:spPr>
          <a:xfrm>
            <a:off x="489204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Connections</a:t>
            </a:r>
            <a:endParaRPr lang="en-US" sz="1800" dirty="0"/>
          </a:p>
        </p:txBody>
      </p:sp>
      <p:sp>
        <p:nvSpPr>
          <p:cNvPr id="9" name="Text 7"/>
          <p:cNvSpPr txBox="1"/>
          <p:nvPr/>
        </p:nvSpPr>
        <p:spPr>
          <a:xfrm>
            <a:off x="489204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REST clients only; no shared databases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Aggregation restricted to POWER readings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Console charts use the hourly trend</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Evidence from the running system</a:t>
            </a:r>
            <a:endParaRPr lang="en-US" sz="3000" dirty="0"/>
          </a:p>
        </p:txBody>
      </p:sp>
      <p:sp>
        <p:nvSpPr>
          <p:cNvPr id="4" name="Shape 2"/>
          <p:cNvSpPr/>
          <p:nvPr/>
        </p:nvSpPr>
        <p:spPr>
          <a:xfrm>
            <a:off x="45720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45720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5 + 5</a:t>
            </a:r>
            <a:endParaRPr lang="en-US" sz="4000" dirty="0"/>
          </a:p>
        </p:txBody>
      </p:sp>
      <p:sp>
        <p:nvSpPr>
          <p:cNvPr id="6" name="Text 4"/>
          <p:cNvSpPr txBox="1"/>
          <p:nvPr/>
        </p:nvSpPr>
        <p:spPr>
          <a:xfrm>
            <a:off x="59436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energy and performance reports</a:t>
            </a:r>
            <a:endParaRPr lang="en-US" sz="1400" dirty="0"/>
          </a:p>
        </p:txBody>
      </p:sp>
      <p:sp>
        <p:nvSpPr>
          <p:cNvPr id="7" name="Shape 5"/>
          <p:cNvSpPr/>
          <p:nvPr/>
        </p:nvSpPr>
        <p:spPr>
          <a:xfrm>
            <a:off x="329184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29184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6</a:t>
            </a:r>
            <a:endParaRPr lang="en-US" sz="4000" dirty="0"/>
          </a:p>
        </p:txBody>
      </p:sp>
      <p:sp>
        <p:nvSpPr>
          <p:cNvPr id="9" name="Text 7"/>
          <p:cNvSpPr txBox="1"/>
          <p:nvPr/>
        </p:nvSpPr>
        <p:spPr>
          <a:xfrm>
            <a:off x="342900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KPIs seeded</a:t>
            </a:r>
            <a:endParaRPr lang="en-US" sz="1400" dirty="0"/>
          </a:p>
        </p:txBody>
      </p:sp>
      <p:sp>
        <p:nvSpPr>
          <p:cNvPr id="10" name="Shape 8"/>
          <p:cNvSpPr/>
          <p:nvPr/>
        </p:nvSpPr>
        <p:spPr>
          <a:xfrm>
            <a:off x="612648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612648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11</a:t>
            </a:r>
            <a:endParaRPr lang="en-US" sz="4000" dirty="0"/>
          </a:p>
        </p:txBody>
      </p:sp>
      <p:sp>
        <p:nvSpPr>
          <p:cNvPr id="12" name="Text 10"/>
          <p:cNvSpPr txBox="1"/>
          <p:nvPr/>
        </p:nvSpPr>
        <p:spPr>
          <a:xfrm>
            <a:off x="626364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unit test methods</a:t>
            </a:r>
            <a:endParaRPr lang="en-US" sz="1400" dirty="0"/>
          </a:p>
        </p:txBody>
      </p:sp>
      <p:sp>
        <p:nvSpPr>
          <p:cNvPr id="13" name="Text 11"/>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600" i="1" dirty="0">
                <a:solidFill>
                  <a:srgbClr val="22304A"/>
                </a:solidFill>
                <a:latin typeface="Calibri" pitchFamily="34" charset="0"/>
                <a:ea typeface="Calibri" pitchFamily="34" charset="-122"/>
                <a:cs typeface="Calibri" pitchFamily="34" charset="-120"/>
              </a:rPr>
              <a:t>Energy is integrated from average power per hour, so every figure is true kWh, and each report exports to CSV.</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SUMMARY</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Live demo and takeaways</a:t>
            </a:r>
            <a:endParaRPr lang="en-US" sz="3000" dirty="0"/>
          </a:p>
        </p:txBody>
      </p:sp>
      <p:sp>
        <p:nvSpPr>
          <p:cNvPr id="4" name="Text 2"/>
          <p:cNvSpPr txBox="1"/>
          <p:nvPr/>
        </p:nvSpPr>
        <p:spPr>
          <a:xfrm>
            <a:off x="457200" y="1280160"/>
            <a:ext cx="39319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Demo steps</a:t>
            </a:r>
            <a:endParaRPr lang="en-US" sz="1800" dirty="0"/>
          </a:p>
        </p:txBody>
      </p:sp>
      <p:sp>
        <p:nvSpPr>
          <p:cNvPr id="5" name="Text 3"/>
          <p:cNvSpPr txBox="1"/>
          <p:nvPr/>
        </p:nvSpPr>
        <p:spPr>
          <a:xfrm>
            <a:off x="457200" y="1691640"/>
            <a:ext cx="393192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Analytics page: facility and range</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Generate an energy report</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Export CSV</a:t>
            </a:r>
            <a:endParaRPr lang="en-US" sz="1600" dirty="0"/>
          </a:p>
        </p:txBody>
      </p:sp>
      <p:sp>
        <p:nvSpPr>
          <p:cNvPr id="6" name="Shape 4"/>
          <p:cNvSpPr/>
          <p:nvPr/>
        </p:nvSpPr>
        <p:spPr>
          <a:xfrm>
            <a:off x="4754880" y="1280160"/>
            <a:ext cx="3931920" cy="2377440"/>
          </a:xfrm>
          <a:prstGeom prst="roundRect">
            <a:avLst>
              <a:gd name="adj" fmla="val 3077"/>
            </a:avLst>
          </a:prstGeom>
          <a:solidFill>
            <a:srgbClr val="EEF2F8"/>
          </a:solidFill>
          <a:ln w="9525">
            <a:solidFill>
              <a:srgbClr val="C9D3E0"/>
            </a:solidFill>
            <a:prstDash val="solid"/>
          </a:ln>
        </p:spPr>
      </p:sp>
      <p:sp>
        <p:nvSpPr>
          <p:cNvPr id="7" name="Text 5"/>
          <p:cNvSpPr txBox="1"/>
          <p:nvPr/>
        </p:nvSpPr>
        <p:spPr>
          <a:xfrm>
            <a:off x="4983480" y="1417320"/>
            <a:ext cx="34747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Key takeaways</a:t>
            </a:r>
            <a:endParaRPr lang="en-US" sz="1800" dirty="0"/>
          </a:p>
        </p:txBody>
      </p:sp>
      <p:sp>
        <p:nvSpPr>
          <p:cNvPr id="8" name="Text 6"/>
          <p:cNvSpPr txBox="1"/>
          <p:nvPr/>
        </p:nvSpPr>
        <p:spPr>
          <a:xfrm>
            <a:off x="4983480" y="1828800"/>
            <a:ext cx="347472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Reports are computed, stored and exportable</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Correct units make the figures trustworthy</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Executives get read-only access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31520"/>
            <a:ext cx="7863840" cy="27432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RENEWABLE ENERGY OPERATIONS, ASSET AND GRID MANAGEMENT SYSTEM</a:t>
            </a:r>
            <a:endParaRPr lang="en-US" sz="1200" dirty="0"/>
          </a:p>
        </p:txBody>
      </p:sp>
      <p:sp>
        <p:nvSpPr>
          <p:cNvPr id="3" name="Text 1"/>
          <p:cNvSpPr txBox="1"/>
          <p:nvPr/>
        </p:nvSpPr>
        <p:spPr>
          <a:xfrm>
            <a:off x="640080" y="1234440"/>
            <a:ext cx="7863840" cy="1463040"/>
          </a:xfrm>
          <a:prstGeom prst="rect">
            <a:avLst/>
          </a:prstGeom>
          <a:noFill/>
          <a:ln/>
        </p:spPr>
        <p:txBody>
          <a:bodyPr wrap="square" lIns="0" tIns="0" rIns="0" bIns="0" rtlCol="0" anchor="t"/>
          <a:lstStyle/>
          <a:p>
            <a:pPr indent="0" marL="0">
              <a:buNone/>
            </a:pPr>
            <a:r>
              <a:rPr lang="en-US" sz="3800" b="1" dirty="0">
                <a:solidFill>
                  <a:srgbClr val="1B2A49"/>
                </a:solidFill>
                <a:latin typeface="Cambria" pitchFamily="34" charset="0"/>
                <a:ea typeface="Cambria" pitchFamily="34" charset="-122"/>
                <a:cs typeface="Cambria" pitchFamily="34" charset="-120"/>
              </a:rPr>
              <a:t>Quality, Documentation &amp; Integration</a:t>
            </a:r>
            <a:endParaRPr lang="en-US" sz="3800" dirty="0"/>
          </a:p>
        </p:txBody>
      </p:sp>
      <p:sp>
        <p:nvSpPr>
          <p:cNvPr id="4" name="Text 2"/>
          <p:cNvSpPr txBox="1"/>
          <p:nvPr/>
        </p:nvSpPr>
        <p:spPr>
          <a:xfrm>
            <a:off x="640080" y="3154680"/>
            <a:ext cx="7863840" cy="457200"/>
          </a:xfrm>
          <a:prstGeom prst="rect">
            <a:avLst/>
          </a:prstGeom>
          <a:noFill/>
          <a:ln/>
        </p:spPr>
        <p:txBody>
          <a:bodyPr wrap="square" lIns="0" tIns="0" rIns="0" bIns="0" rtlCol="0" anchor="ctr"/>
          <a:lstStyle/>
          <a:p>
            <a:pPr indent="0" marL="0">
              <a:buNone/>
            </a:pPr>
            <a:r>
              <a:rPr lang="en-US" sz="2400" b="1" dirty="0">
                <a:solidFill>
                  <a:srgbClr val="22304A"/>
                </a:solidFill>
                <a:latin typeface="Calibri" pitchFamily="34" charset="0"/>
                <a:ea typeface="Calibri" pitchFamily="34" charset="-122"/>
                <a:cs typeface="Calibri" pitchFamily="34" charset="-120"/>
              </a:rPr>
              <a:t>All Members</a:t>
            </a:r>
            <a:endParaRPr lang="en-US" sz="2400" dirty="0"/>
          </a:p>
        </p:txBody>
      </p:sp>
      <p:sp>
        <p:nvSpPr>
          <p:cNvPr id="5" name="Text 3"/>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EC8208 Software Architecture · Continuous Assessment 01</a:t>
            </a:r>
            <a:endParaRPr lang="en-US" sz="1400" dirty="0"/>
          </a:p>
          <a:p>
            <a:pPr indent="0" marL="0">
              <a:buNone/>
            </a:pPr>
            <a:r>
              <a:rPr lang="en-US" sz="1400" dirty="0">
                <a:solidFill>
                  <a:srgbClr val="5B6B82"/>
                </a:solidFill>
                <a:latin typeface="Calibri" pitchFamily="34" charset="0"/>
                <a:ea typeface="Calibri" pitchFamily="34" charset="-122"/>
                <a:cs typeface="Calibri" pitchFamily="34" charset="-120"/>
              </a:rPr>
              <a:t>Department of Electrical and Information Engineering, University of Ruhuna</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RESPONSIBILITIES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Role and scope</a:t>
            </a:r>
            <a:endParaRPr lang="en-US" sz="3000" dirty="0"/>
          </a:p>
        </p:txBody>
      </p:sp>
      <p:sp>
        <p:nvSpPr>
          <p:cNvPr id="4" name="Text 2"/>
          <p:cNvSpPr txBox="1"/>
          <p:nvPr/>
        </p:nvSpPr>
        <p:spPr>
          <a:xfrm>
            <a:off x="457200" y="1325880"/>
            <a:ext cx="5212080" cy="32004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Unit and integration tests</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API documentation</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Validation and error handling</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Coordination so services integrate cleanly</a:t>
            </a:r>
            <a:endParaRPr lang="en-US" sz="1600" dirty="0"/>
          </a:p>
          <a:p>
            <a:pPr marL="342900" indent="-342900">
              <a:spcAft>
                <a:spcPts val="600"/>
              </a:spcAft>
              <a:buSzPct val="100000"/>
              <a:buChar char="•"/>
            </a:pPr>
            <a:r>
              <a:rPr lang="en-US" sz="1600" dirty="0">
                <a:solidFill>
                  <a:srgbClr val="22304A"/>
                </a:solidFill>
                <a:latin typeface="Calibri" pitchFamily="34" charset="0"/>
                <a:ea typeface="Calibri" pitchFamily="34" charset="-122"/>
                <a:cs typeface="Calibri" pitchFamily="34" charset="-120"/>
              </a:rPr>
              <a:t>Shared integration contracts</a:t>
            </a:r>
            <a:endParaRPr lang="en-US" sz="1600" dirty="0"/>
          </a:p>
        </p:txBody>
      </p:sp>
      <p:sp>
        <p:nvSpPr>
          <p:cNvPr id="5" name="Shape 3"/>
          <p:cNvSpPr/>
          <p:nvPr/>
        </p:nvSpPr>
        <p:spPr>
          <a:xfrm>
            <a:off x="5943600" y="1325880"/>
            <a:ext cx="2743200" cy="1453896"/>
          </a:xfrm>
          <a:prstGeom prst="roundRect">
            <a:avLst>
              <a:gd name="adj" fmla="val 5031"/>
            </a:avLst>
          </a:prstGeom>
          <a:solidFill>
            <a:srgbClr val="EEF2F8"/>
          </a:solidFill>
          <a:ln w="9525">
            <a:solidFill>
              <a:srgbClr val="C9D3E0"/>
            </a:solidFill>
            <a:prstDash val="solid"/>
          </a:ln>
        </p:spPr>
      </p:sp>
      <p:sp>
        <p:nvSpPr>
          <p:cNvPr id="6" name="Text 4"/>
          <p:cNvSpPr txBox="1"/>
          <p:nvPr/>
        </p:nvSpPr>
        <p:spPr>
          <a:xfrm>
            <a:off x="6126480" y="1463040"/>
            <a:ext cx="2377440" cy="274320"/>
          </a:xfrm>
          <a:prstGeom prst="rect">
            <a:avLst/>
          </a:prstGeom>
          <a:noFill/>
          <a:ln/>
        </p:spPr>
        <p:txBody>
          <a:bodyPr wrap="square" lIns="0" tIns="0" rIns="0" bIns="0" rtlCol="0" anchor="ctr"/>
          <a:lstStyle/>
          <a:p>
            <a:pPr indent="0" marL="0">
              <a:buNone/>
            </a:pPr>
            <a:r>
              <a:rPr lang="en-US" sz="1400" b="1" dirty="0">
                <a:solidFill>
                  <a:srgbClr val="3D5A80"/>
                </a:solidFill>
                <a:latin typeface="Calibri" pitchFamily="34" charset="0"/>
                <a:ea typeface="Calibri" pitchFamily="34" charset="-122"/>
                <a:cs typeface="Calibri" pitchFamily="34" charset="-120"/>
              </a:rPr>
              <a:t>Requirements covered</a:t>
            </a:r>
            <a:endParaRPr lang="en-US" sz="1400" dirty="0"/>
          </a:p>
        </p:txBody>
      </p:sp>
      <p:sp>
        <p:nvSpPr>
          <p:cNvPr id="7" name="Text 5"/>
          <p:cNvSpPr txBox="1"/>
          <p:nvPr/>
        </p:nvSpPr>
        <p:spPr>
          <a:xfrm>
            <a:off x="6126480" y="1828800"/>
            <a:ext cx="2377440" cy="768096"/>
          </a:xfrm>
          <a:prstGeom prst="rect">
            <a:avLst/>
          </a:prstGeom>
          <a:noFill/>
          <a:ln/>
        </p:spPr>
        <p:txBody>
          <a:bodyPr wrap="square" lIns="0" tIns="0" rIns="0" bIns="0" rtlCol="0" anchor="t"/>
          <a:lstStyle/>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All FR</a:t>
            </a:r>
            <a:endParaRPr lang="en-US" sz="1600" dirty="0"/>
          </a:p>
          <a:p>
            <a:pPr indent="0" marL="0">
              <a:spcAft>
                <a:spcPts val="400"/>
              </a:spcAft>
              <a:buNone/>
            </a:pPr>
            <a:r>
              <a:rPr lang="en-US" sz="1600" b="1" dirty="0">
                <a:solidFill>
                  <a:srgbClr val="1B2A49"/>
                </a:solidFill>
                <a:latin typeface="Calibri" pitchFamily="34" charset="0"/>
                <a:ea typeface="Calibri" pitchFamily="34" charset="-122"/>
                <a:cs typeface="Calibri" pitchFamily="34" charset="-120"/>
              </a:rPr>
              <a:t>NFR</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Quality pipeline</a:t>
            </a:r>
            <a:endParaRPr lang="en-US" sz="3000" dirty="0"/>
          </a:p>
        </p:txBody>
      </p:sp>
      <p:sp>
        <p:nvSpPr>
          <p:cNvPr id="4" name="step-1"/>
          <p:cNvSpPr/>
          <p:nvPr/>
        </p:nvSpPr>
        <p:spPr>
          <a:xfrm>
            <a:off x="457200" y="1737360"/>
            <a:ext cx="1783080" cy="1188720"/>
          </a:xfrm>
          <a:prstGeom prst="roundRect">
            <a:avLst>
              <a:gd name="adj" fmla="val 6154"/>
            </a:avLst>
          </a:prstGeom>
          <a:solidFill>
            <a:srgbClr val="1B2A49"/>
          </a:solidFill>
          <a:ln w="12700">
            <a:solidFill>
              <a:srgbClr val="1B2A49"/>
            </a:solidFill>
            <a:prstDash val="solid"/>
          </a:ln>
        </p:spPr>
      </p:sp>
      <p:sp>
        <p:nvSpPr>
          <p:cNvPr id="5" name="Text 3"/>
          <p:cNvSpPr txBox="1"/>
          <p:nvPr/>
        </p:nvSpPr>
        <p:spPr>
          <a:xfrm>
            <a:off x="548640" y="1783080"/>
            <a:ext cx="1600200" cy="10972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Contracts</a:t>
            </a:r>
            <a:endParaRPr lang="en-US" sz="1800" dirty="0"/>
          </a:p>
        </p:txBody>
      </p:sp>
      <p:sp>
        <p:nvSpPr>
          <p:cNvPr id="6" name="Text 4"/>
          <p:cNvSpPr txBox="1"/>
          <p:nvPr/>
        </p:nvSpPr>
        <p:spPr>
          <a:xfrm>
            <a:off x="45720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docs/ contracts</a:t>
            </a:r>
            <a:endParaRPr lang="en-US" sz="1200" dirty="0"/>
          </a:p>
        </p:txBody>
      </p:sp>
      <p:sp>
        <p:nvSpPr>
          <p:cNvPr id="7" name="Text 5"/>
          <p:cNvSpPr txBox="1"/>
          <p:nvPr/>
        </p:nvSpPr>
        <p:spPr>
          <a:xfrm>
            <a:off x="224028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8" name="step-2"/>
          <p:cNvSpPr/>
          <p:nvPr/>
        </p:nvSpPr>
        <p:spPr>
          <a:xfrm>
            <a:off x="2606040" y="1737360"/>
            <a:ext cx="1783080" cy="1188720"/>
          </a:xfrm>
          <a:prstGeom prst="roundRect">
            <a:avLst>
              <a:gd name="adj" fmla="val 6154"/>
            </a:avLst>
          </a:prstGeom>
          <a:solidFill>
            <a:srgbClr val="EEF2F8"/>
          </a:solidFill>
          <a:ln w="12700">
            <a:solidFill>
              <a:srgbClr val="C9D3E0"/>
            </a:solidFill>
            <a:prstDash val="solid"/>
          </a:ln>
        </p:spPr>
      </p:sp>
      <p:sp>
        <p:nvSpPr>
          <p:cNvPr id="9" name="Text 7"/>
          <p:cNvSpPr txBox="1"/>
          <p:nvPr/>
        </p:nvSpPr>
        <p:spPr>
          <a:xfrm>
            <a:off x="269748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Service tests</a:t>
            </a:r>
            <a:endParaRPr lang="en-US" sz="1800" dirty="0"/>
          </a:p>
        </p:txBody>
      </p:sp>
      <p:sp>
        <p:nvSpPr>
          <p:cNvPr id="10" name="Text 8"/>
          <p:cNvSpPr txBox="1"/>
          <p:nvPr/>
        </p:nvSpPr>
        <p:spPr>
          <a:xfrm>
            <a:off x="260604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JUnit + Mockito</a:t>
            </a:r>
            <a:endParaRPr lang="en-US" sz="1200" dirty="0"/>
          </a:p>
        </p:txBody>
      </p:sp>
      <p:sp>
        <p:nvSpPr>
          <p:cNvPr id="11" name="Text 9"/>
          <p:cNvSpPr txBox="1"/>
          <p:nvPr/>
        </p:nvSpPr>
        <p:spPr>
          <a:xfrm>
            <a:off x="438912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2" name="step-3"/>
          <p:cNvSpPr/>
          <p:nvPr/>
        </p:nvSpPr>
        <p:spPr>
          <a:xfrm>
            <a:off x="4754880" y="1737360"/>
            <a:ext cx="1783080" cy="1188720"/>
          </a:xfrm>
          <a:prstGeom prst="roundRect">
            <a:avLst>
              <a:gd name="adj" fmla="val 6154"/>
            </a:avLst>
          </a:prstGeom>
          <a:solidFill>
            <a:srgbClr val="EEF2F8"/>
          </a:solidFill>
          <a:ln w="12700">
            <a:solidFill>
              <a:srgbClr val="C9D3E0"/>
            </a:solidFill>
            <a:prstDash val="solid"/>
          </a:ln>
        </p:spPr>
      </p:sp>
      <p:sp>
        <p:nvSpPr>
          <p:cNvPr id="13" name="Text 11"/>
          <p:cNvSpPr txBox="1"/>
          <p:nvPr/>
        </p:nvSpPr>
        <p:spPr>
          <a:xfrm>
            <a:off x="484632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Gateway checks</a:t>
            </a:r>
            <a:endParaRPr lang="en-US" sz="1800" dirty="0"/>
          </a:p>
        </p:txBody>
      </p:sp>
      <p:sp>
        <p:nvSpPr>
          <p:cNvPr id="14" name="Text 12"/>
          <p:cNvSpPr txBox="1"/>
          <p:nvPr/>
        </p:nvSpPr>
        <p:spPr>
          <a:xfrm>
            <a:off x="475488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auth + role matrix</a:t>
            </a:r>
            <a:endParaRPr lang="en-US" sz="1200" dirty="0"/>
          </a:p>
        </p:txBody>
      </p:sp>
      <p:sp>
        <p:nvSpPr>
          <p:cNvPr id="15" name="Text 13"/>
          <p:cNvSpPr txBox="1"/>
          <p:nvPr/>
        </p:nvSpPr>
        <p:spPr>
          <a:xfrm>
            <a:off x="6537960" y="2057400"/>
            <a:ext cx="365760" cy="548640"/>
          </a:xfrm>
          <a:prstGeom prst="rect">
            <a:avLst/>
          </a:prstGeom>
          <a:noFill/>
          <a:ln/>
        </p:spPr>
        <p:txBody>
          <a:bodyPr wrap="square" lIns="0" tIns="0" rIns="0" bIns="0" rtlCol="0" anchor="ctr"/>
          <a:lstStyle/>
          <a:p>
            <a:pPr algn="ctr" indent="0" marL="0">
              <a:buNone/>
            </a:pPr>
            <a:r>
              <a:rPr lang="en-US" sz="2800" b="1" dirty="0">
                <a:solidFill>
                  <a:srgbClr val="B5651D"/>
                </a:solidFill>
                <a:latin typeface="Calibri" pitchFamily="34" charset="0"/>
                <a:ea typeface="Calibri" pitchFamily="34" charset="-122"/>
                <a:cs typeface="Calibri" pitchFamily="34" charset="-120"/>
              </a:rPr>
              <a:t>→</a:t>
            </a:r>
            <a:endParaRPr lang="en-US" sz="2800" dirty="0"/>
          </a:p>
        </p:txBody>
      </p:sp>
      <p:sp>
        <p:nvSpPr>
          <p:cNvPr id="16" name="step-4"/>
          <p:cNvSpPr/>
          <p:nvPr/>
        </p:nvSpPr>
        <p:spPr>
          <a:xfrm>
            <a:off x="6903720" y="1737360"/>
            <a:ext cx="1783080" cy="1188720"/>
          </a:xfrm>
          <a:prstGeom prst="roundRect">
            <a:avLst>
              <a:gd name="adj" fmla="val 6154"/>
            </a:avLst>
          </a:prstGeom>
          <a:solidFill>
            <a:srgbClr val="EEF2F8"/>
          </a:solidFill>
          <a:ln w="12700">
            <a:solidFill>
              <a:srgbClr val="C9D3E0"/>
            </a:solidFill>
            <a:prstDash val="solid"/>
          </a:ln>
        </p:spPr>
      </p:sp>
      <p:sp>
        <p:nvSpPr>
          <p:cNvPr id="17" name="Text 15"/>
          <p:cNvSpPr txBox="1"/>
          <p:nvPr/>
        </p:nvSpPr>
        <p:spPr>
          <a:xfrm>
            <a:off x="6995160" y="1783080"/>
            <a:ext cx="1600200" cy="1097280"/>
          </a:xfrm>
          <a:prstGeom prst="rect">
            <a:avLst/>
          </a:prstGeom>
          <a:noFill/>
          <a:ln/>
        </p:spPr>
        <p:txBody>
          <a:bodyPr wrap="square" lIns="0" tIns="0" rIns="0" bIns="0" rtlCol="0" anchor="ctr"/>
          <a:lstStyle/>
          <a:p>
            <a:pPr algn="ctr" indent="0" marL="0">
              <a:buNone/>
            </a:pPr>
            <a:r>
              <a:rPr lang="en-US" sz="1800" b="1" dirty="0">
                <a:solidFill>
                  <a:srgbClr val="1B2A49"/>
                </a:solidFill>
                <a:latin typeface="Cambria" pitchFamily="34" charset="0"/>
                <a:ea typeface="Cambria" pitchFamily="34" charset="-122"/>
                <a:cs typeface="Cambria" pitchFamily="34" charset="-120"/>
              </a:rPr>
              <a:t>End-to-end</a:t>
            </a:r>
            <a:endParaRPr lang="en-US" sz="1800" dirty="0"/>
          </a:p>
        </p:txBody>
      </p:sp>
      <p:sp>
        <p:nvSpPr>
          <p:cNvPr id="18" name="Text 16"/>
          <p:cNvSpPr txBox="1"/>
          <p:nvPr/>
        </p:nvSpPr>
        <p:spPr>
          <a:xfrm>
            <a:off x="6903720" y="3017520"/>
            <a:ext cx="1783080" cy="502920"/>
          </a:xfrm>
          <a:prstGeom prst="rect">
            <a:avLst/>
          </a:prstGeom>
          <a:noFill/>
          <a:ln/>
        </p:spPr>
        <p:txBody>
          <a:bodyPr wrap="square" lIns="0" tIns="0" rIns="0" bIns="0" rtlCol="0" anchor="t"/>
          <a:lstStyle/>
          <a:p>
            <a:pPr algn="ctr" indent="0" marL="0">
              <a:buNone/>
            </a:pPr>
            <a:r>
              <a:rPr lang="en-US" sz="1200" dirty="0">
                <a:solidFill>
                  <a:srgbClr val="5B6B82"/>
                </a:solidFill>
                <a:latin typeface="Calibri" pitchFamily="34" charset="0"/>
                <a:ea typeface="Calibri" pitchFamily="34" charset="-122"/>
                <a:cs typeface="Calibri" pitchFamily="34" charset="-120"/>
              </a:rPr>
              <a:t>reading → alert → order</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Key implementation details</a:t>
            </a:r>
            <a:endParaRPr lang="en-US" sz="3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828800"/>
                <a:gridCol w="640080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was built</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B2A49"/>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Tests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60 test methods across 7 modules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Documentation</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OpenAPI + Postman (Monitoring, Analytics), SQL schemas, ER diagrams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Validation</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Bean Validation; messages returned as validationErrors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Errors</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GlobalExceptionHandler per service, consistent JSON</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1B2A49"/>
                          </a:solidFill>
                          <a:latin typeface="Calibri" pitchFamily="34" charset="0"/>
                          <a:ea typeface="Calibri" pitchFamily="34" charset="-122"/>
                          <a:cs typeface="Calibri" pitchFamily="34" charset="-120"/>
                        </a:rPr>
                        <a:t>Compatibility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c>
                  <a:txBody>
                    <a:bodyPr/>
                    <a:lstStyle/>
                    <a:p>
                      <a:pPr indent="0" marL="0">
                        <a:buNone/>
                      </a:pPr>
                      <a:r>
                        <a:rPr lang="en-US" sz="1400" dirty="0">
                          <a:solidFill>
                            <a:srgbClr val="22304A"/>
                          </a:solidFill>
                          <a:latin typeface="Calibri" pitchFamily="34" charset="0"/>
                          <a:ea typeface="Calibri" pitchFamily="34" charset="-122"/>
                          <a:cs typeface="Calibri" pitchFamily="34" charset="-120"/>
                        </a:rPr>
                        <a:t>UUID references, versioned events, single gateway</a:t>
                      </a:r>
                      <a:endParaRPr lang="en-US" sz="1400" dirty="0">
                        <a:latin typeface="Calibri" charset="0"/>
                        <a:ea typeface="Calibri" charset="0"/>
                        <a:cs typeface="Calibri" charset="0"/>
                      </a:endParaRPr>
                    </a:p>
                  </a:txBody>
                  <a:tcPr marL="109728" marR="109728"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Interfaces and integration</a:t>
            </a:r>
            <a:endParaRPr lang="en-US" sz="3000" dirty="0"/>
          </a:p>
        </p:txBody>
      </p:sp>
      <p:sp>
        <p:nvSpPr>
          <p:cNvPr id="4" name="Shape 2"/>
          <p:cNvSpPr/>
          <p:nvPr/>
        </p:nvSpPr>
        <p:spPr>
          <a:xfrm>
            <a:off x="457200" y="1325880"/>
            <a:ext cx="4023360" cy="2834640"/>
          </a:xfrm>
          <a:prstGeom prst="roundRect">
            <a:avLst>
              <a:gd name="adj" fmla="val 2581"/>
            </a:avLst>
          </a:prstGeom>
          <a:solidFill>
            <a:srgbClr val="EEF2F8"/>
          </a:solidFill>
          <a:ln w="9525">
            <a:solidFill>
              <a:srgbClr val="C9D3E0"/>
            </a:solidFill>
            <a:prstDash val="solid"/>
          </a:ln>
        </p:spPr>
      </p:sp>
      <p:sp>
        <p:nvSpPr>
          <p:cNvPr id="5" name="Text 3"/>
          <p:cNvSpPr txBox="1"/>
          <p:nvPr/>
        </p:nvSpPr>
        <p:spPr>
          <a:xfrm>
            <a:off x="68580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Interfaces</a:t>
            </a:r>
            <a:endParaRPr lang="en-US" sz="1800" dirty="0"/>
          </a:p>
        </p:txBody>
      </p:sp>
      <p:sp>
        <p:nvSpPr>
          <p:cNvPr id="6" name="Text 4"/>
          <p:cNvSpPr txBox="1"/>
          <p:nvPr/>
        </p:nvSpPr>
        <p:spPr>
          <a:xfrm>
            <a:off x="68580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docs/INTEGRATION_CONTRACTS.md (alert event v1)</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docs/api: OpenAPI and Postman collections</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docs/database and docs/diagrams</a:t>
            </a:r>
            <a:endParaRPr lang="en-US" sz="1500" dirty="0"/>
          </a:p>
        </p:txBody>
      </p:sp>
      <p:sp>
        <p:nvSpPr>
          <p:cNvPr id="7" name="Shape 5"/>
          <p:cNvSpPr/>
          <p:nvPr/>
        </p:nvSpPr>
        <p:spPr>
          <a:xfrm>
            <a:off x="4663440" y="1325880"/>
            <a:ext cx="4023360" cy="2834640"/>
          </a:xfrm>
          <a:prstGeom prst="roundRect">
            <a:avLst>
              <a:gd name="adj" fmla="val 2581"/>
            </a:avLst>
          </a:prstGeom>
          <a:solidFill>
            <a:srgbClr val="EEF2F8"/>
          </a:solidFill>
          <a:ln w="9525">
            <a:solidFill>
              <a:srgbClr val="C9D3E0"/>
            </a:solidFill>
            <a:prstDash val="solid"/>
          </a:ln>
        </p:spPr>
      </p:sp>
      <p:sp>
        <p:nvSpPr>
          <p:cNvPr id="8" name="Text 6"/>
          <p:cNvSpPr txBox="1"/>
          <p:nvPr/>
        </p:nvSpPr>
        <p:spPr>
          <a:xfrm>
            <a:off x="4892040" y="1463040"/>
            <a:ext cx="356616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Connections</a:t>
            </a:r>
            <a:endParaRPr lang="en-US" sz="1800" dirty="0"/>
          </a:p>
        </p:txBody>
      </p:sp>
      <p:sp>
        <p:nvSpPr>
          <p:cNvPr id="9" name="Text 7"/>
          <p:cNvSpPr txBox="1"/>
          <p:nvPr/>
        </p:nvSpPr>
        <p:spPr>
          <a:xfrm>
            <a:off x="4892040" y="1874520"/>
            <a:ext cx="35661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Verified chain: reading → alert → RabbitMQ</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then work order, notification and STOMP push</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Prometheus scrapes all 7 services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Evidence from the running system</a:t>
            </a:r>
            <a:endParaRPr lang="en-US" sz="3000" dirty="0"/>
          </a:p>
        </p:txBody>
      </p:sp>
      <p:sp>
        <p:nvSpPr>
          <p:cNvPr id="4" name="Shape 2"/>
          <p:cNvSpPr/>
          <p:nvPr/>
        </p:nvSpPr>
        <p:spPr>
          <a:xfrm>
            <a:off x="45720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45720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60</a:t>
            </a:r>
            <a:endParaRPr lang="en-US" sz="4000" dirty="0"/>
          </a:p>
        </p:txBody>
      </p:sp>
      <p:sp>
        <p:nvSpPr>
          <p:cNvPr id="6" name="Text 4"/>
          <p:cNvSpPr txBox="1"/>
          <p:nvPr/>
        </p:nvSpPr>
        <p:spPr>
          <a:xfrm>
            <a:off x="59436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test methods</a:t>
            </a:r>
            <a:endParaRPr lang="en-US" sz="1400" dirty="0"/>
          </a:p>
        </p:txBody>
      </p:sp>
      <p:sp>
        <p:nvSpPr>
          <p:cNvPr id="7" name="Shape 5"/>
          <p:cNvSpPr/>
          <p:nvPr/>
        </p:nvSpPr>
        <p:spPr>
          <a:xfrm>
            <a:off x="329184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29184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7</a:t>
            </a:r>
            <a:endParaRPr lang="en-US" sz="4000" dirty="0"/>
          </a:p>
        </p:txBody>
      </p:sp>
      <p:sp>
        <p:nvSpPr>
          <p:cNvPr id="9" name="Text 7"/>
          <p:cNvSpPr txBox="1"/>
          <p:nvPr/>
        </p:nvSpPr>
        <p:spPr>
          <a:xfrm>
            <a:off x="342900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services behind the gateway</a:t>
            </a:r>
            <a:endParaRPr lang="en-US" sz="1400" dirty="0"/>
          </a:p>
        </p:txBody>
      </p:sp>
      <p:sp>
        <p:nvSpPr>
          <p:cNvPr id="10" name="Shape 8"/>
          <p:cNvSpPr/>
          <p:nvPr/>
        </p:nvSpPr>
        <p:spPr>
          <a:xfrm>
            <a:off x="6126480" y="1371600"/>
            <a:ext cx="2560320" cy="1828800"/>
          </a:xfrm>
          <a:prstGeom prst="roundRect">
            <a:avLst>
              <a:gd name="adj" fmla="val 4000"/>
            </a:avLst>
          </a:prstGeom>
          <a:solidFill>
            <a:srgbClr val="FFFFFF"/>
          </a:solidFill>
          <a:ln w="12700">
            <a:solidFill>
              <a:srgbClr val="C9D3E0"/>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6126480" y="1508760"/>
            <a:ext cx="2560320" cy="822960"/>
          </a:xfrm>
          <a:prstGeom prst="rect">
            <a:avLst/>
          </a:prstGeom>
          <a:noFill/>
          <a:ln/>
        </p:spPr>
        <p:txBody>
          <a:bodyPr wrap="square" lIns="0" tIns="0" rIns="0" bIns="0" rtlCol="0" anchor="ctr"/>
          <a:lstStyle/>
          <a:p>
            <a:pPr algn="ctr" indent="0" marL="0">
              <a:buNone/>
            </a:pPr>
            <a:r>
              <a:rPr lang="en-US" sz="4000" b="1" dirty="0">
                <a:solidFill>
                  <a:srgbClr val="1B2A49"/>
                </a:solidFill>
                <a:latin typeface="Cambria" pitchFamily="34" charset="0"/>
                <a:ea typeface="Cambria" pitchFamily="34" charset="-122"/>
                <a:cs typeface="Cambria" pitchFamily="34" charset="-120"/>
              </a:rPr>
              <a:t>1</a:t>
            </a:r>
            <a:endParaRPr lang="en-US" sz="4000" dirty="0"/>
          </a:p>
        </p:txBody>
      </p:sp>
      <p:sp>
        <p:nvSpPr>
          <p:cNvPr id="12" name="Text 10"/>
          <p:cNvSpPr txBox="1"/>
          <p:nvPr/>
        </p:nvSpPr>
        <p:spPr>
          <a:xfrm>
            <a:off x="6263640" y="2377440"/>
            <a:ext cx="2286000" cy="731520"/>
          </a:xfrm>
          <a:prstGeom prst="rect">
            <a:avLst/>
          </a:prstGeom>
          <a:noFill/>
          <a:ln/>
        </p:spPr>
        <p:txBody>
          <a:bodyPr wrap="square" lIns="0" tIns="0" rIns="0" bIns="0" rtlCol="0" anchor="t"/>
          <a:lstStyle/>
          <a:p>
            <a:pPr algn="ctr" indent="0" marL="0">
              <a:buNone/>
            </a:pPr>
            <a:r>
              <a:rPr lang="en-US" sz="1400" dirty="0">
                <a:solidFill>
                  <a:srgbClr val="5B6B82"/>
                </a:solidFill>
                <a:latin typeface="Calibri" pitchFamily="34" charset="0"/>
                <a:ea typeface="Calibri" pitchFamily="34" charset="-122"/>
                <a:cs typeface="Calibri" pitchFamily="34" charset="-120"/>
              </a:rPr>
              <a:t>versioned event contract</a:t>
            </a:r>
            <a:endParaRPr lang="en-US" sz="1400" dirty="0"/>
          </a:p>
        </p:txBody>
      </p:sp>
      <p:sp>
        <p:nvSpPr>
          <p:cNvPr id="13" name="Text 11"/>
          <p:cNvSpPr txBox="1"/>
          <p:nvPr/>
        </p:nvSpPr>
        <p:spPr>
          <a:xfrm>
            <a:off x="457200" y="3520440"/>
            <a:ext cx="8229600" cy="822960"/>
          </a:xfrm>
          <a:prstGeom prst="rect">
            <a:avLst/>
          </a:prstGeom>
          <a:noFill/>
          <a:ln/>
        </p:spPr>
        <p:txBody>
          <a:bodyPr wrap="square" lIns="0" tIns="0" rIns="0" bIns="0" rtlCol="0" anchor="t"/>
          <a:lstStyle/>
          <a:p>
            <a:pPr indent="0" marL="0">
              <a:buNone/>
            </a:pPr>
            <a:r>
              <a:rPr lang="en-US" sz="1600" i="1" dirty="0">
                <a:solidFill>
                  <a:srgbClr val="22304A"/>
                </a:solidFill>
                <a:latin typeface="Calibri" pitchFamily="34" charset="0"/>
                <a:ea typeface="Calibri" pitchFamily="34" charset="-122"/>
                <a:cs typeface="Calibri" pitchFamily="34" charset="-120"/>
              </a:rPr>
              <a:t>Shared contracts, validation and 60 test methods keep seven independent services compatible.</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200" b="1" spc="300" kern="0" dirty="0">
                <a:solidFill>
                  <a:srgbClr val="B5651D"/>
                </a:solidFill>
                <a:latin typeface="Calibri" pitchFamily="34" charset="0"/>
                <a:ea typeface="Calibri" pitchFamily="34" charset="-122"/>
                <a:cs typeface="Calibri" pitchFamily="34" charset="-120"/>
              </a:rPr>
              <a:t>SUMMARY</a:t>
            </a:r>
            <a:endParaRPr lang="en-US" sz="12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indent="0" marL="0">
              <a:buNone/>
            </a:pPr>
            <a:r>
              <a:rPr lang="en-US" sz="3000" b="1" dirty="0">
                <a:solidFill>
                  <a:srgbClr val="1B2A49"/>
                </a:solidFill>
                <a:latin typeface="Cambria" pitchFamily="34" charset="0"/>
                <a:ea typeface="Cambria" pitchFamily="34" charset="-122"/>
                <a:cs typeface="Cambria" pitchFamily="34" charset="-120"/>
              </a:rPr>
              <a:t>Live demo and takeaways</a:t>
            </a:r>
            <a:endParaRPr lang="en-US" sz="3000" dirty="0"/>
          </a:p>
        </p:txBody>
      </p:sp>
      <p:sp>
        <p:nvSpPr>
          <p:cNvPr id="4" name="Text 2"/>
          <p:cNvSpPr txBox="1"/>
          <p:nvPr/>
        </p:nvSpPr>
        <p:spPr>
          <a:xfrm>
            <a:off x="457200" y="1280160"/>
            <a:ext cx="39319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Demo steps</a:t>
            </a:r>
            <a:endParaRPr lang="en-US" sz="1800" dirty="0"/>
          </a:p>
        </p:txBody>
      </p:sp>
      <p:sp>
        <p:nvSpPr>
          <p:cNvPr id="5" name="Text 3"/>
          <p:cNvSpPr txBox="1"/>
          <p:nvPr/>
        </p:nvSpPr>
        <p:spPr>
          <a:xfrm>
            <a:off x="457200" y="1691640"/>
            <a:ext cx="3931920"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RBAC: executive is read-only</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Grafana platform dashboard</a:t>
            </a:r>
            <a:endParaRPr lang="en-US" sz="1600" dirty="0"/>
          </a:p>
          <a:p>
            <a:pPr marL="342900" indent="-342900">
              <a:spcAft>
                <a:spcPts val="800"/>
              </a:spcAft>
              <a:buSzPct val="100000"/>
              <a:buFont typeface="+mj-lt"/>
              <a:buAutoNum type="arabicPeriod" startAt="1"/>
            </a:pPr>
            <a:r>
              <a:rPr lang="en-US" sz="1600" dirty="0">
                <a:solidFill>
                  <a:srgbClr val="22304A"/>
                </a:solidFill>
                <a:latin typeface="Calibri" pitchFamily="34" charset="0"/>
                <a:ea typeface="Calibri" pitchFamily="34" charset="-122"/>
                <a:cs typeface="Calibri" pitchFamily="34" charset="-120"/>
              </a:rPr>
              <a:t>RabbitMQ and Prometheus targets</a:t>
            </a:r>
            <a:endParaRPr lang="en-US" sz="1600" dirty="0"/>
          </a:p>
        </p:txBody>
      </p:sp>
      <p:sp>
        <p:nvSpPr>
          <p:cNvPr id="6" name="Shape 4"/>
          <p:cNvSpPr/>
          <p:nvPr/>
        </p:nvSpPr>
        <p:spPr>
          <a:xfrm>
            <a:off x="4754880" y="1280160"/>
            <a:ext cx="3931920" cy="2377440"/>
          </a:xfrm>
          <a:prstGeom prst="roundRect">
            <a:avLst>
              <a:gd name="adj" fmla="val 3077"/>
            </a:avLst>
          </a:prstGeom>
          <a:solidFill>
            <a:srgbClr val="EEF2F8"/>
          </a:solidFill>
          <a:ln w="9525">
            <a:solidFill>
              <a:srgbClr val="C9D3E0"/>
            </a:solidFill>
            <a:prstDash val="solid"/>
          </a:ln>
        </p:spPr>
      </p:sp>
      <p:sp>
        <p:nvSpPr>
          <p:cNvPr id="7" name="Text 5"/>
          <p:cNvSpPr txBox="1"/>
          <p:nvPr/>
        </p:nvSpPr>
        <p:spPr>
          <a:xfrm>
            <a:off x="4983480" y="1417320"/>
            <a:ext cx="3474720" cy="320040"/>
          </a:xfrm>
          <a:prstGeom prst="rect">
            <a:avLst/>
          </a:prstGeom>
          <a:noFill/>
          <a:ln/>
        </p:spPr>
        <p:txBody>
          <a:bodyPr wrap="square" lIns="0" tIns="0" rIns="0" bIns="0" rtlCol="0" anchor="ctr"/>
          <a:lstStyle/>
          <a:p>
            <a:pPr indent="0" marL="0">
              <a:buNone/>
            </a:pPr>
            <a:r>
              <a:rPr lang="en-US" sz="1800" b="1" dirty="0">
                <a:solidFill>
                  <a:srgbClr val="1B2A49"/>
                </a:solidFill>
                <a:latin typeface="Cambria" pitchFamily="34" charset="0"/>
                <a:ea typeface="Cambria" pitchFamily="34" charset="-122"/>
                <a:cs typeface="Cambria" pitchFamily="34" charset="-120"/>
              </a:rPr>
              <a:t>Key takeaways</a:t>
            </a:r>
            <a:endParaRPr lang="en-US" sz="1800" dirty="0"/>
          </a:p>
        </p:txBody>
      </p:sp>
      <p:sp>
        <p:nvSpPr>
          <p:cNvPr id="8" name="Text 6"/>
          <p:cNvSpPr txBox="1"/>
          <p:nvPr/>
        </p:nvSpPr>
        <p:spPr>
          <a:xfrm>
            <a:off x="4983480" y="1828800"/>
            <a:ext cx="3474720" cy="1828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Contracts first, then code</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Tests protect each service boundary</a:t>
            </a:r>
            <a:endParaRPr lang="en-US" sz="1500" dirty="0"/>
          </a:p>
          <a:p>
            <a:pPr marL="342900" indent="-342900">
              <a:spcAft>
                <a:spcPts val="800"/>
              </a:spcAft>
              <a:buSzPct val="100000"/>
              <a:buChar char="•"/>
            </a:pPr>
            <a:r>
              <a:rPr lang="en-US" sz="1500" dirty="0">
                <a:solidFill>
                  <a:srgbClr val="22304A"/>
                </a:solidFill>
                <a:latin typeface="Calibri" pitchFamily="34" charset="0"/>
                <a:ea typeface="Calibri" pitchFamily="34" charset="-122"/>
                <a:cs typeface="Calibri" pitchFamily="34" charset="-120"/>
              </a:rPr>
              <a:t>Every service deploys independently</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B82"/>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914400"/>
          </a:xfrm>
          <a:prstGeom prst="rect">
            <a:avLst/>
          </a:prstGeom>
          <a:noFill/>
          <a:ln/>
        </p:spPr>
        <p:txBody>
          <a:bodyPr wrap="square" lIns="0" tIns="0" rIns="0" bIns="0" rtlCol="0" anchor="ctr"/>
          <a:lstStyle/>
          <a:p>
            <a:pPr indent="0" marL="0">
              <a:buNone/>
            </a:pPr>
            <a:r>
              <a:rPr lang="en-US" sz="4800" b="1" dirty="0">
                <a:solidFill>
                  <a:srgbClr val="1B2A49"/>
                </a:solidFill>
                <a:latin typeface="Cambria" pitchFamily="34" charset="0"/>
                <a:ea typeface="Cambria" pitchFamily="34" charset="-122"/>
                <a:cs typeface="Cambria" pitchFamily="34" charset="-120"/>
              </a:rPr>
              <a:t>Thank you</a:t>
            </a:r>
            <a:endParaRPr lang="en-US" sz="4800" dirty="0"/>
          </a:p>
        </p:txBody>
      </p:sp>
      <p:sp>
        <p:nvSpPr>
          <p:cNvPr id="3" name="Text 1"/>
          <p:cNvSpPr txBox="1"/>
          <p:nvPr/>
        </p:nvSpPr>
        <p:spPr>
          <a:xfrm>
            <a:off x="640080" y="2468880"/>
            <a:ext cx="7863840" cy="457200"/>
          </a:xfrm>
          <a:prstGeom prst="rect">
            <a:avLst/>
          </a:prstGeom>
          <a:noFill/>
          <a:ln/>
        </p:spPr>
        <p:txBody>
          <a:bodyPr wrap="square" lIns="0" tIns="0" rIns="0" bIns="0" rtlCol="0" anchor="ctr"/>
          <a:lstStyle/>
          <a:p>
            <a:pPr indent="0" marL="0">
              <a:buNone/>
            </a:pPr>
            <a:r>
              <a:rPr lang="en-US" sz="2200" dirty="0">
                <a:solidFill>
                  <a:srgbClr val="22304A"/>
                </a:solidFill>
                <a:latin typeface="Calibri" pitchFamily="34" charset="0"/>
                <a:ea typeface="Calibri" pitchFamily="34" charset="-122"/>
                <a:cs typeface="Calibri" pitchFamily="34" charset="-120"/>
              </a:rPr>
              <a:t>Questions and discussion</a:t>
            </a:r>
            <a:endParaRPr lang="en-US" sz="22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rgbClr val="5B6B82"/>
                </a:solidFill>
                <a:latin typeface="Calibri" pitchFamily="34" charset="0"/>
                <a:ea typeface="Calibri" pitchFamily="34" charset="-122"/>
                <a:cs typeface="Calibri" pitchFamily="34" charset="-120"/>
              </a:rPr>
              <a:t>REOAGMS · EC8208 Software Architecture · University of Ruhuna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University of Ruhuna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REOAGMS: Team Presentation</dc:title>
  <dc:subject>PptxGenJS Presentation</dc:subject>
  <dc:creator>REOAGMS project team</dc:creator>
  <cp:lastModifiedBy>REOAGMS project team</cp:lastModifiedBy>
  <cp:revision>1</cp:revision>
  <dcterms:created xsi:type="dcterms:W3CDTF">2026-10-28T19:23:07Z</dcterms:created>
  <dcterms:modified xsi:type="dcterms:W3CDTF">2026-10-28T19:23:07Z</dcterms:modified>
</cp:coreProperties>
</file>